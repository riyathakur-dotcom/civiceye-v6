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Namaskar! We are Team CivicEye. CivicEye Pro v6.0 — ek fully deployed AI+Blockchain civic governance platform. Frontend Vercel pe live, Backend Render pe live — abhi is waqt.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India mein 70% complaints kabhi time pe resolve nahi hoti. 50 million complaints annually — CPGRAMS pe hundreds of crore kharch, sirf 5% volume handle. Corruption report karna impossible — koi audit trail nahi.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8 powerful features. Real Auth with OTP, AI classification 8 categories 0-100 score, Blockchain audit trail, 8 automation jobs 24/7, Bilingual AI support, WhatsApp alerts, Hindi voice input, PWA offline mode. Sab ek platform mein.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Register with OTP, complaint file karo Hindi mein, AI classify karta hai score+category, blockchain block banta hai, officer auto-assign, WhatsApp notification. Poora automated — ek baar set, system khud kaam karta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Tech stack — React frontend, FastAPI backend, SQLite/PostgreSQL, custom blockchain SHA-256, AI classifier Claude API ready. Sab kuch deployed — Vercel + Render — bilkul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Har feature mein CivicEye wins. CPGRAMS pe hundreds of crore kharch — AI nahi, blockchain nahi, automation nahi. Hamara cost zero. Deploy time 30 minutes. Yeh hamari strength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Market opportunity bahut badi hai. 500M users, 4000 municipalities, ₹2500Cr GovTech market. Revenue — B2G SaaS license, analytics, blockchain audit. Year 1 mein ₹1 Crore ARR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Riya ne poora frontend + backend build kiya sirf kuch dinon mein. Anjali ne AI logic aur research ki. Ritik ne holographic design system banaya. Sandeep ne business model, market analysis aur pitch script. Team ka execution speed hi hamari superpower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Ab live demo. [Open civiceye-v6.vercel.app — show boot, piano, holographic]. [Register with OTP]. [File complaint in Hindi voice]. [Show AI score + corruption flag]. [Blockchain block]. [8 automation jobs]. [onrender.com/docs — live Swagger]. Koi mock nahi — sab 100% real.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Shape 3"/>
          <p:cNvSpPr/>
          <p:nvPr/>
        </p:nvSpPr>
        <p:spPr>
          <a:xfrm>
            <a:off x="0" y="0"/>
            <a:ext cx="9144000" cy="11887"/>
          </a:xfrm>
          <a:prstGeom prst="rect">
            <a:avLst/>
          </a:prstGeom>
          <a:solidFill>
            <a:srgbClr val="00F5FF">
              <a:alpha val="3000"/>
            </a:srgbClr>
          </a:solidFill>
          <a:ln w="12700">
            <a:solidFill>
              <a:srgbClr val="000000"/>
            </a:solidFill>
            <a:prstDash val="solid"/>
          </a:ln>
        </p:spPr>
      </p:sp>
      <p:sp>
        <p:nvSpPr>
          <p:cNvPr id="6" name="Shape 4"/>
          <p:cNvSpPr/>
          <p:nvPr/>
        </p:nvSpPr>
        <p:spPr>
          <a:xfrm>
            <a:off x="0" y="257175"/>
            <a:ext cx="9144000" cy="11887"/>
          </a:xfrm>
          <a:prstGeom prst="rect">
            <a:avLst/>
          </a:prstGeom>
          <a:solidFill>
            <a:srgbClr val="00F5FF">
              <a:alpha val="3000"/>
            </a:srgbClr>
          </a:solidFill>
          <a:ln w="12700">
            <a:solidFill>
              <a:srgbClr val="000000"/>
            </a:solidFill>
            <a:prstDash val="solid"/>
          </a:ln>
        </p:spPr>
      </p:sp>
      <p:sp>
        <p:nvSpPr>
          <p:cNvPr id="7" name="Shape 5"/>
          <p:cNvSpPr/>
          <p:nvPr/>
        </p:nvSpPr>
        <p:spPr>
          <a:xfrm>
            <a:off x="0" y="514350"/>
            <a:ext cx="9144000" cy="11887"/>
          </a:xfrm>
          <a:prstGeom prst="rect">
            <a:avLst/>
          </a:prstGeom>
          <a:solidFill>
            <a:srgbClr val="00F5FF">
              <a:alpha val="3000"/>
            </a:srgbClr>
          </a:solidFill>
          <a:ln w="12700">
            <a:solidFill>
              <a:srgbClr val="000000"/>
            </a:solidFill>
            <a:prstDash val="solid"/>
          </a:ln>
        </p:spPr>
      </p:sp>
      <p:sp>
        <p:nvSpPr>
          <p:cNvPr id="8" name="Shape 6"/>
          <p:cNvSpPr/>
          <p:nvPr/>
        </p:nvSpPr>
        <p:spPr>
          <a:xfrm>
            <a:off x="0" y="771525"/>
            <a:ext cx="9144000" cy="11887"/>
          </a:xfrm>
          <a:prstGeom prst="rect">
            <a:avLst/>
          </a:prstGeom>
          <a:solidFill>
            <a:srgbClr val="00F5FF">
              <a:alpha val="3000"/>
            </a:srgbClr>
          </a:solidFill>
          <a:ln w="12700">
            <a:solidFill>
              <a:srgbClr val="000000"/>
            </a:solidFill>
            <a:prstDash val="solid"/>
          </a:ln>
        </p:spPr>
      </p:sp>
      <p:sp>
        <p:nvSpPr>
          <p:cNvPr id="9" name="Shape 7"/>
          <p:cNvSpPr/>
          <p:nvPr/>
        </p:nvSpPr>
        <p:spPr>
          <a:xfrm>
            <a:off x="0" y="1028700"/>
            <a:ext cx="9144000" cy="11887"/>
          </a:xfrm>
          <a:prstGeom prst="rect">
            <a:avLst/>
          </a:prstGeom>
          <a:solidFill>
            <a:srgbClr val="00F5FF">
              <a:alpha val="3000"/>
            </a:srgbClr>
          </a:solidFill>
          <a:ln w="12700">
            <a:solidFill>
              <a:srgbClr val="000000"/>
            </a:solidFill>
            <a:prstDash val="solid"/>
          </a:ln>
        </p:spPr>
      </p:sp>
      <p:sp>
        <p:nvSpPr>
          <p:cNvPr id="10" name="Shape 8"/>
          <p:cNvSpPr/>
          <p:nvPr/>
        </p:nvSpPr>
        <p:spPr>
          <a:xfrm>
            <a:off x="0" y="1285875"/>
            <a:ext cx="9144000" cy="11887"/>
          </a:xfrm>
          <a:prstGeom prst="rect">
            <a:avLst/>
          </a:prstGeom>
          <a:solidFill>
            <a:srgbClr val="00F5FF">
              <a:alpha val="3000"/>
            </a:srgbClr>
          </a:solidFill>
          <a:ln w="12700">
            <a:solidFill>
              <a:srgbClr val="000000"/>
            </a:solidFill>
            <a:prstDash val="solid"/>
          </a:ln>
        </p:spPr>
      </p:sp>
      <p:sp>
        <p:nvSpPr>
          <p:cNvPr id="11" name="Shape 9"/>
          <p:cNvSpPr/>
          <p:nvPr/>
        </p:nvSpPr>
        <p:spPr>
          <a:xfrm>
            <a:off x="0" y="1543050"/>
            <a:ext cx="9144000" cy="11887"/>
          </a:xfrm>
          <a:prstGeom prst="rect">
            <a:avLst/>
          </a:prstGeom>
          <a:solidFill>
            <a:srgbClr val="00F5FF">
              <a:alpha val="3000"/>
            </a:srgbClr>
          </a:solidFill>
          <a:ln w="12700">
            <a:solidFill>
              <a:srgbClr val="000000"/>
            </a:solidFill>
            <a:prstDash val="solid"/>
          </a:ln>
        </p:spPr>
      </p:sp>
      <p:sp>
        <p:nvSpPr>
          <p:cNvPr id="12" name="Shape 10"/>
          <p:cNvSpPr/>
          <p:nvPr/>
        </p:nvSpPr>
        <p:spPr>
          <a:xfrm>
            <a:off x="0" y="1800225"/>
            <a:ext cx="9144000" cy="11887"/>
          </a:xfrm>
          <a:prstGeom prst="rect">
            <a:avLst/>
          </a:prstGeom>
          <a:solidFill>
            <a:srgbClr val="00F5FF">
              <a:alpha val="3000"/>
            </a:srgbClr>
          </a:solidFill>
          <a:ln w="12700">
            <a:solidFill>
              <a:srgbClr val="000000"/>
            </a:solidFill>
            <a:prstDash val="solid"/>
          </a:ln>
        </p:spPr>
      </p:sp>
      <p:sp>
        <p:nvSpPr>
          <p:cNvPr id="13" name="Shape 11"/>
          <p:cNvSpPr/>
          <p:nvPr/>
        </p:nvSpPr>
        <p:spPr>
          <a:xfrm>
            <a:off x="0" y="2057400"/>
            <a:ext cx="9144000" cy="11887"/>
          </a:xfrm>
          <a:prstGeom prst="rect">
            <a:avLst/>
          </a:prstGeom>
          <a:solidFill>
            <a:srgbClr val="00F5FF">
              <a:alpha val="3000"/>
            </a:srgbClr>
          </a:solidFill>
          <a:ln w="12700">
            <a:solidFill>
              <a:srgbClr val="000000"/>
            </a:solidFill>
            <a:prstDash val="solid"/>
          </a:ln>
        </p:spPr>
      </p:sp>
      <p:sp>
        <p:nvSpPr>
          <p:cNvPr id="14" name="Shape 12"/>
          <p:cNvSpPr/>
          <p:nvPr/>
        </p:nvSpPr>
        <p:spPr>
          <a:xfrm>
            <a:off x="0" y="2314575"/>
            <a:ext cx="9144000" cy="11887"/>
          </a:xfrm>
          <a:prstGeom prst="rect">
            <a:avLst/>
          </a:prstGeom>
          <a:solidFill>
            <a:srgbClr val="00F5FF">
              <a:alpha val="3000"/>
            </a:srgbClr>
          </a:solidFill>
          <a:ln w="12700">
            <a:solidFill>
              <a:srgbClr val="000000"/>
            </a:solidFill>
            <a:prstDash val="solid"/>
          </a:ln>
        </p:spPr>
      </p:sp>
      <p:sp>
        <p:nvSpPr>
          <p:cNvPr id="15" name="Shape 13"/>
          <p:cNvSpPr/>
          <p:nvPr/>
        </p:nvSpPr>
        <p:spPr>
          <a:xfrm>
            <a:off x="0" y="2571750"/>
            <a:ext cx="9144000" cy="11887"/>
          </a:xfrm>
          <a:prstGeom prst="rect">
            <a:avLst/>
          </a:prstGeom>
          <a:solidFill>
            <a:srgbClr val="00F5FF">
              <a:alpha val="3000"/>
            </a:srgbClr>
          </a:solidFill>
          <a:ln w="12700">
            <a:solidFill>
              <a:srgbClr val="000000"/>
            </a:solidFill>
            <a:prstDash val="solid"/>
          </a:ln>
        </p:spPr>
      </p:sp>
      <p:sp>
        <p:nvSpPr>
          <p:cNvPr id="16" name="Shape 14"/>
          <p:cNvSpPr/>
          <p:nvPr/>
        </p:nvSpPr>
        <p:spPr>
          <a:xfrm>
            <a:off x="0" y="2828925"/>
            <a:ext cx="9144000" cy="11887"/>
          </a:xfrm>
          <a:prstGeom prst="rect">
            <a:avLst/>
          </a:prstGeom>
          <a:solidFill>
            <a:srgbClr val="00F5FF">
              <a:alpha val="3000"/>
            </a:srgbClr>
          </a:solidFill>
          <a:ln w="12700">
            <a:solidFill>
              <a:srgbClr val="000000"/>
            </a:solidFill>
            <a:prstDash val="solid"/>
          </a:ln>
        </p:spPr>
      </p:sp>
      <p:sp>
        <p:nvSpPr>
          <p:cNvPr id="17" name="Shape 15"/>
          <p:cNvSpPr/>
          <p:nvPr/>
        </p:nvSpPr>
        <p:spPr>
          <a:xfrm>
            <a:off x="0" y="3086100"/>
            <a:ext cx="9144000" cy="11887"/>
          </a:xfrm>
          <a:prstGeom prst="rect">
            <a:avLst/>
          </a:prstGeom>
          <a:solidFill>
            <a:srgbClr val="00F5FF">
              <a:alpha val="3000"/>
            </a:srgbClr>
          </a:solidFill>
          <a:ln w="12700">
            <a:solidFill>
              <a:srgbClr val="000000"/>
            </a:solidFill>
            <a:prstDash val="solid"/>
          </a:ln>
        </p:spPr>
      </p:sp>
      <p:sp>
        <p:nvSpPr>
          <p:cNvPr id="18" name="Shape 16"/>
          <p:cNvSpPr/>
          <p:nvPr/>
        </p:nvSpPr>
        <p:spPr>
          <a:xfrm>
            <a:off x="0" y="3343275"/>
            <a:ext cx="9144000" cy="11887"/>
          </a:xfrm>
          <a:prstGeom prst="rect">
            <a:avLst/>
          </a:prstGeom>
          <a:solidFill>
            <a:srgbClr val="00F5FF">
              <a:alpha val="3000"/>
            </a:srgbClr>
          </a:solidFill>
          <a:ln w="12700">
            <a:solidFill>
              <a:srgbClr val="000000"/>
            </a:solidFill>
            <a:prstDash val="solid"/>
          </a:ln>
        </p:spPr>
      </p:sp>
      <p:sp>
        <p:nvSpPr>
          <p:cNvPr id="19" name="Shape 17"/>
          <p:cNvSpPr/>
          <p:nvPr/>
        </p:nvSpPr>
        <p:spPr>
          <a:xfrm>
            <a:off x="0" y="3600450"/>
            <a:ext cx="9144000" cy="11887"/>
          </a:xfrm>
          <a:prstGeom prst="rect">
            <a:avLst/>
          </a:prstGeom>
          <a:solidFill>
            <a:srgbClr val="00F5FF">
              <a:alpha val="3000"/>
            </a:srgbClr>
          </a:solidFill>
          <a:ln w="12700">
            <a:solidFill>
              <a:srgbClr val="000000"/>
            </a:solidFill>
            <a:prstDash val="solid"/>
          </a:ln>
        </p:spPr>
      </p:sp>
      <p:sp>
        <p:nvSpPr>
          <p:cNvPr id="20" name="Shape 18"/>
          <p:cNvSpPr/>
          <p:nvPr/>
        </p:nvSpPr>
        <p:spPr>
          <a:xfrm>
            <a:off x="0" y="3857625"/>
            <a:ext cx="9144000" cy="11887"/>
          </a:xfrm>
          <a:prstGeom prst="rect">
            <a:avLst/>
          </a:prstGeom>
          <a:solidFill>
            <a:srgbClr val="00F5FF">
              <a:alpha val="3000"/>
            </a:srgbClr>
          </a:solidFill>
          <a:ln w="12700">
            <a:solidFill>
              <a:srgbClr val="000000"/>
            </a:solidFill>
            <a:prstDash val="solid"/>
          </a:ln>
        </p:spPr>
      </p:sp>
      <p:sp>
        <p:nvSpPr>
          <p:cNvPr id="21" name="Shape 19"/>
          <p:cNvSpPr/>
          <p:nvPr/>
        </p:nvSpPr>
        <p:spPr>
          <a:xfrm>
            <a:off x="0" y="4114800"/>
            <a:ext cx="9144000" cy="11887"/>
          </a:xfrm>
          <a:prstGeom prst="rect">
            <a:avLst/>
          </a:prstGeom>
          <a:solidFill>
            <a:srgbClr val="00F5FF">
              <a:alpha val="3000"/>
            </a:srgbClr>
          </a:solidFill>
          <a:ln w="12700">
            <a:solidFill>
              <a:srgbClr val="000000"/>
            </a:solidFill>
            <a:prstDash val="solid"/>
          </a:ln>
        </p:spPr>
      </p:sp>
      <p:sp>
        <p:nvSpPr>
          <p:cNvPr id="22" name="Shape 20"/>
          <p:cNvSpPr/>
          <p:nvPr/>
        </p:nvSpPr>
        <p:spPr>
          <a:xfrm>
            <a:off x="0" y="4371975"/>
            <a:ext cx="9144000" cy="11887"/>
          </a:xfrm>
          <a:prstGeom prst="rect">
            <a:avLst/>
          </a:prstGeom>
          <a:solidFill>
            <a:srgbClr val="00F5FF">
              <a:alpha val="3000"/>
            </a:srgbClr>
          </a:solidFill>
          <a:ln w="12700">
            <a:solidFill>
              <a:srgbClr val="000000"/>
            </a:solidFill>
            <a:prstDash val="solid"/>
          </a:ln>
        </p:spPr>
      </p:sp>
      <p:sp>
        <p:nvSpPr>
          <p:cNvPr id="23" name="Shape 21"/>
          <p:cNvSpPr/>
          <p:nvPr/>
        </p:nvSpPr>
        <p:spPr>
          <a:xfrm>
            <a:off x="0" y="4629150"/>
            <a:ext cx="9144000" cy="11887"/>
          </a:xfrm>
          <a:prstGeom prst="rect">
            <a:avLst/>
          </a:prstGeom>
          <a:solidFill>
            <a:srgbClr val="00F5FF">
              <a:alpha val="3000"/>
            </a:srgbClr>
          </a:solidFill>
          <a:ln w="12700">
            <a:solidFill>
              <a:srgbClr val="000000"/>
            </a:solidFill>
            <a:prstDash val="solid"/>
          </a:ln>
        </p:spPr>
      </p:sp>
      <p:sp>
        <p:nvSpPr>
          <p:cNvPr id="24" name="Shape 22"/>
          <p:cNvSpPr/>
          <p:nvPr/>
        </p:nvSpPr>
        <p:spPr>
          <a:xfrm>
            <a:off x="0" y="4886325"/>
            <a:ext cx="9144000" cy="11887"/>
          </a:xfrm>
          <a:prstGeom prst="rect">
            <a:avLst/>
          </a:prstGeom>
          <a:solidFill>
            <a:srgbClr val="00F5FF">
              <a:alpha val="3000"/>
            </a:srgbClr>
          </a:solidFill>
          <a:ln w="12700">
            <a:solidFill>
              <a:srgbClr val="000000"/>
            </a:solidFill>
            <a:prstDash val="solid"/>
          </a:ln>
        </p:spPr>
      </p:sp>
      <p:sp>
        <p:nvSpPr>
          <p:cNvPr id="25" name="Shape 23"/>
          <p:cNvSpPr/>
          <p:nvPr/>
        </p:nvSpPr>
        <p:spPr>
          <a:xfrm>
            <a:off x="3108960" y="73152"/>
            <a:ext cx="2011680" cy="2011680"/>
          </a:xfrm>
          <a:prstGeom prst="ellipse">
            <a:avLst/>
          </a:prstGeom>
          <a:solidFill>
            <a:srgbClr val="00F5FF">
              <a:alpha val="3000"/>
            </a:srgbClr>
          </a:solidFill>
          <a:ln w="15240">
            <a:solidFill>
              <a:srgbClr val="00F5FF"/>
            </a:solidFill>
            <a:prstDash val="solid"/>
          </a:ln>
        </p:spPr>
      </p:sp>
      <p:sp>
        <p:nvSpPr>
          <p:cNvPr id="26" name="Shape 24"/>
          <p:cNvSpPr/>
          <p:nvPr/>
        </p:nvSpPr>
        <p:spPr>
          <a:xfrm>
            <a:off x="3337560" y="301752"/>
            <a:ext cx="1554480" cy="1554480"/>
          </a:xfrm>
          <a:prstGeom prst="ellipse">
            <a:avLst/>
          </a:prstGeom>
          <a:solidFill>
            <a:srgbClr val="B040FF">
              <a:alpha val="6000"/>
            </a:srgbClr>
          </a:solidFill>
          <a:ln w="12700">
            <a:solidFill>
              <a:srgbClr val="B040FF"/>
            </a:solidFill>
            <a:prstDash val="solid"/>
          </a:ln>
        </p:spPr>
      </p:sp>
      <p:sp>
        <p:nvSpPr>
          <p:cNvPr id="27" name="Shape 25"/>
          <p:cNvSpPr/>
          <p:nvPr/>
        </p:nvSpPr>
        <p:spPr>
          <a:xfrm>
            <a:off x="3566160" y="530352"/>
            <a:ext cx="1097280" cy="1097280"/>
          </a:xfrm>
          <a:prstGeom prst="ellipse">
            <a:avLst/>
          </a:prstGeom>
          <a:solidFill>
            <a:srgbClr val="00FFD1">
              <a:alpha val="8000"/>
            </a:srgbClr>
          </a:solidFill>
          <a:ln w="10160">
            <a:solidFill>
              <a:srgbClr val="00FFD1"/>
            </a:solidFill>
            <a:prstDash val="solid"/>
          </a:ln>
        </p:spPr>
      </p:sp>
      <p:sp>
        <p:nvSpPr>
          <p:cNvPr id="28" name="Shape 26"/>
          <p:cNvSpPr/>
          <p:nvPr/>
        </p:nvSpPr>
        <p:spPr>
          <a:xfrm>
            <a:off x="3771900" y="736092"/>
            <a:ext cx="685800" cy="685800"/>
          </a:xfrm>
          <a:prstGeom prst="ellipse">
            <a:avLst/>
          </a:prstGeom>
          <a:solidFill>
            <a:srgbClr val="00F5FF">
              <a:alpha val="12000"/>
            </a:srgbClr>
          </a:solidFill>
          <a:ln w="7620">
            <a:solidFill>
              <a:srgbClr val="00F5FF"/>
            </a:solidFill>
            <a:prstDash val="solid"/>
          </a:ln>
          <a:effectLst>
            <a:outerShdw sx="100000" sy="100000" kx="0" ky="0" algn="bl" rotWithShape="0" blurRad="279400" dist="50800" dir="16200000">
              <a:srgbClr val="00F5FF">
                <a:alpha val="20000"/>
              </a:srgbClr>
            </a:outerShdw>
          </a:effectLst>
        </p:spPr>
      </p:sp>
      <p:sp>
        <p:nvSpPr>
          <p:cNvPr id="29" name="Shape 27"/>
          <p:cNvSpPr/>
          <p:nvPr/>
        </p:nvSpPr>
        <p:spPr>
          <a:xfrm>
            <a:off x="3968496" y="932688"/>
            <a:ext cx="292608" cy="292608"/>
          </a:xfrm>
          <a:prstGeom prst="ellipse">
            <a:avLst/>
          </a:prstGeom>
          <a:solidFill>
            <a:srgbClr val="EEF6FF"/>
          </a:solidFill>
          <a:ln w="5080">
            <a:solidFill>
              <a:srgbClr val="EEF6FF"/>
            </a:solidFill>
            <a:prstDash val="solid"/>
          </a:ln>
          <a:effectLst>
            <a:outerShdw sx="100000" sy="100000" kx="0" ky="0" algn="bl" rotWithShape="0" blurRad="279400" dist="50800" dir="16200000">
              <a:srgbClr val="EEF6FF">
                <a:alpha val="20000"/>
              </a:srgbClr>
            </a:outerShdw>
          </a:effectLst>
        </p:spPr>
      </p:sp>
      <p:sp>
        <p:nvSpPr>
          <p:cNvPr id="30" name="Shape 28"/>
          <p:cNvSpPr/>
          <p:nvPr/>
        </p:nvSpPr>
        <p:spPr>
          <a:xfrm>
            <a:off x="4279392" y="256032"/>
            <a:ext cx="256032" cy="256032"/>
          </a:xfrm>
          <a:prstGeom prst="ellipse">
            <a:avLst/>
          </a:prstGeom>
          <a:solidFill>
            <a:srgbClr val="00F5FF"/>
          </a:solidFill>
          <a:ln w="12700">
            <a:solidFill>
              <a:srgbClr val="000000"/>
            </a:solidFill>
            <a:prstDash val="solid"/>
          </a:ln>
          <a:effectLst>
            <a:outerShdw sx="100000" sy="100000" kx="0" ky="0" algn="bl" rotWithShape="0" blurRad="279400" dist="50800" dir="16200000">
              <a:srgbClr val="00F5FF">
                <a:alpha val="70000"/>
              </a:srgbClr>
            </a:outerShdw>
          </a:effectLst>
        </p:spPr>
      </p:sp>
      <p:sp>
        <p:nvSpPr>
          <p:cNvPr id="31" name="Shape 29"/>
          <p:cNvSpPr/>
          <p:nvPr/>
        </p:nvSpPr>
        <p:spPr>
          <a:xfrm>
            <a:off x="3474720" y="365760"/>
            <a:ext cx="2194560" cy="16459"/>
          </a:xfrm>
          <a:prstGeom prst="rect">
            <a:avLst/>
          </a:prstGeom>
          <a:solidFill>
            <a:srgbClr val="00F5FF">
              <a:alpha val="28000"/>
            </a:srgbClr>
          </a:solidFill>
          <a:ln w="12700">
            <a:solidFill>
              <a:srgbClr val="000000"/>
            </a:solidFill>
            <a:prstDash val="solid"/>
          </a:ln>
        </p:spPr>
      </p:sp>
      <p:sp>
        <p:nvSpPr>
          <p:cNvPr id="32" name="Shape 30"/>
          <p:cNvSpPr/>
          <p:nvPr/>
        </p:nvSpPr>
        <p:spPr>
          <a:xfrm>
            <a:off x="4370832" y="-274320"/>
            <a:ext cx="16459" cy="2194560"/>
          </a:xfrm>
          <a:prstGeom prst="rect">
            <a:avLst/>
          </a:prstGeom>
          <a:solidFill>
            <a:srgbClr val="00F5FF">
              <a:alpha val="28000"/>
            </a:srgbClr>
          </a:solidFill>
          <a:ln w="12700">
            <a:solidFill>
              <a:srgbClr val="000000"/>
            </a:solidFill>
            <a:prstDash val="solid"/>
          </a:ln>
        </p:spPr>
      </p:sp>
      <p:sp>
        <p:nvSpPr>
          <p:cNvPr id="33" name="Text 31"/>
          <p:cNvSpPr/>
          <p:nvPr/>
        </p:nvSpPr>
        <p:spPr>
          <a:xfrm>
            <a:off x="182880" y="1600200"/>
            <a:ext cx="8778240" cy="960120"/>
          </a:xfrm>
          <a:prstGeom prst="rect">
            <a:avLst/>
          </a:prstGeom>
          <a:noFill/>
          <a:ln/>
          <a:effectLst>
            <a:outerShdw sx="100000" sy="100000" kx="0" ky="0" algn="bl" rotWithShape="0" blurRad="279400" dist="50800" dir="16200000">
              <a:srgbClr val="00F5FF">
                <a:alpha val="50000"/>
              </a:srgbClr>
            </a:outerShdw>
          </a:effectLst>
        </p:spPr>
        <p:txBody>
          <a:bodyPr wrap="square" rtlCol="0" anchor="ctr"/>
          <a:lstStyle/>
          <a:p>
            <a:pPr algn="ctr" indent="0" marL="0">
              <a:buNone/>
            </a:pPr>
            <a:r>
              <a:rPr lang="en-US" sz="7800" b="1" spc="1600" kern="0" dirty="0">
                <a:solidFill>
                  <a:srgbClr val="00F5FF"/>
                </a:solidFill>
                <a:latin typeface="Calibri" pitchFamily="34" charset="0"/>
                <a:ea typeface="Calibri" pitchFamily="34" charset="-122"/>
                <a:cs typeface="Calibri" pitchFamily="34" charset="-120"/>
              </a:rPr>
              <a:t>CIVICEYE</a:t>
            </a:r>
            <a:endParaRPr lang="en-US" sz="7800" dirty="0"/>
          </a:p>
        </p:txBody>
      </p:sp>
      <p:sp>
        <p:nvSpPr>
          <p:cNvPr id="34" name="Text 32"/>
          <p:cNvSpPr/>
          <p:nvPr/>
        </p:nvSpPr>
        <p:spPr>
          <a:xfrm>
            <a:off x="182880" y="2542032"/>
            <a:ext cx="8778240" cy="475488"/>
          </a:xfrm>
          <a:prstGeom prst="rect">
            <a:avLst/>
          </a:prstGeom>
          <a:noFill/>
          <a:ln/>
          <a:effectLst>
            <a:outerShdw sx="100000" sy="100000" kx="0" ky="0" algn="bl" rotWithShape="0" blurRad="279400" dist="50800" dir="16200000">
              <a:srgbClr val="B040FF">
                <a:alpha val="40000"/>
              </a:srgbClr>
            </a:outerShdw>
          </a:effectLst>
        </p:spPr>
        <p:txBody>
          <a:bodyPr wrap="square" rtlCol="0" anchor="ctr"/>
          <a:lstStyle/>
          <a:p>
            <a:pPr algn="ctr" indent="0" marL="0">
              <a:buNone/>
            </a:pPr>
            <a:r>
              <a:rPr lang="en-US" sz="2600" spc="1200" kern="0" dirty="0">
                <a:solidFill>
                  <a:srgbClr val="B040FF"/>
                </a:solidFill>
                <a:latin typeface="Consolas" pitchFamily="34" charset="0"/>
                <a:ea typeface="Consolas" pitchFamily="34" charset="-122"/>
                <a:cs typeface="Consolas" pitchFamily="34" charset="-120"/>
              </a:rPr>
              <a:t>PRO  v6.0</a:t>
            </a:r>
            <a:endParaRPr lang="en-US" sz="2600" dirty="0"/>
          </a:p>
        </p:txBody>
      </p:sp>
      <p:sp>
        <p:nvSpPr>
          <p:cNvPr id="35" name="Shape 33"/>
          <p:cNvSpPr/>
          <p:nvPr/>
        </p:nvSpPr>
        <p:spPr>
          <a:xfrm>
            <a:off x="1371600" y="3072384"/>
            <a:ext cx="6400800" cy="32004"/>
          </a:xfrm>
          <a:prstGeom prst="rect">
            <a:avLst/>
          </a:prstGeom>
          <a:solidFill>
            <a:srgbClr val="00F5FF">
              <a:alpha val="55000"/>
            </a:srgbClr>
          </a:solidFill>
          <a:ln w="12700">
            <a:solidFill>
              <a:srgbClr val="000000"/>
            </a:solidFill>
            <a:prstDash val="solid"/>
          </a:ln>
        </p:spPr>
      </p:sp>
      <p:sp>
        <p:nvSpPr>
          <p:cNvPr id="36" name="Text 34"/>
          <p:cNvSpPr/>
          <p:nvPr/>
        </p:nvSpPr>
        <p:spPr>
          <a:xfrm>
            <a:off x="365760" y="3090672"/>
            <a:ext cx="8412480" cy="320040"/>
          </a:xfrm>
          <a:prstGeom prst="rect">
            <a:avLst/>
          </a:prstGeom>
          <a:noFill/>
          <a:ln/>
        </p:spPr>
        <p:txBody>
          <a:bodyPr wrap="square" rtlCol="0" anchor="ctr"/>
          <a:lstStyle/>
          <a:p>
            <a:pPr algn="ctr" indent="0" marL="0">
              <a:buNone/>
            </a:pPr>
            <a:r>
              <a:rPr lang="en-US" sz="1450" i="1" dirty="0">
                <a:solidFill>
                  <a:srgbClr val="EEF6FF"/>
                </a:solidFill>
                <a:latin typeface="Calibri" pitchFamily="34" charset="0"/>
                <a:ea typeface="Calibri" pitchFamily="34" charset="-122"/>
                <a:cs typeface="Calibri" pitchFamily="34" charset="-120"/>
              </a:rPr>
              <a:t>Holographic AI-Powered Civic Governance Platform</a:t>
            </a:r>
            <a:endParaRPr lang="en-US" sz="1450" dirty="0"/>
          </a:p>
        </p:txBody>
      </p:sp>
      <p:sp>
        <p:nvSpPr>
          <p:cNvPr id="37" name="Shape 35"/>
          <p:cNvSpPr/>
          <p:nvPr/>
        </p:nvSpPr>
        <p:spPr>
          <a:xfrm>
            <a:off x="1371600" y="3438144"/>
            <a:ext cx="6400800" cy="32004"/>
          </a:xfrm>
          <a:prstGeom prst="rect">
            <a:avLst/>
          </a:prstGeom>
          <a:solidFill>
            <a:srgbClr val="00F5FF">
              <a:alpha val="55000"/>
            </a:srgbClr>
          </a:solidFill>
          <a:ln w="12700">
            <a:solidFill>
              <a:srgbClr val="000000"/>
            </a:solidFill>
            <a:prstDash val="solid"/>
          </a:ln>
        </p:spPr>
      </p:sp>
      <p:sp>
        <p:nvSpPr>
          <p:cNvPr id="38" name="Shape 36"/>
          <p:cNvSpPr/>
          <p:nvPr/>
        </p:nvSpPr>
        <p:spPr>
          <a:xfrm>
            <a:off x="-27432" y="3566160"/>
            <a:ext cx="868680" cy="228600"/>
          </a:xfrm>
          <a:prstGeom prst="roundRect">
            <a:avLst>
              <a:gd name="adj" fmla="val 20000"/>
            </a:avLst>
          </a:prstGeom>
          <a:solidFill>
            <a:srgbClr val="3D8EFF">
              <a:alpha val="20000"/>
            </a:srgbClr>
          </a:solidFill>
          <a:ln w="11430">
            <a:solidFill>
              <a:srgbClr val="3D8EFF"/>
            </a:solidFill>
            <a:prstDash val="solid"/>
          </a:ln>
        </p:spPr>
      </p:sp>
      <p:sp>
        <p:nvSpPr>
          <p:cNvPr id="39" name="Text 37"/>
          <p:cNvSpPr/>
          <p:nvPr/>
        </p:nvSpPr>
        <p:spPr>
          <a:xfrm>
            <a:off x="-27432" y="3566160"/>
            <a:ext cx="868680" cy="228600"/>
          </a:xfrm>
          <a:prstGeom prst="rect">
            <a:avLst/>
          </a:prstGeom>
          <a:noFill/>
          <a:ln/>
        </p:spPr>
        <p:txBody>
          <a:bodyPr wrap="square" lIns="0" tIns="0" rIns="0" bIns="0" rtlCol="0" anchor="ctr"/>
          <a:lstStyle/>
          <a:p>
            <a:pPr algn="ctr" indent="0" marL="0">
              <a:buNone/>
            </a:pPr>
            <a:r>
              <a:rPr lang="en-US" sz="800" b="1" dirty="0">
                <a:solidFill>
                  <a:srgbClr val="3D8EFF"/>
                </a:solidFill>
                <a:latin typeface="Consolas" pitchFamily="34" charset="0"/>
                <a:ea typeface="Consolas" pitchFamily="34" charset="-122"/>
                <a:cs typeface="Consolas" pitchFamily="34" charset="-120"/>
              </a:rPr>
              <a:t>🔐 Auth</a:t>
            </a:r>
            <a:endParaRPr lang="en-US" sz="800" dirty="0"/>
          </a:p>
        </p:txBody>
      </p:sp>
      <p:sp>
        <p:nvSpPr>
          <p:cNvPr id="40" name="Shape 38"/>
          <p:cNvSpPr/>
          <p:nvPr/>
        </p:nvSpPr>
        <p:spPr>
          <a:xfrm>
            <a:off x="969264" y="3566160"/>
            <a:ext cx="1280160" cy="228600"/>
          </a:xfrm>
          <a:prstGeom prst="roundRect">
            <a:avLst>
              <a:gd name="adj" fmla="val 20000"/>
            </a:avLst>
          </a:prstGeom>
          <a:solidFill>
            <a:srgbClr val="B040FF">
              <a:alpha val="20000"/>
            </a:srgbClr>
          </a:solidFill>
          <a:ln w="11430">
            <a:solidFill>
              <a:srgbClr val="B040FF"/>
            </a:solidFill>
            <a:prstDash val="solid"/>
          </a:ln>
        </p:spPr>
      </p:sp>
      <p:sp>
        <p:nvSpPr>
          <p:cNvPr id="41" name="Text 39"/>
          <p:cNvSpPr/>
          <p:nvPr/>
        </p:nvSpPr>
        <p:spPr>
          <a:xfrm>
            <a:off x="969264" y="3566160"/>
            <a:ext cx="1280160" cy="228600"/>
          </a:xfrm>
          <a:prstGeom prst="rect">
            <a:avLst/>
          </a:prstGeom>
          <a:noFill/>
          <a:ln/>
        </p:spPr>
        <p:txBody>
          <a:bodyPr wrap="square" lIns="0" tIns="0" rIns="0" bIns="0" rtlCol="0" anchor="ctr"/>
          <a:lstStyle/>
          <a:p>
            <a:pPr algn="ctr" indent="0" marL="0">
              <a:buNone/>
            </a:pPr>
            <a:r>
              <a:rPr lang="en-US" sz="800" b="1" dirty="0">
                <a:solidFill>
                  <a:srgbClr val="B040FF"/>
                </a:solidFill>
                <a:latin typeface="Consolas" pitchFamily="34" charset="0"/>
                <a:ea typeface="Consolas" pitchFamily="34" charset="-122"/>
                <a:cs typeface="Consolas" pitchFamily="34" charset="-120"/>
              </a:rPr>
              <a:t>🧠 AI Engine</a:t>
            </a:r>
            <a:endParaRPr lang="en-US" sz="800" dirty="0"/>
          </a:p>
        </p:txBody>
      </p:sp>
      <p:sp>
        <p:nvSpPr>
          <p:cNvPr id="42" name="Shape 40"/>
          <p:cNvSpPr/>
          <p:nvPr/>
        </p:nvSpPr>
        <p:spPr>
          <a:xfrm>
            <a:off x="2377440" y="3566160"/>
            <a:ext cx="1280160" cy="228600"/>
          </a:xfrm>
          <a:prstGeom prst="roundRect">
            <a:avLst>
              <a:gd name="adj" fmla="val 20000"/>
            </a:avLst>
          </a:prstGeom>
          <a:solidFill>
            <a:srgbClr val="00F5FF">
              <a:alpha val="20000"/>
            </a:srgbClr>
          </a:solidFill>
          <a:ln w="11430">
            <a:solidFill>
              <a:srgbClr val="00F5FF"/>
            </a:solidFill>
            <a:prstDash val="solid"/>
          </a:ln>
        </p:spPr>
      </p:sp>
      <p:sp>
        <p:nvSpPr>
          <p:cNvPr id="43" name="Text 41"/>
          <p:cNvSpPr/>
          <p:nvPr/>
        </p:nvSpPr>
        <p:spPr>
          <a:xfrm>
            <a:off x="2377440" y="3566160"/>
            <a:ext cx="1280160" cy="228600"/>
          </a:xfrm>
          <a:prstGeom prst="rect">
            <a:avLst/>
          </a:prstGeom>
          <a:noFill/>
          <a:ln/>
        </p:spPr>
        <p:txBody>
          <a:bodyPr wrap="square" lIns="0" tIns="0" rIns="0" bIns="0" rtlCol="0" anchor="ctr"/>
          <a:lstStyle/>
          <a:p>
            <a:pPr algn="ctr" indent="0" marL="0">
              <a:buNone/>
            </a:pPr>
            <a:r>
              <a:rPr lang="en-US" sz="800" b="1" dirty="0">
                <a:solidFill>
                  <a:srgbClr val="00F5FF"/>
                </a:solidFill>
                <a:latin typeface="Consolas" pitchFamily="34" charset="0"/>
                <a:ea typeface="Consolas" pitchFamily="34" charset="-122"/>
                <a:cs typeface="Consolas" pitchFamily="34" charset="-120"/>
              </a:rPr>
              <a:t>⛓ Blockchain</a:t>
            </a:r>
            <a:endParaRPr lang="en-US" sz="800" dirty="0"/>
          </a:p>
        </p:txBody>
      </p:sp>
      <p:sp>
        <p:nvSpPr>
          <p:cNvPr id="44" name="Shape 42"/>
          <p:cNvSpPr/>
          <p:nvPr/>
        </p:nvSpPr>
        <p:spPr>
          <a:xfrm>
            <a:off x="3785616" y="3566160"/>
            <a:ext cx="1362456" cy="228600"/>
          </a:xfrm>
          <a:prstGeom prst="roundRect">
            <a:avLst>
              <a:gd name="adj" fmla="val 20000"/>
            </a:avLst>
          </a:prstGeom>
          <a:solidFill>
            <a:srgbClr val="00FF88">
              <a:alpha val="20000"/>
            </a:srgbClr>
          </a:solidFill>
          <a:ln w="11430">
            <a:solidFill>
              <a:srgbClr val="00FF88"/>
            </a:solidFill>
            <a:prstDash val="solid"/>
          </a:ln>
        </p:spPr>
      </p:sp>
      <p:sp>
        <p:nvSpPr>
          <p:cNvPr id="45" name="Text 43"/>
          <p:cNvSpPr/>
          <p:nvPr/>
        </p:nvSpPr>
        <p:spPr>
          <a:xfrm>
            <a:off x="3785616" y="3566160"/>
            <a:ext cx="1362456" cy="228600"/>
          </a:xfrm>
          <a:prstGeom prst="rect">
            <a:avLst/>
          </a:prstGeom>
          <a:noFill/>
          <a:ln/>
        </p:spPr>
        <p:txBody>
          <a:bodyPr wrap="square" lIns="0" tIns="0" rIns="0" bIns="0" rtlCol="0" anchor="ctr"/>
          <a:lstStyle/>
          <a:p>
            <a:pPr algn="ctr" indent="0" marL="0">
              <a:buNone/>
            </a:pPr>
            <a:r>
              <a:rPr lang="en-US" sz="800" b="1" dirty="0">
                <a:solidFill>
                  <a:srgbClr val="00FF88"/>
                </a:solidFill>
                <a:latin typeface="Consolas" pitchFamily="34" charset="0"/>
                <a:ea typeface="Consolas" pitchFamily="34" charset="-122"/>
                <a:cs typeface="Consolas" pitchFamily="34" charset="-120"/>
              </a:rPr>
              <a:t>🤖 Automation</a:t>
            </a:r>
            <a:endParaRPr lang="en-US" sz="800" dirty="0"/>
          </a:p>
        </p:txBody>
      </p:sp>
      <p:sp>
        <p:nvSpPr>
          <p:cNvPr id="46" name="Shape 44"/>
          <p:cNvSpPr/>
          <p:nvPr/>
        </p:nvSpPr>
        <p:spPr>
          <a:xfrm>
            <a:off x="5276088" y="3566160"/>
            <a:ext cx="1280160" cy="228600"/>
          </a:xfrm>
          <a:prstGeom prst="roundRect">
            <a:avLst>
              <a:gd name="adj" fmla="val 20000"/>
            </a:avLst>
          </a:prstGeom>
          <a:solidFill>
            <a:srgbClr val="FFCC00">
              <a:alpha val="20000"/>
            </a:srgbClr>
          </a:solidFill>
          <a:ln w="11430">
            <a:solidFill>
              <a:srgbClr val="FFCC00"/>
            </a:solidFill>
            <a:prstDash val="solid"/>
          </a:ln>
        </p:spPr>
      </p:sp>
      <p:sp>
        <p:nvSpPr>
          <p:cNvPr id="47" name="Text 45"/>
          <p:cNvSpPr/>
          <p:nvPr/>
        </p:nvSpPr>
        <p:spPr>
          <a:xfrm>
            <a:off x="5276088" y="3566160"/>
            <a:ext cx="1280160" cy="228600"/>
          </a:xfrm>
          <a:prstGeom prst="rect">
            <a:avLst/>
          </a:prstGeom>
          <a:noFill/>
          <a:ln/>
        </p:spPr>
        <p:txBody>
          <a:bodyPr wrap="square" lIns="0" tIns="0" rIns="0" bIns="0" rtlCol="0" anchor="ctr"/>
          <a:lstStyle/>
          <a:p>
            <a:pPr algn="ctr" indent="0" marL="0">
              <a:buNone/>
            </a:pPr>
            <a:r>
              <a:rPr lang="en-US" sz="800" b="1" dirty="0">
                <a:solidFill>
                  <a:srgbClr val="FFCC00"/>
                </a:solidFill>
                <a:latin typeface="Consolas" pitchFamily="34" charset="0"/>
                <a:ea typeface="Consolas" pitchFamily="34" charset="-122"/>
                <a:cs typeface="Consolas" pitchFamily="34" charset="-120"/>
              </a:rPr>
              <a:t>💬 Bilingual</a:t>
            </a:r>
            <a:endParaRPr lang="en-US" sz="800" dirty="0"/>
          </a:p>
        </p:txBody>
      </p:sp>
      <p:sp>
        <p:nvSpPr>
          <p:cNvPr id="48" name="Shape 46"/>
          <p:cNvSpPr/>
          <p:nvPr/>
        </p:nvSpPr>
        <p:spPr>
          <a:xfrm>
            <a:off x="6684264" y="3566160"/>
            <a:ext cx="1444752" cy="228600"/>
          </a:xfrm>
          <a:prstGeom prst="roundRect">
            <a:avLst>
              <a:gd name="adj" fmla="val 20000"/>
            </a:avLst>
          </a:prstGeom>
          <a:solidFill>
            <a:srgbClr val="FF2060">
              <a:alpha val="20000"/>
            </a:srgbClr>
          </a:solidFill>
          <a:ln w="11430">
            <a:solidFill>
              <a:srgbClr val="FF2060"/>
            </a:solidFill>
            <a:prstDash val="solid"/>
          </a:ln>
        </p:spPr>
      </p:sp>
      <p:sp>
        <p:nvSpPr>
          <p:cNvPr id="49" name="Text 47"/>
          <p:cNvSpPr/>
          <p:nvPr/>
        </p:nvSpPr>
        <p:spPr>
          <a:xfrm>
            <a:off x="6684264" y="3566160"/>
            <a:ext cx="1444752" cy="228600"/>
          </a:xfrm>
          <a:prstGeom prst="rect">
            <a:avLst/>
          </a:prstGeom>
          <a:noFill/>
          <a:ln/>
        </p:spPr>
        <p:txBody>
          <a:bodyPr wrap="square" lIns="0" tIns="0" rIns="0" bIns="0" rtlCol="0" anchor="ctr"/>
          <a:lstStyle/>
          <a:p>
            <a:pPr algn="ctr" indent="0" marL="0">
              <a:buNone/>
            </a:pPr>
            <a:r>
              <a:rPr lang="en-US" sz="800" b="1" dirty="0">
                <a:solidFill>
                  <a:srgbClr val="FF2060"/>
                </a:solidFill>
                <a:latin typeface="Consolas" pitchFamily="34" charset="0"/>
                <a:ea typeface="Consolas" pitchFamily="34" charset="-122"/>
                <a:cs typeface="Consolas" pitchFamily="34" charset="-120"/>
              </a:rPr>
              <a:t>🎤 Hindi Voice</a:t>
            </a:r>
            <a:endParaRPr lang="en-US" sz="800" dirty="0"/>
          </a:p>
        </p:txBody>
      </p:sp>
      <p:sp>
        <p:nvSpPr>
          <p:cNvPr id="50" name="Shape 48"/>
          <p:cNvSpPr/>
          <p:nvPr/>
        </p:nvSpPr>
        <p:spPr>
          <a:xfrm>
            <a:off x="8257032" y="3566160"/>
            <a:ext cx="786384" cy="228600"/>
          </a:xfrm>
          <a:prstGeom prst="roundRect">
            <a:avLst>
              <a:gd name="adj" fmla="val 20000"/>
            </a:avLst>
          </a:prstGeom>
          <a:solidFill>
            <a:srgbClr val="00FFD1">
              <a:alpha val="20000"/>
            </a:srgbClr>
          </a:solidFill>
          <a:ln w="11430">
            <a:solidFill>
              <a:srgbClr val="00FFD1"/>
            </a:solidFill>
            <a:prstDash val="solid"/>
          </a:ln>
        </p:spPr>
      </p:sp>
      <p:sp>
        <p:nvSpPr>
          <p:cNvPr id="51" name="Text 49"/>
          <p:cNvSpPr/>
          <p:nvPr/>
        </p:nvSpPr>
        <p:spPr>
          <a:xfrm>
            <a:off x="8257032" y="3566160"/>
            <a:ext cx="786384" cy="228600"/>
          </a:xfrm>
          <a:prstGeom prst="rect">
            <a:avLst/>
          </a:prstGeom>
          <a:noFill/>
          <a:ln/>
        </p:spPr>
        <p:txBody>
          <a:bodyPr wrap="square" lIns="0" tIns="0" rIns="0" bIns="0" rtlCol="0" anchor="ctr"/>
          <a:lstStyle/>
          <a:p>
            <a:pPr algn="ctr" indent="0" marL="0">
              <a:buNone/>
            </a:pPr>
            <a:r>
              <a:rPr lang="en-US" sz="800" b="1" dirty="0">
                <a:solidFill>
                  <a:srgbClr val="00FFD1"/>
                </a:solidFill>
                <a:latin typeface="Consolas" pitchFamily="34" charset="0"/>
                <a:ea typeface="Consolas" pitchFamily="34" charset="-122"/>
                <a:cs typeface="Consolas" pitchFamily="34" charset="-120"/>
              </a:rPr>
              <a:t>📱 PWA</a:t>
            </a:r>
            <a:endParaRPr lang="en-US" sz="800" dirty="0"/>
          </a:p>
        </p:txBody>
      </p:sp>
      <p:sp>
        <p:nvSpPr>
          <p:cNvPr id="52" name="Shape 50"/>
          <p:cNvSpPr/>
          <p:nvPr/>
        </p:nvSpPr>
        <p:spPr>
          <a:xfrm>
            <a:off x="320040" y="3913632"/>
            <a:ext cx="3977640" cy="420624"/>
          </a:xfrm>
          <a:prstGeom prst="roundRect">
            <a:avLst>
              <a:gd name="adj" fmla="val 15217"/>
            </a:avLst>
          </a:prstGeom>
          <a:solidFill>
            <a:srgbClr val="010810"/>
          </a:solidFill>
          <a:ln w="19050">
            <a:solidFill>
              <a:srgbClr val="00FF88"/>
            </a:solidFill>
            <a:prstDash val="solid"/>
          </a:ln>
          <a:effectLst>
            <a:outerShdw sx="100000" sy="100000" kx="0" ky="0" algn="bl" rotWithShape="0" blurRad="279400" dist="50800" dir="16200000">
              <a:srgbClr val="00FF88">
                <a:alpha val="35000"/>
              </a:srgbClr>
            </a:outerShdw>
          </a:effectLst>
        </p:spPr>
      </p:sp>
      <p:sp>
        <p:nvSpPr>
          <p:cNvPr id="53" name="Text 51"/>
          <p:cNvSpPr/>
          <p:nvPr/>
        </p:nvSpPr>
        <p:spPr>
          <a:xfrm>
            <a:off x="320040" y="3913632"/>
            <a:ext cx="3977640" cy="420624"/>
          </a:xfrm>
          <a:prstGeom prst="rect">
            <a:avLst/>
          </a:prstGeom>
          <a:noFill/>
          <a:ln/>
        </p:spPr>
        <p:txBody>
          <a:bodyPr wrap="square" rtlCol="0" anchor="ctr"/>
          <a:lstStyle/>
          <a:p>
            <a:pPr algn="ctr" indent="0" marL="0">
              <a:buNone/>
            </a:pPr>
            <a:r>
              <a:rPr lang="en-US" sz="1200" b="1" dirty="0">
                <a:solidFill>
                  <a:srgbClr val="00FF88"/>
                </a:solidFill>
                <a:latin typeface="Consolas" pitchFamily="34" charset="0"/>
                <a:ea typeface="Consolas" pitchFamily="34" charset="-122"/>
                <a:cs typeface="Consolas" pitchFamily="34" charset="-120"/>
              </a:rPr>
              <a:t>🌐  civiceye-v6.vercel.app</a:t>
            </a:r>
            <a:endParaRPr lang="en-US" sz="1200" dirty="0"/>
          </a:p>
        </p:txBody>
      </p:sp>
      <p:sp>
        <p:nvSpPr>
          <p:cNvPr id="54" name="Shape 52"/>
          <p:cNvSpPr/>
          <p:nvPr/>
        </p:nvSpPr>
        <p:spPr>
          <a:xfrm>
            <a:off x="4846320" y="3913632"/>
            <a:ext cx="3977640" cy="420624"/>
          </a:xfrm>
          <a:prstGeom prst="roundRect">
            <a:avLst>
              <a:gd name="adj" fmla="val 15217"/>
            </a:avLst>
          </a:prstGeom>
          <a:solidFill>
            <a:srgbClr val="010810"/>
          </a:solidFill>
          <a:ln w="19050">
            <a:solidFill>
              <a:srgbClr val="00F5FF"/>
            </a:solidFill>
            <a:prstDash val="solid"/>
          </a:ln>
          <a:effectLst>
            <a:outerShdw sx="100000" sy="100000" kx="0" ky="0" algn="bl" rotWithShape="0" blurRad="279400" dist="50800" dir="16200000">
              <a:srgbClr val="00F5FF">
                <a:alpha val="35000"/>
              </a:srgbClr>
            </a:outerShdw>
          </a:effectLst>
        </p:spPr>
      </p:sp>
      <p:sp>
        <p:nvSpPr>
          <p:cNvPr id="55" name="Text 53"/>
          <p:cNvSpPr/>
          <p:nvPr/>
        </p:nvSpPr>
        <p:spPr>
          <a:xfrm>
            <a:off x="4846320" y="3913632"/>
            <a:ext cx="3977640" cy="420624"/>
          </a:xfrm>
          <a:prstGeom prst="rect">
            <a:avLst/>
          </a:prstGeom>
          <a:noFill/>
          <a:ln/>
        </p:spPr>
        <p:txBody>
          <a:bodyPr wrap="square" rtlCol="0" anchor="ctr"/>
          <a:lstStyle/>
          <a:p>
            <a:pPr algn="ctr" indent="0" marL="0">
              <a:buNone/>
            </a:pPr>
            <a:r>
              <a:rPr lang="en-US" sz="1200" b="1" dirty="0">
                <a:solidFill>
                  <a:srgbClr val="00F5FF"/>
                </a:solidFill>
                <a:latin typeface="Consolas" pitchFamily="34" charset="0"/>
                <a:ea typeface="Consolas" pitchFamily="34" charset="-122"/>
                <a:cs typeface="Consolas" pitchFamily="34" charset="-120"/>
              </a:rPr>
              <a:t>⚙  civiceye-v6.onrender.com</a:t>
            </a:r>
            <a:endParaRPr lang="en-US" sz="1200" dirty="0"/>
          </a:p>
        </p:txBody>
      </p:sp>
      <p:sp>
        <p:nvSpPr>
          <p:cNvPr id="56" name="Shape 54"/>
          <p:cNvSpPr/>
          <p:nvPr/>
        </p:nvSpPr>
        <p:spPr>
          <a:xfrm>
            <a:off x="914400" y="4462272"/>
            <a:ext cx="7315200" cy="457200"/>
          </a:xfrm>
          <a:prstGeom prst="roundRect">
            <a:avLst>
              <a:gd name="adj" fmla="val 14000"/>
            </a:avLst>
          </a:prstGeom>
          <a:solidFill>
            <a:srgbClr val="010810"/>
          </a:solidFill>
          <a:ln w="13970">
            <a:solidFill>
              <a:srgbClr val="B040FF"/>
            </a:solidFill>
            <a:prstDash val="solid"/>
          </a:ln>
          <a:effectLst>
            <a:outerShdw sx="100000" sy="100000" kx="0" ky="0" algn="bl" rotWithShape="0" blurRad="279400" dist="50800" dir="16200000">
              <a:srgbClr val="B040FF">
                <a:alpha val="20000"/>
              </a:srgbClr>
            </a:outerShdw>
          </a:effectLst>
        </p:spPr>
      </p:sp>
      <p:sp>
        <p:nvSpPr>
          <p:cNvPr id="57" name="Text 55"/>
          <p:cNvSpPr/>
          <p:nvPr/>
        </p:nvSpPr>
        <p:spPr>
          <a:xfrm>
            <a:off x="914400" y="4462272"/>
            <a:ext cx="7315200" cy="457200"/>
          </a:xfrm>
          <a:prstGeom prst="rect">
            <a:avLst/>
          </a:prstGeom>
          <a:noFill/>
          <a:ln/>
        </p:spPr>
        <p:txBody>
          <a:bodyPr wrap="square" rtlCol="0" anchor="ctr"/>
          <a:lstStyle/>
          <a:p>
            <a:pPr algn="ctr" indent="0" marL="0">
              <a:buNone/>
            </a:pPr>
            <a:r>
              <a:rPr lang="en-US" sz="1150" dirty="0">
                <a:solidFill>
                  <a:srgbClr val="EEF6FF"/>
                </a:solidFill>
                <a:latin typeface="Calibri" pitchFamily="34" charset="0"/>
                <a:ea typeface="Calibri" pitchFamily="34" charset="-122"/>
                <a:cs typeface="Calibri" pitchFamily="34" charset="-120"/>
              </a:rPr>
              <a:t>Riya Thakur  ✦  Anjali Prajapat  ✦  Ritik Joshi  ✦  Sandeep Chauhan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Shape 3"/>
          <p:cNvSpPr/>
          <p:nvPr/>
        </p:nvSpPr>
        <p:spPr>
          <a:xfrm>
            <a:off x="0" y="0"/>
            <a:ext cx="9144000" cy="11887"/>
          </a:xfrm>
          <a:prstGeom prst="rect">
            <a:avLst/>
          </a:prstGeom>
          <a:solidFill>
            <a:srgbClr val="FF2060">
              <a:alpha val="3000"/>
            </a:srgbClr>
          </a:solidFill>
          <a:ln w="12700">
            <a:solidFill>
              <a:srgbClr val="000000"/>
            </a:solidFill>
            <a:prstDash val="solid"/>
          </a:ln>
        </p:spPr>
      </p:sp>
      <p:sp>
        <p:nvSpPr>
          <p:cNvPr id="6" name="Shape 4"/>
          <p:cNvSpPr/>
          <p:nvPr/>
        </p:nvSpPr>
        <p:spPr>
          <a:xfrm>
            <a:off x="0" y="514350"/>
            <a:ext cx="9144000" cy="11887"/>
          </a:xfrm>
          <a:prstGeom prst="rect">
            <a:avLst/>
          </a:prstGeom>
          <a:solidFill>
            <a:srgbClr val="FF2060">
              <a:alpha val="3000"/>
            </a:srgbClr>
          </a:solidFill>
          <a:ln w="12700">
            <a:solidFill>
              <a:srgbClr val="000000"/>
            </a:solidFill>
            <a:prstDash val="solid"/>
          </a:ln>
        </p:spPr>
      </p:sp>
      <p:sp>
        <p:nvSpPr>
          <p:cNvPr id="7" name="Shape 5"/>
          <p:cNvSpPr/>
          <p:nvPr/>
        </p:nvSpPr>
        <p:spPr>
          <a:xfrm>
            <a:off x="0" y="1028700"/>
            <a:ext cx="9144000" cy="11887"/>
          </a:xfrm>
          <a:prstGeom prst="rect">
            <a:avLst/>
          </a:prstGeom>
          <a:solidFill>
            <a:srgbClr val="FF2060">
              <a:alpha val="3000"/>
            </a:srgbClr>
          </a:solidFill>
          <a:ln w="12700">
            <a:solidFill>
              <a:srgbClr val="000000"/>
            </a:solidFill>
            <a:prstDash val="solid"/>
          </a:ln>
        </p:spPr>
      </p:sp>
      <p:sp>
        <p:nvSpPr>
          <p:cNvPr id="8" name="Shape 6"/>
          <p:cNvSpPr/>
          <p:nvPr/>
        </p:nvSpPr>
        <p:spPr>
          <a:xfrm>
            <a:off x="0" y="1543050"/>
            <a:ext cx="9144000" cy="11887"/>
          </a:xfrm>
          <a:prstGeom prst="rect">
            <a:avLst/>
          </a:prstGeom>
          <a:solidFill>
            <a:srgbClr val="FF2060">
              <a:alpha val="3000"/>
            </a:srgbClr>
          </a:solidFill>
          <a:ln w="12700">
            <a:solidFill>
              <a:srgbClr val="000000"/>
            </a:solidFill>
            <a:prstDash val="solid"/>
          </a:ln>
        </p:spPr>
      </p:sp>
      <p:sp>
        <p:nvSpPr>
          <p:cNvPr id="9" name="Shape 7"/>
          <p:cNvSpPr/>
          <p:nvPr/>
        </p:nvSpPr>
        <p:spPr>
          <a:xfrm>
            <a:off x="0" y="2057400"/>
            <a:ext cx="9144000" cy="11887"/>
          </a:xfrm>
          <a:prstGeom prst="rect">
            <a:avLst/>
          </a:prstGeom>
          <a:solidFill>
            <a:srgbClr val="FF2060">
              <a:alpha val="3000"/>
            </a:srgbClr>
          </a:solidFill>
          <a:ln w="12700">
            <a:solidFill>
              <a:srgbClr val="000000"/>
            </a:solidFill>
            <a:prstDash val="solid"/>
          </a:ln>
        </p:spPr>
      </p:sp>
      <p:sp>
        <p:nvSpPr>
          <p:cNvPr id="10" name="Shape 8"/>
          <p:cNvSpPr/>
          <p:nvPr/>
        </p:nvSpPr>
        <p:spPr>
          <a:xfrm>
            <a:off x="0" y="2571750"/>
            <a:ext cx="9144000" cy="11887"/>
          </a:xfrm>
          <a:prstGeom prst="rect">
            <a:avLst/>
          </a:prstGeom>
          <a:solidFill>
            <a:srgbClr val="FF2060">
              <a:alpha val="3000"/>
            </a:srgbClr>
          </a:solidFill>
          <a:ln w="12700">
            <a:solidFill>
              <a:srgbClr val="000000"/>
            </a:solidFill>
            <a:prstDash val="solid"/>
          </a:ln>
        </p:spPr>
      </p:sp>
      <p:sp>
        <p:nvSpPr>
          <p:cNvPr id="11" name="Shape 9"/>
          <p:cNvSpPr/>
          <p:nvPr/>
        </p:nvSpPr>
        <p:spPr>
          <a:xfrm>
            <a:off x="0" y="3086100"/>
            <a:ext cx="9144000" cy="11887"/>
          </a:xfrm>
          <a:prstGeom prst="rect">
            <a:avLst/>
          </a:prstGeom>
          <a:solidFill>
            <a:srgbClr val="FF2060">
              <a:alpha val="3000"/>
            </a:srgbClr>
          </a:solidFill>
          <a:ln w="12700">
            <a:solidFill>
              <a:srgbClr val="000000"/>
            </a:solidFill>
            <a:prstDash val="solid"/>
          </a:ln>
        </p:spPr>
      </p:sp>
      <p:sp>
        <p:nvSpPr>
          <p:cNvPr id="12" name="Shape 10"/>
          <p:cNvSpPr/>
          <p:nvPr/>
        </p:nvSpPr>
        <p:spPr>
          <a:xfrm>
            <a:off x="0" y="3600450"/>
            <a:ext cx="9144000" cy="11887"/>
          </a:xfrm>
          <a:prstGeom prst="rect">
            <a:avLst/>
          </a:prstGeom>
          <a:solidFill>
            <a:srgbClr val="FF2060">
              <a:alpha val="3000"/>
            </a:srgbClr>
          </a:solidFill>
          <a:ln w="12700">
            <a:solidFill>
              <a:srgbClr val="000000"/>
            </a:solidFill>
            <a:prstDash val="solid"/>
          </a:ln>
        </p:spPr>
      </p:sp>
      <p:sp>
        <p:nvSpPr>
          <p:cNvPr id="13" name="Shape 11"/>
          <p:cNvSpPr/>
          <p:nvPr/>
        </p:nvSpPr>
        <p:spPr>
          <a:xfrm>
            <a:off x="0" y="4114800"/>
            <a:ext cx="9144000" cy="11887"/>
          </a:xfrm>
          <a:prstGeom prst="rect">
            <a:avLst/>
          </a:prstGeom>
          <a:solidFill>
            <a:srgbClr val="FF2060">
              <a:alpha val="3000"/>
            </a:srgbClr>
          </a:solidFill>
          <a:ln w="12700">
            <a:solidFill>
              <a:srgbClr val="000000"/>
            </a:solidFill>
            <a:prstDash val="solid"/>
          </a:ln>
        </p:spPr>
      </p:sp>
      <p:sp>
        <p:nvSpPr>
          <p:cNvPr id="14" name="Shape 12"/>
          <p:cNvSpPr/>
          <p:nvPr/>
        </p:nvSpPr>
        <p:spPr>
          <a:xfrm>
            <a:off x="0" y="4629150"/>
            <a:ext cx="9144000" cy="11887"/>
          </a:xfrm>
          <a:prstGeom prst="rect">
            <a:avLst/>
          </a:prstGeom>
          <a:solidFill>
            <a:srgbClr val="FF2060">
              <a:alpha val="3000"/>
            </a:srgbClr>
          </a:solidFill>
          <a:ln w="12700">
            <a:solidFill>
              <a:srgbClr val="000000"/>
            </a:solidFill>
            <a:prstDash val="solid"/>
          </a:ln>
        </p:spPr>
      </p:sp>
      <p:sp>
        <p:nvSpPr>
          <p:cNvPr id="15" name="Text 13"/>
          <p:cNvSpPr/>
          <p:nvPr/>
        </p:nvSpPr>
        <p:spPr>
          <a:xfrm>
            <a:off x="-182880" y="-91440"/>
            <a:ext cx="5303520" cy="2560320"/>
          </a:xfrm>
          <a:prstGeom prst="rect">
            <a:avLst/>
          </a:prstGeom>
          <a:noFill/>
          <a:ln/>
          <a:effectLst>
            <a:outerShdw sx="100000" sy="100000" kx="0" ky="0" algn="bl" rotWithShape="0" blurRad="279400" dist="50800" dir="16200000">
              <a:srgbClr val="FF2060">
                <a:alpha val="40000"/>
              </a:srgbClr>
            </a:outerShdw>
          </a:effectLst>
        </p:spPr>
        <p:txBody>
          <a:bodyPr wrap="square" lIns="0" tIns="0" rIns="0" bIns="0" rtlCol="0" anchor="ctr"/>
          <a:lstStyle/>
          <a:p>
            <a:pPr indent="0" marL="0">
              <a:buNone/>
            </a:pPr>
            <a:r>
              <a:rPr lang="en-US" sz="22000" b="1" dirty="0">
                <a:solidFill>
                  <a:srgbClr val="FF2060">
                    <a:alpha val="92000"/>
                  </a:srgbClr>
                </a:solidFill>
                <a:latin typeface="Calibri" pitchFamily="34" charset="0"/>
                <a:ea typeface="Calibri" pitchFamily="34" charset="-122"/>
                <a:cs typeface="Calibri" pitchFamily="34" charset="-120"/>
              </a:rPr>
              <a:t>70</a:t>
            </a:r>
            <a:endParaRPr lang="en-US" sz="22000" dirty="0"/>
          </a:p>
        </p:txBody>
      </p:sp>
      <p:sp>
        <p:nvSpPr>
          <p:cNvPr id="16" name="Text 14"/>
          <p:cNvSpPr/>
          <p:nvPr/>
        </p:nvSpPr>
        <p:spPr>
          <a:xfrm>
            <a:off x="3474720" y="182880"/>
            <a:ext cx="1645920" cy="1645920"/>
          </a:xfrm>
          <a:prstGeom prst="rect">
            <a:avLst/>
          </a:prstGeom>
          <a:noFill/>
          <a:ln/>
          <a:effectLst>
            <a:outerShdw sx="100000" sy="100000" kx="0" ky="0" algn="bl" rotWithShape="0" blurRad="279400" dist="50800" dir="16200000">
              <a:srgbClr val="FF2060">
                <a:alpha val="30000"/>
              </a:srgbClr>
            </a:outerShdw>
          </a:effectLst>
        </p:spPr>
        <p:txBody>
          <a:bodyPr wrap="square" lIns="0" tIns="0" rIns="0" bIns="0" rtlCol="0" anchor="ctr"/>
          <a:lstStyle/>
          <a:p>
            <a:pPr indent="0" marL="0">
              <a:buNone/>
            </a:pPr>
            <a:r>
              <a:rPr lang="en-US" sz="8000" b="1" dirty="0">
                <a:solidFill>
                  <a:srgbClr val="FF2060"/>
                </a:solidFill>
                <a:latin typeface="Calibri" pitchFamily="34" charset="0"/>
                <a:ea typeface="Calibri" pitchFamily="34" charset="-122"/>
                <a:cs typeface="Calibri" pitchFamily="34" charset="-120"/>
              </a:rPr>
              <a:t>%</a:t>
            </a:r>
            <a:endParaRPr lang="en-US" sz="8000" dirty="0"/>
          </a:p>
        </p:txBody>
      </p:sp>
      <p:sp>
        <p:nvSpPr>
          <p:cNvPr id="17" name="Text 15"/>
          <p:cNvSpPr/>
          <p:nvPr/>
        </p:nvSpPr>
        <p:spPr>
          <a:xfrm>
            <a:off x="4754880" y="164592"/>
            <a:ext cx="4114800" cy="1371600"/>
          </a:xfrm>
          <a:prstGeom prst="rect">
            <a:avLst/>
          </a:prstGeom>
          <a:noFill/>
          <a:ln/>
        </p:spPr>
        <p:txBody>
          <a:bodyPr wrap="square" lIns="0" tIns="0" rIns="0" bIns="0" rtlCol="0" anchor="ctr"/>
          <a:lstStyle/>
          <a:p>
            <a:pPr indent="0" marL="0">
              <a:buNone/>
            </a:pPr>
            <a:r>
              <a:rPr lang="en-US" sz="3200" b="1" dirty="0">
                <a:solidFill>
                  <a:srgbClr val="EEF6FF"/>
                </a:solidFill>
                <a:latin typeface="Calibri" pitchFamily="34" charset="0"/>
                <a:ea typeface="Calibri" pitchFamily="34" charset="-122"/>
                <a:cs typeface="Calibri" pitchFamily="34" charset="-120"/>
              </a:rPr>
              <a:t>of complaints</a:t>
            </a:r>
            <a:endParaRPr lang="en-US" sz="3200" dirty="0"/>
          </a:p>
          <a:p>
            <a:pPr indent="0" marL="0">
              <a:buNone/>
            </a:pPr>
            <a:r>
              <a:rPr lang="en-US" sz="3200" b="1" dirty="0">
                <a:solidFill>
                  <a:srgbClr val="EEF6FF"/>
                </a:solidFill>
                <a:latin typeface="Calibri" pitchFamily="34" charset="0"/>
                <a:ea typeface="Calibri" pitchFamily="34" charset="-122"/>
                <a:cs typeface="Calibri" pitchFamily="34" charset="-120"/>
              </a:rPr>
              <a:t>never resolved</a:t>
            </a:r>
            <a:endParaRPr lang="en-US" sz="3200" dirty="0"/>
          </a:p>
        </p:txBody>
      </p:sp>
      <p:sp>
        <p:nvSpPr>
          <p:cNvPr id="18" name="Shape 16"/>
          <p:cNvSpPr/>
          <p:nvPr/>
        </p:nvSpPr>
        <p:spPr>
          <a:xfrm>
            <a:off x="4754880" y="1572768"/>
            <a:ext cx="3108960" cy="274320"/>
          </a:xfrm>
          <a:prstGeom prst="roundRect">
            <a:avLst>
              <a:gd name="adj" fmla="val 13333"/>
            </a:avLst>
          </a:prstGeom>
          <a:solidFill>
            <a:srgbClr val="FF2060">
              <a:alpha val="18000"/>
            </a:srgbClr>
          </a:solidFill>
          <a:ln w="10160">
            <a:solidFill>
              <a:srgbClr val="FF2060"/>
            </a:solidFill>
            <a:prstDash val="solid"/>
          </a:ln>
        </p:spPr>
      </p:sp>
      <p:sp>
        <p:nvSpPr>
          <p:cNvPr id="19" name="Text 17"/>
          <p:cNvSpPr/>
          <p:nvPr/>
        </p:nvSpPr>
        <p:spPr>
          <a:xfrm>
            <a:off x="4754880" y="1572768"/>
            <a:ext cx="3108960" cy="274320"/>
          </a:xfrm>
          <a:prstGeom prst="rect">
            <a:avLst/>
          </a:prstGeom>
          <a:noFill/>
          <a:ln/>
        </p:spPr>
        <p:txBody>
          <a:bodyPr wrap="square" rtlCol="0" anchor="ctr"/>
          <a:lstStyle/>
          <a:p>
            <a:pPr algn="ctr" indent="0" marL="0">
              <a:buNone/>
            </a:pPr>
            <a:r>
              <a:rPr lang="en-US" sz="950" dirty="0">
                <a:solidFill>
                  <a:srgbClr val="FF2060"/>
                </a:solidFill>
                <a:latin typeface="Consolas" pitchFamily="34" charset="0"/>
                <a:ea typeface="Consolas" pitchFamily="34" charset="-122"/>
                <a:cs typeface="Consolas" pitchFamily="34" charset="-120"/>
              </a:rPr>
              <a:t>50M+ complaints / year · India</a:t>
            </a:r>
            <a:endParaRPr lang="en-US" sz="950" dirty="0"/>
          </a:p>
        </p:txBody>
      </p:sp>
      <p:sp>
        <p:nvSpPr>
          <p:cNvPr id="20" name="Shape 18"/>
          <p:cNvSpPr/>
          <p:nvPr/>
        </p:nvSpPr>
        <p:spPr>
          <a:xfrm>
            <a:off x="274320" y="1965960"/>
            <a:ext cx="8595360" cy="36576"/>
          </a:xfrm>
          <a:prstGeom prst="rect">
            <a:avLst/>
          </a:prstGeom>
          <a:solidFill>
            <a:srgbClr val="FF2060">
              <a:alpha val="45000"/>
            </a:srgbClr>
          </a:solidFill>
          <a:ln w="12700">
            <a:solidFill>
              <a:srgbClr val="000000"/>
            </a:solidFill>
            <a:prstDash val="solid"/>
          </a:ln>
        </p:spPr>
      </p:sp>
      <p:sp>
        <p:nvSpPr>
          <p:cNvPr id="21" name="Shape 19"/>
          <p:cNvSpPr/>
          <p:nvPr/>
        </p:nvSpPr>
        <p:spPr>
          <a:xfrm>
            <a:off x="274320" y="2066544"/>
            <a:ext cx="2834640" cy="1298448"/>
          </a:xfrm>
          <a:prstGeom prst="roundRect">
            <a:avLst>
              <a:gd name="adj" fmla="val 4930"/>
            </a:avLst>
          </a:prstGeom>
          <a:solidFill>
            <a:srgbClr val="112030"/>
          </a:solidFill>
          <a:ln w="13970">
            <a:solidFill>
              <a:srgbClr val="FF2060"/>
            </a:solidFill>
            <a:prstDash val="solid"/>
          </a:ln>
          <a:effectLst>
            <a:outerShdw sx="100000" sy="100000" kx="0" ky="0" algn="bl" rotWithShape="0" blurRad="279400" dist="50800" dir="16200000">
              <a:srgbClr val="FF2060">
                <a:alpha val="20000"/>
              </a:srgbClr>
            </a:outerShdw>
          </a:effectLst>
        </p:spPr>
      </p:sp>
      <p:sp>
        <p:nvSpPr>
          <p:cNvPr id="22" name="Shape 20"/>
          <p:cNvSpPr/>
          <p:nvPr/>
        </p:nvSpPr>
        <p:spPr>
          <a:xfrm>
            <a:off x="274320" y="2066544"/>
            <a:ext cx="2834640" cy="36576"/>
          </a:xfrm>
          <a:prstGeom prst="roundRect">
            <a:avLst>
              <a:gd name="adj" fmla="val 175000"/>
            </a:avLst>
          </a:prstGeom>
          <a:solidFill>
            <a:srgbClr val="FF2060"/>
          </a:solidFill>
          <a:ln w="12700">
            <a:solidFill>
              <a:srgbClr val="000000"/>
            </a:solidFill>
            <a:prstDash val="solid"/>
          </a:ln>
        </p:spPr>
      </p:sp>
      <p:sp>
        <p:nvSpPr>
          <p:cNvPr id="23" name="Text 21"/>
          <p:cNvSpPr/>
          <p:nvPr/>
        </p:nvSpPr>
        <p:spPr>
          <a:xfrm>
            <a:off x="2377440" y="2121408"/>
            <a:ext cx="658368" cy="475488"/>
          </a:xfrm>
          <a:prstGeom prst="rect">
            <a:avLst/>
          </a:prstGeom>
          <a:noFill/>
          <a:ln/>
        </p:spPr>
        <p:txBody>
          <a:bodyPr wrap="square" lIns="0" tIns="0" rIns="0" bIns="0" rtlCol="0" anchor="ctr"/>
          <a:lstStyle/>
          <a:p>
            <a:pPr indent="0" marL="0">
              <a:buNone/>
            </a:pPr>
            <a:r>
              <a:rPr lang="en-US" sz="3000" b="1" dirty="0">
                <a:solidFill>
                  <a:srgbClr val="FF2060">
                    <a:alpha val="25000"/>
                  </a:srgbClr>
                </a:solidFill>
                <a:latin typeface="Consolas" pitchFamily="34" charset="0"/>
                <a:ea typeface="Consolas" pitchFamily="34" charset="-122"/>
                <a:cs typeface="Consolas" pitchFamily="34" charset="-120"/>
              </a:rPr>
              <a:t>01</a:t>
            </a:r>
            <a:endParaRPr lang="en-US" sz="3000" dirty="0"/>
          </a:p>
        </p:txBody>
      </p:sp>
      <p:sp>
        <p:nvSpPr>
          <p:cNvPr id="24" name="Text 22"/>
          <p:cNvSpPr/>
          <p:nvPr/>
        </p:nvSpPr>
        <p:spPr>
          <a:xfrm>
            <a:off x="365760" y="2157984"/>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25" name="Text 23"/>
          <p:cNvSpPr/>
          <p:nvPr/>
        </p:nvSpPr>
        <p:spPr>
          <a:xfrm>
            <a:off x="841248" y="2157984"/>
            <a:ext cx="2084832" cy="347472"/>
          </a:xfrm>
          <a:prstGeom prst="rect">
            <a:avLst/>
          </a:prstGeom>
          <a:noFill/>
          <a:ln/>
        </p:spPr>
        <p:txBody>
          <a:bodyPr wrap="square" lIns="0" tIns="0" rIns="0" bIns="0" rtlCol="0" anchor="ctr"/>
          <a:lstStyle/>
          <a:p>
            <a:pPr indent="0" marL="0">
              <a:buNone/>
            </a:pPr>
            <a:r>
              <a:rPr lang="en-US" sz="1100" b="1" dirty="0">
                <a:solidFill>
                  <a:srgbClr val="FF2060"/>
                </a:solidFill>
                <a:latin typeface="Calibri" pitchFamily="34" charset="0"/>
                <a:ea typeface="Calibri" pitchFamily="34" charset="-122"/>
                <a:cs typeface="Calibri" pitchFamily="34" charset="-120"/>
              </a:rPr>
              <a:t>Manual Classification</a:t>
            </a:r>
            <a:endParaRPr lang="en-US" sz="1100" dirty="0"/>
          </a:p>
        </p:txBody>
      </p:sp>
      <p:sp>
        <p:nvSpPr>
          <p:cNvPr id="26" name="Text 24"/>
          <p:cNvSpPr/>
          <p:nvPr/>
        </p:nvSpPr>
        <p:spPr>
          <a:xfrm>
            <a:off x="365760" y="2633472"/>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Weeks delay. No AI scoring.</a:t>
            </a:r>
            <a:endParaRPr lang="en-US" sz="950" dirty="0"/>
          </a:p>
        </p:txBody>
      </p:sp>
      <p:sp>
        <p:nvSpPr>
          <p:cNvPr id="27" name="Shape 25"/>
          <p:cNvSpPr/>
          <p:nvPr/>
        </p:nvSpPr>
        <p:spPr>
          <a:xfrm>
            <a:off x="3227832" y="2066544"/>
            <a:ext cx="2834640" cy="1298448"/>
          </a:xfrm>
          <a:prstGeom prst="roundRect">
            <a:avLst>
              <a:gd name="adj" fmla="val 4930"/>
            </a:avLst>
          </a:prstGeom>
          <a:solidFill>
            <a:srgbClr val="112030"/>
          </a:solidFill>
          <a:ln w="13970">
            <a:solidFill>
              <a:srgbClr val="FF7020"/>
            </a:solidFill>
            <a:prstDash val="solid"/>
          </a:ln>
          <a:effectLst>
            <a:outerShdw sx="100000" sy="100000" kx="0" ky="0" algn="bl" rotWithShape="0" blurRad="279400" dist="50800" dir="16200000">
              <a:srgbClr val="FF7020">
                <a:alpha val="20000"/>
              </a:srgbClr>
            </a:outerShdw>
          </a:effectLst>
        </p:spPr>
      </p:sp>
      <p:sp>
        <p:nvSpPr>
          <p:cNvPr id="28" name="Shape 26"/>
          <p:cNvSpPr/>
          <p:nvPr/>
        </p:nvSpPr>
        <p:spPr>
          <a:xfrm>
            <a:off x="3227832" y="2066544"/>
            <a:ext cx="2834640" cy="36576"/>
          </a:xfrm>
          <a:prstGeom prst="roundRect">
            <a:avLst>
              <a:gd name="adj" fmla="val 175000"/>
            </a:avLst>
          </a:prstGeom>
          <a:solidFill>
            <a:srgbClr val="FF7020"/>
          </a:solidFill>
          <a:ln w="12700">
            <a:solidFill>
              <a:srgbClr val="000000"/>
            </a:solidFill>
            <a:prstDash val="solid"/>
          </a:ln>
        </p:spPr>
      </p:sp>
      <p:sp>
        <p:nvSpPr>
          <p:cNvPr id="29" name="Text 27"/>
          <p:cNvSpPr/>
          <p:nvPr/>
        </p:nvSpPr>
        <p:spPr>
          <a:xfrm>
            <a:off x="5330952" y="2121408"/>
            <a:ext cx="658368" cy="475488"/>
          </a:xfrm>
          <a:prstGeom prst="rect">
            <a:avLst/>
          </a:prstGeom>
          <a:noFill/>
          <a:ln/>
        </p:spPr>
        <p:txBody>
          <a:bodyPr wrap="square" lIns="0" tIns="0" rIns="0" bIns="0" rtlCol="0" anchor="ctr"/>
          <a:lstStyle/>
          <a:p>
            <a:pPr indent="0" marL="0">
              <a:buNone/>
            </a:pPr>
            <a:r>
              <a:rPr lang="en-US" sz="3000" b="1" dirty="0">
                <a:solidFill>
                  <a:srgbClr val="FF7020">
                    <a:alpha val="25000"/>
                  </a:srgbClr>
                </a:solidFill>
                <a:latin typeface="Consolas" pitchFamily="34" charset="0"/>
                <a:ea typeface="Consolas" pitchFamily="34" charset="-122"/>
                <a:cs typeface="Consolas" pitchFamily="34" charset="-120"/>
              </a:rPr>
              <a:t>02</a:t>
            </a:r>
            <a:endParaRPr lang="en-US" sz="3000" dirty="0"/>
          </a:p>
        </p:txBody>
      </p:sp>
      <p:sp>
        <p:nvSpPr>
          <p:cNvPr id="30" name="Text 28"/>
          <p:cNvSpPr/>
          <p:nvPr/>
        </p:nvSpPr>
        <p:spPr>
          <a:xfrm>
            <a:off x="3319272" y="2157984"/>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31" name="Text 29"/>
          <p:cNvSpPr/>
          <p:nvPr/>
        </p:nvSpPr>
        <p:spPr>
          <a:xfrm>
            <a:off x="3794760" y="2157984"/>
            <a:ext cx="2084832" cy="347472"/>
          </a:xfrm>
          <a:prstGeom prst="rect">
            <a:avLst/>
          </a:prstGeom>
          <a:noFill/>
          <a:ln/>
        </p:spPr>
        <p:txBody>
          <a:bodyPr wrap="square" lIns="0" tIns="0" rIns="0" bIns="0" rtlCol="0" anchor="ctr"/>
          <a:lstStyle/>
          <a:p>
            <a:pPr indent="0" marL="0">
              <a:buNone/>
            </a:pPr>
            <a:r>
              <a:rPr lang="en-US" sz="1100" b="1" dirty="0">
                <a:solidFill>
                  <a:srgbClr val="FF7020"/>
                </a:solidFill>
                <a:latin typeface="Calibri" pitchFamily="34" charset="0"/>
                <a:ea typeface="Calibri" pitchFamily="34" charset="-122"/>
                <a:cs typeface="Calibri" pitchFamily="34" charset="-120"/>
              </a:rPr>
              <a:t>Zero Corruption Detection</a:t>
            </a:r>
            <a:endParaRPr lang="en-US" sz="1100" dirty="0"/>
          </a:p>
        </p:txBody>
      </p:sp>
      <p:sp>
        <p:nvSpPr>
          <p:cNvPr id="32" name="Text 30"/>
          <p:cNvSpPr/>
          <p:nvPr/>
        </p:nvSpPr>
        <p:spPr>
          <a:xfrm>
            <a:off x="3319272" y="2633472"/>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Bribery goes unreported.</a:t>
            </a:r>
            <a:endParaRPr lang="en-US" sz="950" dirty="0"/>
          </a:p>
        </p:txBody>
      </p:sp>
      <p:sp>
        <p:nvSpPr>
          <p:cNvPr id="33" name="Shape 31"/>
          <p:cNvSpPr/>
          <p:nvPr/>
        </p:nvSpPr>
        <p:spPr>
          <a:xfrm>
            <a:off x="6181344" y="2066544"/>
            <a:ext cx="2834640" cy="1298448"/>
          </a:xfrm>
          <a:prstGeom prst="roundRect">
            <a:avLst>
              <a:gd name="adj" fmla="val 4930"/>
            </a:avLst>
          </a:prstGeom>
          <a:solidFill>
            <a:srgbClr val="112030"/>
          </a:solidFill>
          <a:ln w="13970">
            <a:solidFill>
              <a:srgbClr val="B040FF"/>
            </a:solidFill>
            <a:prstDash val="solid"/>
          </a:ln>
          <a:effectLst>
            <a:outerShdw sx="100000" sy="100000" kx="0" ky="0" algn="bl" rotWithShape="0" blurRad="279400" dist="50800" dir="16200000">
              <a:srgbClr val="B040FF">
                <a:alpha val="20000"/>
              </a:srgbClr>
            </a:outerShdw>
          </a:effectLst>
        </p:spPr>
      </p:sp>
      <p:sp>
        <p:nvSpPr>
          <p:cNvPr id="34" name="Shape 32"/>
          <p:cNvSpPr/>
          <p:nvPr/>
        </p:nvSpPr>
        <p:spPr>
          <a:xfrm>
            <a:off x="6181344" y="2066544"/>
            <a:ext cx="2834640" cy="36576"/>
          </a:xfrm>
          <a:prstGeom prst="roundRect">
            <a:avLst>
              <a:gd name="adj" fmla="val 175000"/>
            </a:avLst>
          </a:prstGeom>
          <a:solidFill>
            <a:srgbClr val="B040FF"/>
          </a:solidFill>
          <a:ln w="12700">
            <a:solidFill>
              <a:srgbClr val="000000"/>
            </a:solidFill>
            <a:prstDash val="solid"/>
          </a:ln>
        </p:spPr>
      </p:sp>
      <p:sp>
        <p:nvSpPr>
          <p:cNvPr id="35" name="Text 33"/>
          <p:cNvSpPr/>
          <p:nvPr/>
        </p:nvSpPr>
        <p:spPr>
          <a:xfrm>
            <a:off x="8284464" y="2121408"/>
            <a:ext cx="658368" cy="475488"/>
          </a:xfrm>
          <a:prstGeom prst="rect">
            <a:avLst/>
          </a:prstGeom>
          <a:noFill/>
          <a:ln/>
        </p:spPr>
        <p:txBody>
          <a:bodyPr wrap="square" lIns="0" tIns="0" rIns="0" bIns="0" rtlCol="0" anchor="ctr"/>
          <a:lstStyle/>
          <a:p>
            <a:pPr indent="0" marL="0">
              <a:buNone/>
            </a:pPr>
            <a:r>
              <a:rPr lang="en-US" sz="3000" b="1" dirty="0">
                <a:solidFill>
                  <a:srgbClr val="B040FF">
                    <a:alpha val="25000"/>
                  </a:srgbClr>
                </a:solidFill>
                <a:latin typeface="Consolas" pitchFamily="34" charset="0"/>
                <a:ea typeface="Consolas" pitchFamily="34" charset="-122"/>
                <a:cs typeface="Consolas" pitchFamily="34" charset="-120"/>
              </a:rPr>
              <a:t>03</a:t>
            </a:r>
            <a:endParaRPr lang="en-US" sz="3000" dirty="0"/>
          </a:p>
        </p:txBody>
      </p:sp>
      <p:sp>
        <p:nvSpPr>
          <p:cNvPr id="36" name="Text 34"/>
          <p:cNvSpPr/>
          <p:nvPr/>
        </p:nvSpPr>
        <p:spPr>
          <a:xfrm>
            <a:off x="6272784" y="2157984"/>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37" name="Text 35"/>
          <p:cNvSpPr/>
          <p:nvPr/>
        </p:nvSpPr>
        <p:spPr>
          <a:xfrm>
            <a:off x="6748272" y="2157984"/>
            <a:ext cx="2084832" cy="347472"/>
          </a:xfrm>
          <a:prstGeom prst="rect">
            <a:avLst/>
          </a:prstGeom>
          <a:noFill/>
          <a:ln/>
        </p:spPr>
        <p:txBody>
          <a:bodyPr wrap="square" lIns="0" tIns="0" rIns="0" bIns="0" rtlCol="0" anchor="ctr"/>
          <a:lstStyle/>
          <a:p>
            <a:pPr indent="0" marL="0">
              <a:buNone/>
            </a:pPr>
            <a:r>
              <a:rPr lang="en-US" sz="1100" b="1" dirty="0">
                <a:solidFill>
                  <a:srgbClr val="B040FF"/>
                </a:solidFill>
                <a:latin typeface="Calibri" pitchFamily="34" charset="0"/>
                <a:ea typeface="Calibri" pitchFamily="34" charset="-122"/>
                <a:cs typeface="Calibri" pitchFamily="34" charset="-120"/>
              </a:rPr>
              <a:t>No Blockchain Audit</a:t>
            </a:r>
            <a:endParaRPr lang="en-US" sz="1100" dirty="0"/>
          </a:p>
        </p:txBody>
      </p:sp>
      <p:sp>
        <p:nvSpPr>
          <p:cNvPr id="38" name="Text 36"/>
          <p:cNvSpPr/>
          <p:nvPr/>
        </p:nvSpPr>
        <p:spPr>
          <a:xfrm>
            <a:off x="6272784" y="2633472"/>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Officers delete records freely.</a:t>
            </a:r>
            <a:endParaRPr lang="en-US" sz="950" dirty="0"/>
          </a:p>
        </p:txBody>
      </p:sp>
      <p:sp>
        <p:nvSpPr>
          <p:cNvPr id="39" name="Shape 37"/>
          <p:cNvSpPr/>
          <p:nvPr/>
        </p:nvSpPr>
        <p:spPr>
          <a:xfrm>
            <a:off x="274320" y="3511296"/>
            <a:ext cx="2834640" cy="1298448"/>
          </a:xfrm>
          <a:prstGeom prst="roundRect">
            <a:avLst>
              <a:gd name="adj" fmla="val 4930"/>
            </a:avLst>
          </a:prstGeom>
          <a:solidFill>
            <a:srgbClr val="112030"/>
          </a:solidFill>
          <a:ln w="13970">
            <a:solidFill>
              <a:srgbClr val="FFCC00"/>
            </a:solidFill>
            <a:prstDash val="solid"/>
          </a:ln>
          <a:effectLst>
            <a:outerShdw sx="100000" sy="100000" kx="0" ky="0" algn="bl" rotWithShape="0" blurRad="279400" dist="50800" dir="16200000">
              <a:srgbClr val="FFCC00">
                <a:alpha val="20000"/>
              </a:srgbClr>
            </a:outerShdw>
          </a:effectLst>
        </p:spPr>
      </p:sp>
      <p:sp>
        <p:nvSpPr>
          <p:cNvPr id="40" name="Shape 38"/>
          <p:cNvSpPr/>
          <p:nvPr/>
        </p:nvSpPr>
        <p:spPr>
          <a:xfrm>
            <a:off x="274320" y="3511296"/>
            <a:ext cx="2834640" cy="36576"/>
          </a:xfrm>
          <a:prstGeom prst="roundRect">
            <a:avLst>
              <a:gd name="adj" fmla="val 175000"/>
            </a:avLst>
          </a:prstGeom>
          <a:solidFill>
            <a:srgbClr val="FFCC00"/>
          </a:solidFill>
          <a:ln w="12700">
            <a:solidFill>
              <a:srgbClr val="000000"/>
            </a:solidFill>
            <a:prstDash val="solid"/>
          </a:ln>
        </p:spPr>
      </p:sp>
      <p:sp>
        <p:nvSpPr>
          <p:cNvPr id="41" name="Text 39"/>
          <p:cNvSpPr/>
          <p:nvPr/>
        </p:nvSpPr>
        <p:spPr>
          <a:xfrm>
            <a:off x="2377440" y="3566160"/>
            <a:ext cx="658368" cy="475488"/>
          </a:xfrm>
          <a:prstGeom prst="rect">
            <a:avLst/>
          </a:prstGeom>
          <a:noFill/>
          <a:ln/>
        </p:spPr>
        <p:txBody>
          <a:bodyPr wrap="square" lIns="0" tIns="0" rIns="0" bIns="0" rtlCol="0" anchor="ctr"/>
          <a:lstStyle/>
          <a:p>
            <a:pPr indent="0" marL="0">
              <a:buNone/>
            </a:pPr>
            <a:r>
              <a:rPr lang="en-US" sz="3000" b="1" dirty="0">
                <a:solidFill>
                  <a:srgbClr val="FFCC00">
                    <a:alpha val="25000"/>
                  </a:srgbClr>
                </a:solidFill>
                <a:latin typeface="Consolas" pitchFamily="34" charset="0"/>
                <a:ea typeface="Consolas" pitchFamily="34" charset="-122"/>
                <a:cs typeface="Consolas" pitchFamily="34" charset="-120"/>
              </a:rPr>
              <a:t>04</a:t>
            </a:r>
            <a:endParaRPr lang="en-US" sz="3000" dirty="0"/>
          </a:p>
        </p:txBody>
      </p:sp>
      <p:sp>
        <p:nvSpPr>
          <p:cNvPr id="42" name="Text 40"/>
          <p:cNvSpPr/>
          <p:nvPr/>
        </p:nvSpPr>
        <p:spPr>
          <a:xfrm>
            <a:off x="365760" y="3602736"/>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43" name="Text 41"/>
          <p:cNvSpPr/>
          <p:nvPr/>
        </p:nvSpPr>
        <p:spPr>
          <a:xfrm>
            <a:off x="841248" y="3602736"/>
            <a:ext cx="2084832" cy="347472"/>
          </a:xfrm>
          <a:prstGeom prst="rect">
            <a:avLst/>
          </a:prstGeom>
          <a:noFill/>
          <a:ln/>
        </p:spPr>
        <p:txBody>
          <a:bodyPr wrap="square" lIns="0" tIns="0" rIns="0" bIns="0" rtlCol="0" anchor="ctr"/>
          <a:lstStyle/>
          <a:p>
            <a:pPr indent="0" marL="0">
              <a:buNone/>
            </a:pPr>
            <a:r>
              <a:rPr lang="en-US" sz="1100" b="1" dirty="0">
                <a:solidFill>
                  <a:srgbClr val="FFCC00"/>
                </a:solidFill>
                <a:latin typeface="Calibri" pitchFamily="34" charset="0"/>
                <a:ea typeface="Calibri" pitchFamily="34" charset="-122"/>
                <a:cs typeface="Calibri" pitchFamily="34" charset="-120"/>
              </a:rPr>
              <a:t>No Auto-Escalation</a:t>
            </a:r>
            <a:endParaRPr lang="en-US" sz="1100" dirty="0"/>
          </a:p>
        </p:txBody>
      </p:sp>
      <p:sp>
        <p:nvSpPr>
          <p:cNvPr id="44" name="Text 42"/>
          <p:cNvSpPr/>
          <p:nvPr/>
        </p:nvSpPr>
        <p:spPr>
          <a:xfrm>
            <a:off x="365760" y="4078224"/>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SLA ignored. No assignment.</a:t>
            </a:r>
            <a:endParaRPr lang="en-US" sz="950" dirty="0"/>
          </a:p>
        </p:txBody>
      </p:sp>
      <p:sp>
        <p:nvSpPr>
          <p:cNvPr id="45" name="Shape 43"/>
          <p:cNvSpPr/>
          <p:nvPr/>
        </p:nvSpPr>
        <p:spPr>
          <a:xfrm>
            <a:off x="3227832" y="3511296"/>
            <a:ext cx="2834640" cy="1298448"/>
          </a:xfrm>
          <a:prstGeom prst="roundRect">
            <a:avLst>
              <a:gd name="adj" fmla="val 4930"/>
            </a:avLst>
          </a:prstGeom>
          <a:solidFill>
            <a:srgbClr val="112030"/>
          </a:solidFill>
          <a:ln w="13970">
            <a:solidFill>
              <a:srgbClr val="3D8EFF"/>
            </a:solidFill>
            <a:prstDash val="solid"/>
          </a:ln>
          <a:effectLst>
            <a:outerShdw sx="100000" sy="100000" kx="0" ky="0" algn="bl" rotWithShape="0" blurRad="279400" dist="50800" dir="16200000">
              <a:srgbClr val="3D8EFF">
                <a:alpha val="20000"/>
              </a:srgbClr>
            </a:outerShdw>
          </a:effectLst>
        </p:spPr>
      </p:sp>
      <p:sp>
        <p:nvSpPr>
          <p:cNvPr id="46" name="Shape 44"/>
          <p:cNvSpPr/>
          <p:nvPr/>
        </p:nvSpPr>
        <p:spPr>
          <a:xfrm>
            <a:off x="3227832" y="3511296"/>
            <a:ext cx="2834640" cy="36576"/>
          </a:xfrm>
          <a:prstGeom prst="roundRect">
            <a:avLst>
              <a:gd name="adj" fmla="val 175000"/>
            </a:avLst>
          </a:prstGeom>
          <a:solidFill>
            <a:srgbClr val="3D8EFF"/>
          </a:solidFill>
          <a:ln w="12700">
            <a:solidFill>
              <a:srgbClr val="000000"/>
            </a:solidFill>
            <a:prstDash val="solid"/>
          </a:ln>
        </p:spPr>
      </p:sp>
      <p:sp>
        <p:nvSpPr>
          <p:cNvPr id="47" name="Text 45"/>
          <p:cNvSpPr/>
          <p:nvPr/>
        </p:nvSpPr>
        <p:spPr>
          <a:xfrm>
            <a:off x="5330952" y="3566160"/>
            <a:ext cx="658368" cy="475488"/>
          </a:xfrm>
          <a:prstGeom prst="rect">
            <a:avLst/>
          </a:prstGeom>
          <a:noFill/>
          <a:ln/>
        </p:spPr>
        <p:txBody>
          <a:bodyPr wrap="square" lIns="0" tIns="0" rIns="0" bIns="0" rtlCol="0" anchor="ctr"/>
          <a:lstStyle/>
          <a:p>
            <a:pPr indent="0" marL="0">
              <a:buNone/>
            </a:pPr>
            <a:r>
              <a:rPr lang="en-US" sz="3000" b="1" dirty="0">
                <a:solidFill>
                  <a:srgbClr val="3D8EFF">
                    <a:alpha val="25000"/>
                  </a:srgbClr>
                </a:solidFill>
                <a:latin typeface="Consolas" pitchFamily="34" charset="0"/>
                <a:ea typeface="Consolas" pitchFamily="34" charset="-122"/>
                <a:cs typeface="Consolas" pitchFamily="34" charset="-120"/>
              </a:rPr>
              <a:t>05</a:t>
            </a:r>
            <a:endParaRPr lang="en-US" sz="3000" dirty="0"/>
          </a:p>
        </p:txBody>
      </p:sp>
      <p:sp>
        <p:nvSpPr>
          <p:cNvPr id="48" name="Text 46"/>
          <p:cNvSpPr/>
          <p:nvPr/>
        </p:nvSpPr>
        <p:spPr>
          <a:xfrm>
            <a:off x="3319272" y="3602736"/>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49" name="Text 47"/>
          <p:cNvSpPr/>
          <p:nvPr/>
        </p:nvSpPr>
        <p:spPr>
          <a:xfrm>
            <a:off x="3794760" y="3602736"/>
            <a:ext cx="2084832" cy="347472"/>
          </a:xfrm>
          <a:prstGeom prst="rect">
            <a:avLst/>
          </a:prstGeom>
          <a:noFill/>
          <a:ln/>
        </p:spPr>
        <p:txBody>
          <a:bodyPr wrap="square" lIns="0" tIns="0" rIns="0" bIns="0" rtlCol="0" anchor="ctr"/>
          <a:lstStyle/>
          <a:p>
            <a:pPr indent="0" marL="0">
              <a:buNone/>
            </a:pPr>
            <a:r>
              <a:rPr lang="en-US" sz="1100" b="1" dirty="0">
                <a:solidFill>
                  <a:srgbClr val="3D8EFF"/>
                </a:solidFill>
                <a:latin typeface="Calibri" pitchFamily="34" charset="0"/>
                <a:ea typeface="Calibri" pitchFamily="34" charset="-122"/>
                <a:cs typeface="Calibri" pitchFamily="34" charset="-120"/>
              </a:rPr>
              <a:t>Citizens Left in Dark</a:t>
            </a:r>
            <a:endParaRPr lang="en-US" sz="1100" dirty="0"/>
          </a:p>
        </p:txBody>
      </p:sp>
      <p:sp>
        <p:nvSpPr>
          <p:cNvPr id="50" name="Text 48"/>
          <p:cNvSpPr/>
          <p:nvPr/>
        </p:nvSpPr>
        <p:spPr>
          <a:xfrm>
            <a:off x="3319272" y="4078224"/>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No updates. No WhatsApp.</a:t>
            </a:r>
            <a:endParaRPr lang="en-US" sz="950" dirty="0"/>
          </a:p>
        </p:txBody>
      </p:sp>
      <p:sp>
        <p:nvSpPr>
          <p:cNvPr id="51" name="Shape 49"/>
          <p:cNvSpPr/>
          <p:nvPr/>
        </p:nvSpPr>
        <p:spPr>
          <a:xfrm>
            <a:off x="6181344" y="3511296"/>
            <a:ext cx="2834640" cy="1298448"/>
          </a:xfrm>
          <a:prstGeom prst="roundRect">
            <a:avLst>
              <a:gd name="adj" fmla="val 4930"/>
            </a:avLst>
          </a:prstGeom>
          <a:solidFill>
            <a:srgbClr val="112030"/>
          </a:solidFill>
          <a:ln w="13970">
            <a:solidFill>
              <a:srgbClr val="FF2060"/>
            </a:solidFill>
            <a:prstDash val="solid"/>
          </a:ln>
          <a:effectLst>
            <a:outerShdw sx="100000" sy="100000" kx="0" ky="0" algn="bl" rotWithShape="0" blurRad="279400" dist="50800" dir="16200000">
              <a:srgbClr val="FF2060">
                <a:alpha val="20000"/>
              </a:srgbClr>
            </a:outerShdw>
          </a:effectLst>
        </p:spPr>
      </p:sp>
      <p:sp>
        <p:nvSpPr>
          <p:cNvPr id="52" name="Shape 50"/>
          <p:cNvSpPr/>
          <p:nvPr/>
        </p:nvSpPr>
        <p:spPr>
          <a:xfrm>
            <a:off x="6181344" y="3511296"/>
            <a:ext cx="2834640" cy="36576"/>
          </a:xfrm>
          <a:prstGeom prst="roundRect">
            <a:avLst>
              <a:gd name="adj" fmla="val 175000"/>
            </a:avLst>
          </a:prstGeom>
          <a:solidFill>
            <a:srgbClr val="FF2060"/>
          </a:solidFill>
          <a:ln w="12700">
            <a:solidFill>
              <a:srgbClr val="000000"/>
            </a:solidFill>
            <a:prstDash val="solid"/>
          </a:ln>
        </p:spPr>
      </p:sp>
      <p:sp>
        <p:nvSpPr>
          <p:cNvPr id="53" name="Text 51"/>
          <p:cNvSpPr/>
          <p:nvPr/>
        </p:nvSpPr>
        <p:spPr>
          <a:xfrm>
            <a:off x="8284464" y="3566160"/>
            <a:ext cx="658368" cy="475488"/>
          </a:xfrm>
          <a:prstGeom prst="rect">
            <a:avLst/>
          </a:prstGeom>
          <a:noFill/>
          <a:ln/>
        </p:spPr>
        <p:txBody>
          <a:bodyPr wrap="square" lIns="0" tIns="0" rIns="0" bIns="0" rtlCol="0" anchor="ctr"/>
          <a:lstStyle/>
          <a:p>
            <a:pPr indent="0" marL="0">
              <a:buNone/>
            </a:pPr>
            <a:r>
              <a:rPr lang="en-US" sz="3000" b="1" dirty="0">
                <a:solidFill>
                  <a:srgbClr val="FF2060">
                    <a:alpha val="25000"/>
                  </a:srgbClr>
                </a:solidFill>
                <a:latin typeface="Consolas" pitchFamily="34" charset="0"/>
                <a:ea typeface="Consolas" pitchFamily="34" charset="-122"/>
                <a:cs typeface="Consolas" pitchFamily="34" charset="-120"/>
              </a:rPr>
              <a:t>06</a:t>
            </a:r>
            <a:endParaRPr lang="en-US" sz="3000" dirty="0"/>
          </a:p>
        </p:txBody>
      </p:sp>
      <p:sp>
        <p:nvSpPr>
          <p:cNvPr id="54" name="Text 52"/>
          <p:cNvSpPr/>
          <p:nvPr/>
        </p:nvSpPr>
        <p:spPr>
          <a:xfrm>
            <a:off x="6272784" y="3602736"/>
            <a:ext cx="438912" cy="384048"/>
          </a:xfrm>
          <a:prstGeom prst="rect">
            <a:avLst/>
          </a:prstGeom>
          <a:noFill/>
          <a:ln/>
        </p:spPr>
        <p:txBody>
          <a:bodyPr wrap="square" lIns="0" tIns="0" rIns="0" bIns="0" rtlCol="0" anchor="ctr"/>
          <a:lstStyle/>
          <a:p>
            <a:pPr indent="0" marL="0">
              <a:buNone/>
            </a:pPr>
            <a:r>
              <a:rPr lang="en-US" sz="2200" dirty="0">
                <a:solidFill>
                  <a:srgbClr val="000000"/>
                </a:solidFill>
              </a:rPr>
              <a:t>💸</a:t>
            </a:r>
            <a:endParaRPr lang="en-US" sz="2200" dirty="0"/>
          </a:p>
        </p:txBody>
      </p:sp>
      <p:sp>
        <p:nvSpPr>
          <p:cNvPr id="55" name="Text 53"/>
          <p:cNvSpPr/>
          <p:nvPr/>
        </p:nvSpPr>
        <p:spPr>
          <a:xfrm>
            <a:off x="6748272" y="3602736"/>
            <a:ext cx="2084832" cy="347472"/>
          </a:xfrm>
          <a:prstGeom prst="rect">
            <a:avLst/>
          </a:prstGeom>
          <a:noFill/>
          <a:ln/>
        </p:spPr>
        <p:txBody>
          <a:bodyPr wrap="square" lIns="0" tIns="0" rIns="0" bIns="0" rtlCol="0" anchor="ctr"/>
          <a:lstStyle/>
          <a:p>
            <a:pPr indent="0" marL="0">
              <a:buNone/>
            </a:pPr>
            <a:r>
              <a:rPr lang="en-US" sz="1100" b="1" dirty="0">
                <a:solidFill>
                  <a:srgbClr val="FF2060"/>
                </a:solidFill>
                <a:latin typeface="Calibri" pitchFamily="34" charset="0"/>
                <a:ea typeface="Calibri" pitchFamily="34" charset="-122"/>
                <a:cs typeface="Calibri" pitchFamily="34" charset="-120"/>
              </a:rPr>
              <a:t>₹100s Crore Wasted</a:t>
            </a:r>
            <a:endParaRPr lang="en-US" sz="1100" dirty="0"/>
          </a:p>
        </p:txBody>
      </p:sp>
      <p:sp>
        <p:nvSpPr>
          <p:cNvPr id="56" name="Text 54"/>
          <p:cNvSpPr/>
          <p:nvPr/>
        </p:nvSpPr>
        <p:spPr>
          <a:xfrm>
            <a:off x="6272784" y="4078224"/>
            <a:ext cx="2651760" cy="640080"/>
          </a:xfrm>
          <a:prstGeom prst="rect">
            <a:avLst/>
          </a:prstGeom>
          <a:noFill/>
          <a:ln/>
        </p:spPr>
        <p:txBody>
          <a:bodyPr wrap="square" lIns="0" tIns="0" rIns="0" bIns="0" rtlCol="0" anchor="ctr"/>
          <a:lstStyle/>
          <a:p>
            <a:pPr indent="0" marL="0">
              <a:buNone/>
            </a:pPr>
            <a:r>
              <a:rPr lang="en-US" sz="950" dirty="0">
                <a:solidFill>
                  <a:srgbClr val="3D6080"/>
                </a:solidFill>
                <a:latin typeface="Calibri" pitchFamily="34" charset="0"/>
                <a:ea typeface="Calibri" pitchFamily="34" charset="-122"/>
                <a:cs typeface="Calibri" pitchFamily="34" charset="-120"/>
              </a:rPr>
              <a:t>CPGRAMS handles only 5%.</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Text 3"/>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00F5FF"/>
                </a:solidFill>
                <a:latin typeface="Consolas" pitchFamily="34" charset="0"/>
                <a:ea typeface="Consolas" pitchFamily="34" charset="-122"/>
                <a:cs typeface="Consolas" pitchFamily="34" charset="-120"/>
              </a:rPr>
              <a:t>OUR SOLUTION</a:t>
            </a:r>
            <a:endParaRPr lang="en-US" sz="750" dirty="0"/>
          </a:p>
        </p:txBody>
      </p:sp>
      <p:sp>
        <p:nvSpPr>
          <p:cNvPr id="6" name="Text 4"/>
          <p:cNvSpPr/>
          <p:nvPr/>
        </p:nvSpPr>
        <p:spPr>
          <a:xfrm>
            <a:off x="365760" y="457200"/>
            <a:ext cx="8412480" cy="658368"/>
          </a:xfrm>
          <a:prstGeom prst="rect">
            <a:avLst/>
          </a:prstGeom>
          <a:noFill/>
          <a:ln/>
          <a:effectLst>
            <a:outerShdw sx="100000" sy="100000" kx="0" ky="0" algn="bl" rotWithShape="0" blurRad="279400" dist="50800" dir="16200000">
              <a:srgbClr val="00F5FF">
                <a:alpha val="40000"/>
              </a:srgbClr>
            </a:outerShdw>
          </a:effectLst>
        </p:spPr>
        <p:txBody>
          <a:bodyPr wrap="square" rtlCol="0" anchor="ctr"/>
          <a:lstStyle/>
          <a:p>
            <a:pPr algn="ctr" indent="0" marL="0">
              <a:buNone/>
            </a:pPr>
            <a:r>
              <a:rPr lang="en-US" sz="4800" b="1" spc="500" kern="0" dirty="0">
                <a:solidFill>
                  <a:srgbClr val="00F5FF"/>
                </a:solidFill>
                <a:latin typeface="Calibri" pitchFamily="34" charset="0"/>
                <a:ea typeface="Calibri" pitchFamily="34" charset="-122"/>
                <a:cs typeface="Calibri" pitchFamily="34" charset="-120"/>
              </a:rPr>
              <a:t>CivicEye Pro v6.0</a:t>
            </a:r>
            <a:endParaRPr lang="en-US" sz="4800" dirty="0"/>
          </a:p>
        </p:txBody>
      </p:sp>
      <p:sp>
        <p:nvSpPr>
          <p:cNvPr id="7" name="Text 5"/>
          <p:cNvSpPr/>
          <p:nvPr/>
        </p:nvSpPr>
        <p:spPr>
          <a:xfrm>
            <a:off x="365760" y="1097280"/>
            <a:ext cx="8412480" cy="292608"/>
          </a:xfrm>
          <a:prstGeom prst="rect">
            <a:avLst/>
          </a:prstGeom>
          <a:noFill/>
          <a:ln/>
        </p:spPr>
        <p:txBody>
          <a:bodyPr wrap="square" rtlCol="0" anchor="ctr"/>
          <a:lstStyle/>
          <a:p>
            <a:pPr algn="ctr" indent="0" marL="0">
              <a:buNone/>
            </a:pPr>
            <a:r>
              <a:rPr lang="en-US" sz="1400" i="1" dirty="0">
                <a:solidFill>
                  <a:srgbClr val="3D6080"/>
                </a:solidFill>
                <a:latin typeface="Calibri" pitchFamily="34" charset="0"/>
                <a:ea typeface="Calibri" pitchFamily="34" charset="-122"/>
                <a:cs typeface="Calibri" pitchFamily="34" charset="-120"/>
              </a:rPr>
              <a:t>One Platform  ·  8 Features  ·  Zero Cost  ·  Fully Deployed</a:t>
            </a:r>
            <a:endParaRPr lang="en-US" sz="1400" dirty="0"/>
          </a:p>
        </p:txBody>
      </p:sp>
      <p:sp>
        <p:nvSpPr>
          <p:cNvPr id="8" name="Shape 6"/>
          <p:cNvSpPr/>
          <p:nvPr/>
        </p:nvSpPr>
        <p:spPr>
          <a:xfrm>
            <a:off x="256032" y="1508760"/>
            <a:ext cx="2057400" cy="1609344"/>
          </a:xfrm>
          <a:prstGeom prst="roundRect">
            <a:avLst>
              <a:gd name="adj" fmla="val 5682"/>
            </a:avLst>
          </a:prstGeom>
          <a:solidFill>
            <a:srgbClr val="112030"/>
          </a:solidFill>
          <a:ln w="16510">
            <a:solidFill>
              <a:srgbClr val="3D8EFF"/>
            </a:solidFill>
            <a:prstDash val="solid"/>
          </a:ln>
          <a:effectLst>
            <a:outerShdw sx="100000" sy="100000" kx="0" ky="0" algn="bl" rotWithShape="0" blurRad="279400" dist="50800" dir="16200000">
              <a:srgbClr val="3D8EFF">
                <a:alpha val="25000"/>
              </a:srgbClr>
            </a:outerShdw>
          </a:effectLst>
        </p:spPr>
      </p:sp>
      <p:sp>
        <p:nvSpPr>
          <p:cNvPr id="9" name="Shape 7"/>
          <p:cNvSpPr/>
          <p:nvPr/>
        </p:nvSpPr>
        <p:spPr>
          <a:xfrm>
            <a:off x="256032" y="1508760"/>
            <a:ext cx="2057400" cy="502920"/>
          </a:xfrm>
          <a:prstGeom prst="roundRect">
            <a:avLst>
              <a:gd name="adj" fmla="val 18182"/>
            </a:avLst>
          </a:prstGeom>
          <a:solidFill>
            <a:srgbClr val="3D8EFF">
              <a:alpha val="18000"/>
            </a:srgbClr>
          </a:solidFill>
          <a:ln w="12700">
            <a:solidFill>
              <a:srgbClr val="000000"/>
            </a:solidFill>
            <a:prstDash val="solid"/>
          </a:ln>
        </p:spPr>
      </p:sp>
      <p:sp>
        <p:nvSpPr>
          <p:cNvPr id="10" name="Shape 8"/>
          <p:cNvSpPr/>
          <p:nvPr/>
        </p:nvSpPr>
        <p:spPr>
          <a:xfrm>
            <a:off x="256032" y="1828800"/>
            <a:ext cx="2057400" cy="182880"/>
          </a:xfrm>
          <a:prstGeom prst="rect">
            <a:avLst/>
          </a:prstGeom>
          <a:solidFill>
            <a:srgbClr val="3D8EFF">
              <a:alpha val="18000"/>
            </a:srgbClr>
          </a:solidFill>
          <a:ln w="12700">
            <a:solidFill>
              <a:srgbClr val="000000"/>
            </a:solidFill>
            <a:prstDash val="solid"/>
          </a:ln>
        </p:spPr>
      </p:sp>
      <p:sp>
        <p:nvSpPr>
          <p:cNvPr id="11" name="Text 9"/>
          <p:cNvSpPr/>
          <p:nvPr/>
        </p:nvSpPr>
        <p:spPr>
          <a:xfrm>
            <a:off x="256032" y="1536192"/>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2" name="Text 10"/>
          <p:cNvSpPr/>
          <p:nvPr/>
        </p:nvSpPr>
        <p:spPr>
          <a:xfrm>
            <a:off x="347472" y="2057400"/>
            <a:ext cx="1901952" cy="274320"/>
          </a:xfrm>
          <a:prstGeom prst="rect">
            <a:avLst/>
          </a:prstGeom>
          <a:noFill/>
          <a:ln/>
        </p:spPr>
        <p:txBody>
          <a:bodyPr wrap="square" lIns="0" tIns="0" rIns="0" bIns="0" rtlCol="0" anchor="ctr"/>
          <a:lstStyle/>
          <a:p>
            <a:pPr indent="0" marL="0">
              <a:buNone/>
            </a:pPr>
            <a:r>
              <a:rPr lang="en-US" sz="1150" b="1" dirty="0">
                <a:solidFill>
                  <a:srgbClr val="3D8EFF"/>
                </a:solidFill>
                <a:latin typeface="Calibri" pitchFamily="34" charset="0"/>
                <a:ea typeface="Calibri" pitchFamily="34" charset="-122"/>
                <a:cs typeface="Calibri" pitchFamily="34" charset="-120"/>
              </a:rPr>
              <a:t>Real Auth + OTP</a:t>
            </a:r>
            <a:endParaRPr lang="en-US" sz="1150" dirty="0"/>
          </a:p>
        </p:txBody>
      </p:sp>
      <p:sp>
        <p:nvSpPr>
          <p:cNvPr id="13" name="Text 11"/>
          <p:cNvSpPr/>
          <p:nvPr/>
        </p:nvSpPr>
        <p:spPr>
          <a:xfrm>
            <a:off x="347472" y="2359152"/>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Mobile verification</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Secure accounts</a:t>
            </a:r>
            <a:endParaRPr lang="en-US" sz="900" dirty="0"/>
          </a:p>
        </p:txBody>
      </p:sp>
      <p:sp>
        <p:nvSpPr>
          <p:cNvPr id="14" name="Shape 12"/>
          <p:cNvSpPr/>
          <p:nvPr/>
        </p:nvSpPr>
        <p:spPr>
          <a:xfrm>
            <a:off x="2450592" y="1508760"/>
            <a:ext cx="2057400" cy="1609344"/>
          </a:xfrm>
          <a:prstGeom prst="roundRect">
            <a:avLst>
              <a:gd name="adj" fmla="val 5682"/>
            </a:avLst>
          </a:prstGeom>
          <a:solidFill>
            <a:srgbClr val="112030"/>
          </a:solidFill>
          <a:ln w="16510">
            <a:solidFill>
              <a:srgbClr val="B040FF"/>
            </a:solidFill>
            <a:prstDash val="solid"/>
          </a:ln>
          <a:effectLst>
            <a:outerShdw sx="100000" sy="100000" kx="0" ky="0" algn="bl" rotWithShape="0" blurRad="279400" dist="50800" dir="16200000">
              <a:srgbClr val="B040FF">
                <a:alpha val="25000"/>
              </a:srgbClr>
            </a:outerShdw>
          </a:effectLst>
        </p:spPr>
      </p:sp>
      <p:sp>
        <p:nvSpPr>
          <p:cNvPr id="15" name="Shape 13"/>
          <p:cNvSpPr/>
          <p:nvPr/>
        </p:nvSpPr>
        <p:spPr>
          <a:xfrm>
            <a:off x="2450592" y="1508760"/>
            <a:ext cx="2057400" cy="502920"/>
          </a:xfrm>
          <a:prstGeom prst="roundRect">
            <a:avLst>
              <a:gd name="adj" fmla="val 18182"/>
            </a:avLst>
          </a:prstGeom>
          <a:solidFill>
            <a:srgbClr val="B040FF">
              <a:alpha val="18000"/>
            </a:srgbClr>
          </a:solidFill>
          <a:ln w="12700">
            <a:solidFill>
              <a:srgbClr val="000000"/>
            </a:solidFill>
            <a:prstDash val="solid"/>
          </a:ln>
        </p:spPr>
      </p:sp>
      <p:sp>
        <p:nvSpPr>
          <p:cNvPr id="16" name="Shape 14"/>
          <p:cNvSpPr/>
          <p:nvPr/>
        </p:nvSpPr>
        <p:spPr>
          <a:xfrm>
            <a:off x="2450592" y="1828800"/>
            <a:ext cx="2057400" cy="182880"/>
          </a:xfrm>
          <a:prstGeom prst="rect">
            <a:avLst/>
          </a:prstGeom>
          <a:solidFill>
            <a:srgbClr val="B040FF">
              <a:alpha val="18000"/>
            </a:srgbClr>
          </a:solidFill>
          <a:ln w="12700">
            <a:solidFill>
              <a:srgbClr val="000000"/>
            </a:solidFill>
            <a:prstDash val="solid"/>
          </a:ln>
        </p:spPr>
      </p:sp>
      <p:sp>
        <p:nvSpPr>
          <p:cNvPr id="17" name="Text 15"/>
          <p:cNvSpPr/>
          <p:nvPr/>
        </p:nvSpPr>
        <p:spPr>
          <a:xfrm>
            <a:off x="2450592" y="1536192"/>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18" name="Text 16"/>
          <p:cNvSpPr/>
          <p:nvPr/>
        </p:nvSpPr>
        <p:spPr>
          <a:xfrm>
            <a:off x="2542032" y="2057400"/>
            <a:ext cx="1901952" cy="274320"/>
          </a:xfrm>
          <a:prstGeom prst="rect">
            <a:avLst/>
          </a:prstGeom>
          <a:noFill/>
          <a:ln/>
        </p:spPr>
        <p:txBody>
          <a:bodyPr wrap="square" lIns="0" tIns="0" rIns="0" bIns="0" rtlCol="0" anchor="ctr"/>
          <a:lstStyle/>
          <a:p>
            <a:pPr indent="0" marL="0">
              <a:buNone/>
            </a:pPr>
            <a:r>
              <a:rPr lang="en-US" sz="1150" b="1" dirty="0">
                <a:solidFill>
                  <a:srgbClr val="B040FF"/>
                </a:solidFill>
                <a:latin typeface="Calibri" pitchFamily="34" charset="0"/>
                <a:ea typeface="Calibri" pitchFamily="34" charset="-122"/>
                <a:cs typeface="Calibri" pitchFamily="34" charset="-120"/>
              </a:rPr>
              <a:t>AI Classifier</a:t>
            </a:r>
            <a:endParaRPr lang="en-US" sz="1150" dirty="0"/>
          </a:p>
        </p:txBody>
      </p:sp>
      <p:sp>
        <p:nvSpPr>
          <p:cNvPr id="19" name="Text 17"/>
          <p:cNvSpPr/>
          <p:nvPr/>
        </p:nvSpPr>
        <p:spPr>
          <a:xfrm>
            <a:off x="2542032" y="2359152"/>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8 categories</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0–100 urgency score</a:t>
            </a:r>
            <a:endParaRPr lang="en-US" sz="900" dirty="0"/>
          </a:p>
        </p:txBody>
      </p:sp>
      <p:sp>
        <p:nvSpPr>
          <p:cNvPr id="20" name="Shape 18"/>
          <p:cNvSpPr/>
          <p:nvPr/>
        </p:nvSpPr>
        <p:spPr>
          <a:xfrm>
            <a:off x="4645152" y="1508760"/>
            <a:ext cx="2057400" cy="1609344"/>
          </a:xfrm>
          <a:prstGeom prst="roundRect">
            <a:avLst>
              <a:gd name="adj" fmla="val 5682"/>
            </a:avLst>
          </a:prstGeom>
          <a:solidFill>
            <a:srgbClr val="112030"/>
          </a:solidFill>
          <a:ln w="16510">
            <a:solidFill>
              <a:srgbClr val="00F5FF"/>
            </a:solidFill>
            <a:prstDash val="solid"/>
          </a:ln>
          <a:effectLst>
            <a:outerShdw sx="100000" sy="100000" kx="0" ky="0" algn="bl" rotWithShape="0" blurRad="279400" dist="50800" dir="16200000">
              <a:srgbClr val="00F5FF">
                <a:alpha val="25000"/>
              </a:srgbClr>
            </a:outerShdw>
          </a:effectLst>
        </p:spPr>
      </p:sp>
      <p:sp>
        <p:nvSpPr>
          <p:cNvPr id="21" name="Shape 19"/>
          <p:cNvSpPr/>
          <p:nvPr/>
        </p:nvSpPr>
        <p:spPr>
          <a:xfrm>
            <a:off x="4645152" y="1508760"/>
            <a:ext cx="2057400" cy="502920"/>
          </a:xfrm>
          <a:prstGeom prst="roundRect">
            <a:avLst>
              <a:gd name="adj" fmla="val 18182"/>
            </a:avLst>
          </a:prstGeom>
          <a:solidFill>
            <a:srgbClr val="00F5FF">
              <a:alpha val="18000"/>
            </a:srgbClr>
          </a:solidFill>
          <a:ln w="12700">
            <a:solidFill>
              <a:srgbClr val="000000"/>
            </a:solidFill>
            <a:prstDash val="solid"/>
          </a:ln>
        </p:spPr>
      </p:sp>
      <p:sp>
        <p:nvSpPr>
          <p:cNvPr id="22" name="Shape 20"/>
          <p:cNvSpPr/>
          <p:nvPr/>
        </p:nvSpPr>
        <p:spPr>
          <a:xfrm>
            <a:off x="4645152" y="1828800"/>
            <a:ext cx="2057400" cy="182880"/>
          </a:xfrm>
          <a:prstGeom prst="rect">
            <a:avLst/>
          </a:prstGeom>
          <a:solidFill>
            <a:srgbClr val="00F5FF">
              <a:alpha val="18000"/>
            </a:srgbClr>
          </a:solidFill>
          <a:ln w="12700">
            <a:solidFill>
              <a:srgbClr val="000000"/>
            </a:solidFill>
            <a:prstDash val="solid"/>
          </a:ln>
        </p:spPr>
      </p:sp>
      <p:sp>
        <p:nvSpPr>
          <p:cNvPr id="23" name="Text 21"/>
          <p:cNvSpPr/>
          <p:nvPr/>
        </p:nvSpPr>
        <p:spPr>
          <a:xfrm>
            <a:off x="4645152" y="1536192"/>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24" name="Text 22"/>
          <p:cNvSpPr/>
          <p:nvPr/>
        </p:nvSpPr>
        <p:spPr>
          <a:xfrm>
            <a:off x="4736592" y="2057400"/>
            <a:ext cx="1901952" cy="274320"/>
          </a:xfrm>
          <a:prstGeom prst="rect">
            <a:avLst/>
          </a:prstGeom>
          <a:noFill/>
          <a:ln/>
        </p:spPr>
        <p:txBody>
          <a:bodyPr wrap="square" lIns="0" tIns="0" rIns="0" bIns="0" rtlCol="0" anchor="ctr"/>
          <a:lstStyle/>
          <a:p>
            <a:pPr indent="0" marL="0">
              <a:buNone/>
            </a:pPr>
            <a:r>
              <a:rPr lang="en-US" sz="1150" b="1" dirty="0">
                <a:solidFill>
                  <a:srgbClr val="00F5FF"/>
                </a:solidFill>
                <a:latin typeface="Calibri" pitchFamily="34" charset="0"/>
                <a:ea typeface="Calibri" pitchFamily="34" charset="-122"/>
                <a:cs typeface="Calibri" pitchFamily="34" charset="-120"/>
              </a:rPr>
              <a:t>Blockchain Trail</a:t>
            </a:r>
            <a:endParaRPr lang="en-US" sz="1150" dirty="0"/>
          </a:p>
        </p:txBody>
      </p:sp>
      <p:sp>
        <p:nvSpPr>
          <p:cNvPr id="25" name="Text 23"/>
          <p:cNvSpPr/>
          <p:nvPr/>
        </p:nvSpPr>
        <p:spPr>
          <a:xfrm>
            <a:off x="4736592" y="2359152"/>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SHA-256 hashing</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Tamper-proof forever</a:t>
            </a:r>
            <a:endParaRPr lang="en-US" sz="900" dirty="0"/>
          </a:p>
        </p:txBody>
      </p:sp>
      <p:sp>
        <p:nvSpPr>
          <p:cNvPr id="26" name="Shape 24"/>
          <p:cNvSpPr/>
          <p:nvPr/>
        </p:nvSpPr>
        <p:spPr>
          <a:xfrm>
            <a:off x="6839712" y="1508760"/>
            <a:ext cx="2057400" cy="1609344"/>
          </a:xfrm>
          <a:prstGeom prst="roundRect">
            <a:avLst>
              <a:gd name="adj" fmla="val 5682"/>
            </a:avLst>
          </a:prstGeom>
          <a:solidFill>
            <a:srgbClr val="112030"/>
          </a:solidFill>
          <a:ln w="16510">
            <a:solidFill>
              <a:srgbClr val="00FF88"/>
            </a:solidFill>
            <a:prstDash val="solid"/>
          </a:ln>
          <a:effectLst>
            <a:outerShdw sx="100000" sy="100000" kx="0" ky="0" algn="bl" rotWithShape="0" blurRad="279400" dist="50800" dir="16200000">
              <a:srgbClr val="00FF88">
                <a:alpha val="25000"/>
              </a:srgbClr>
            </a:outerShdw>
          </a:effectLst>
        </p:spPr>
      </p:sp>
      <p:sp>
        <p:nvSpPr>
          <p:cNvPr id="27" name="Shape 25"/>
          <p:cNvSpPr/>
          <p:nvPr/>
        </p:nvSpPr>
        <p:spPr>
          <a:xfrm>
            <a:off x="6839712" y="1508760"/>
            <a:ext cx="2057400" cy="502920"/>
          </a:xfrm>
          <a:prstGeom prst="roundRect">
            <a:avLst>
              <a:gd name="adj" fmla="val 18182"/>
            </a:avLst>
          </a:prstGeom>
          <a:solidFill>
            <a:srgbClr val="00FF88">
              <a:alpha val="18000"/>
            </a:srgbClr>
          </a:solidFill>
          <a:ln w="12700">
            <a:solidFill>
              <a:srgbClr val="000000"/>
            </a:solidFill>
            <a:prstDash val="solid"/>
          </a:ln>
        </p:spPr>
      </p:sp>
      <p:sp>
        <p:nvSpPr>
          <p:cNvPr id="28" name="Shape 26"/>
          <p:cNvSpPr/>
          <p:nvPr/>
        </p:nvSpPr>
        <p:spPr>
          <a:xfrm>
            <a:off x="6839712" y="1828800"/>
            <a:ext cx="2057400" cy="182880"/>
          </a:xfrm>
          <a:prstGeom prst="rect">
            <a:avLst/>
          </a:prstGeom>
          <a:solidFill>
            <a:srgbClr val="00FF88">
              <a:alpha val="18000"/>
            </a:srgbClr>
          </a:solidFill>
          <a:ln w="12700">
            <a:solidFill>
              <a:srgbClr val="000000"/>
            </a:solidFill>
            <a:prstDash val="solid"/>
          </a:ln>
        </p:spPr>
      </p:sp>
      <p:sp>
        <p:nvSpPr>
          <p:cNvPr id="29" name="Text 27"/>
          <p:cNvSpPr/>
          <p:nvPr/>
        </p:nvSpPr>
        <p:spPr>
          <a:xfrm>
            <a:off x="6839712" y="1536192"/>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30" name="Text 28"/>
          <p:cNvSpPr/>
          <p:nvPr/>
        </p:nvSpPr>
        <p:spPr>
          <a:xfrm>
            <a:off x="6931152" y="2057400"/>
            <a:ext cx="1901952" cy="274320"/>
          </a:xfrm>
          <a:prstGeom prst="rect">
            <a:avLst/>
          </a:prstGeom>
          <a:noFill/>
          <a:ln/>
        </p:spPr>
        <p:txBody>
          <a:bodyPr wrap="square" lIns="0" tIns="0" rIns="0" bIns="0" rtlCol="0" anchor="ctr"/>
          <a:lstStyle/>
          <a:p>
            <a:pPr indent="0" marL="0">
              <a:buNone/>
            </a:pPr>
            <a:r>
              <a:rPr lang="en-US" sz="1150" b="1" dirty="0">
                <a:solidFill>
                  <a:srgbClr val="00FF88"/>
                </a:solidFill>
                <a:latin typeface="Calibri" pitchFamily="34" charset="0"/>
                <a:ea typeface="Calibri" pitchFamily="34" charset="-122"/>
                <a:cs typeface="Calibri" pitchFamily="34" charset="-120"/>
              </a:rPr>
              <a:t>8-Job Automation</a:t>
            </a:r>
            <a:endParaRPr lang="en-US" sz="1150" dirty="0"/>
          </a:p>
        </p:txBody>
      </p:sp>
      <p:sp>
        <p:nvSpPr>
          <p:cNvPr id="31" name="Text 29"/>
          <p:cNvSpPr/>
          <p:nvPr/>
        </p:nvSpPr>
        <p:spPr>
          <a:xfrm>
            <a:off x="6931152" y="2359152"/>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24/7 auto-assign</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Zero humans needed</a:t>
            </a:r>
            <a:endParaRPr lang="en-US" sz="900" dirty="0"/>
          </a:p>
        </p:txBody>
      </p:sp>
      <p:sp>
        <p:nvSpPr>
          <p:cNvPr id="32" name="Shape 30"/>
          <p:cNvSpPr/>
          <p:nvPr/>
        </p:nvSpPr>
        <p:spPr>
          <a:xfrm>
            <a:off x="256032" y="3264408"/>
            <a:ext cx="2057400" cy="1609344"/>
          </a:xfrm>
          <a:prstGeom prst="roundRect">
            <a:avLst>
              <a:gd name="adj" fmla="val 5682"/>
            </a:avLst>
          </a:prstGeom>
          <a:solidFill>
            <a:srgbClr val="112030"/>
          </a:solidFill>
          <a:ln w="16510">
            <a:solidFill>
              <a:srgbClr val="FFCC00"/>
            </a:solidFill>
            <a:prstDash val="solid"/>
          </a:ln>
          <a:effectLst>
            <a:outerShdw sx="100000" sy="100000" kx="0" ky="0" algn="bl" rotWithShape="0" blurRad="279400" dist="50800" dir="16200000">
              <a:srgbClr val="FFCC00">
                <a:alpha val="25000"/>
              </a:srgbClr>
            </a:outerShdw>
          </a:effectLst>
        </p:spPr>
      </p:sp>
      <p:sp>
        <p:nvSpPr>
          <p:cNvPr id="33" name="Shape 31"/>
          <p:cNvSpPr/>
          <p:nvPr/>
        </p:nvSpPr>
        <p:spPr>
          <a:xfrm>
            <a:off x="256032" y="3264408"/>
            <a:ext cx="2057400" cy="502920"/>
          </a:xfrm>
          <a:prstGeom prst="roundRect">
            <a:avLst>
              <a:gd name="adj" fmla="val 18182"/>
            </a:avLst>
          </a:prstGeom>
          <a:solidFill>
            <a:srgbClr val="FFCC00">
              <a:alpha val="18000"/>
            </a:srgbClr>
          </a:solidFill>
          <a:ln w="12700">
            <a:solidFill>
              <a:srgbClr val="000000"/>
            </a:solidFill>
            <a:prstDash val="solid"/>
          </a:ln>
        </p:spPr>
      </p:sp>
      <p:sp>
        <p:nvSpPr>
          <p:cNvPr id="34" name="Shape 32"/>
          <p:cNvSpPr/>
          <p:nvPr/>
        </p:nvSpPr>
        <p:spPr>
          <a:xfrm>
            <a:off x="256032" y="3584448"/>
            <a:ext cx="2057400" cy="182880"/>
          </a:xfrm>
          <a:prstGeom prst="rect">
            <a:avLst/>
          </a:prstGeom>
          <a:solidFill>
            <a:srgbClr val="FFCC00">
              <a:alpha val="18000"/>
            </a:srgbClr>
          </a:solidFill>
          <a:ln w="12700">
            <a:solidFill>
              <a:srgbClr val="000000"/>
            </a:solidFill>
            <a:prstDash val="solid"/>
          </a:ln>
        </p:spPr>
      </p:sp>
      <p:sp>
        <p:nvSpPr>
          <p:cNvPr id="35" name="Text 33"/>
          <p:cNvSpPr/>
          <p:nvPr/>
        </p:nvSpPr>
        <p:spPr>
          <a:xfrm>
            <a:off x="256032" y="3291840"/>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36" name="Text 34"/>
          <p:cNvSpPr/>
          <p:nvPr/>
        </p:nvSpPr>
        <p:spPr>
          <a:xfrm>
            <a:off x="347472" y="3813048"/>
            <a:ext cx="1901952" cy="274320"/>
          </a:xfrm>
          <a:prstGeom prst="rect">
            <a:avLst/>
          </a:prstGeom>
          <a:noFill/>
          <a:ln/>
        </p:spPr>
        <p:txBody>
          <a:bodyPr wrap="square" lIns="0" tIns="0" rIns="0" bIns="0" rtlCol="0" anchor="ctr"/>
          <a:lstStyle/>
          <a:p>
            <a:pPr indent="0" marL="0">
              <a:buNone/>
            </a:pPr>
            <a:r>
              <a:rPr lang="en-US" sz="1150" b="1" dirty="0">
                <a:solidFill>
                  <a:srgbClr val="FFCC00"/>
                </a:solidFill>
                <a:latin typeface="Calibri" pitchFamily="34" charset="0"/>
                <a:ea typeface="Calibri" pitchFamily="34" charset="-122"/>
                <a:cs typeface="Calibri" pitchFamily="34" charset="-120"/>
              </a:rPr>
              <a:t>AI Support Agent</a:t>
            </a:r>
            <a:endParaRPr lang="en-US" sz="1150" dirty="0"/>
          </a:p>
        </p:txBody>
      </p:sp>
      <p:sp>
        <p:nvSpPr>
          <p:cNvPr id="37" name="Text 35"/>
          <p:cNvSpPr/>
          <p:nvPr/>
        </p:nvSpPr>
        <p:spPr>
          <a:xfrm>
            <a:off x="347472" y="4114800"/>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Hindi + English</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1-second response</a:t>
            </a:r>
            <a:endParaRPr lang="en-US" sz="900" dirty="0"/>
          </a:p>
        </p:txBody>
      </p:sp>
      <p:sp>
        <p:nvSpPr>
          <p:cNvPr id="38" name="Shape 36"/>
          <p:cNvSpPr/>
          <p:nvPr/>
        </p:nvSpPr>
        <p:spPr>
          <a:xfrm>
            <a:off x="2450592" y="3264408"/>
            <a:ext cx="2057400" cy="1609344"/>
          </a:xfrm>
          <a:prstGeom prst="roundRect">
            <a:avLst>
              <a:gd name="adj" fmla="val 5682"/>
            </a:avLst>
          </a:prstGeom>
          <a:solidFill>
            <a:srgbClr val="112030"/>
          </a:solidFill>
          <a:ln w="16510">
            <a:solidFill>
              <a:srgbClr val="25D366"/>
            </a:solidFill>
            <a:prstDash val="solid"/>
          </a:ln>
          <a:effectLst>
            <a:outerShdw sx="100000" sy="100000" kx="0" ky="0" algn="bl" rotWithShape="0" blurRad="279400" dist="50800" dir="16200000">
              <a:srgbClr val="25D366">
                <a:alpha val="25000"/>
              </a:srgbClr>
            </a:outerShdw>
          </a:effectLst>
        </p:spPr>
      </p:sp>
      <p:sp>
        <p:nvSpPr>
          <p:cNvPr id="39" name="Shape 37"/>
          <p:cNvSpPr/>
          <p:nvPr/>
        </p:nvSpPr>
        <p:spPr>
          <a:xfrm>
            <a:off x="2450592" y="3264408"/>
            <a:ext cx="2057400" cy="502920"/>
          </a:xfrm>
          <a:prstGeom prst="roundRect">
            <a:avLst>
              <a:gd name="adj" fmla="val 18182"/>
            </a:avLst>
          </a:prstGeom>
          <a:solidFill>
            <a:srgbClr val="25D366">
              <a:alpha val="18000"/>
            </a:srgbClr>
          </a:solidFill>
          <a:ln w="12700">
            <a:solidFill>
              <a:srgbClr val="000000"/>
            </a:solidFill>
            <a:prstDash val="solid"/>
          </a:ln>
        </p:spPr>
      </p:sp>
      <p:sp>
        <p:nvSpPr>
          <p:cNvPr id="40" name="Shape 38"/>
          <p:cNvSpPr/>
          <p:nvPr/>
        </p:nvSpPr>
        <p:spPr>
          <a:xfrm>
            <a:off x="2450592" y="3584448"/>
            <a:ext cx="2057400" cy="182880"/>
          </a:xfrm>
          <a:prstGeom prst="rect">
            <a:avLst/>
          </a:prstGeom>
          <a:solidFill>
            <a:srgbClr val="25D366">
              <a:alpha val="18000"/>
            </a:srgbClr>
          </a:solidFill>
          <a:ln w="12700">
            <a:solidFill>
              <a:srgbClr val="000000"/>
            </a:solidFill>
            <a:prstDash val="solid"/>
          </a:ln>
        </p:spPr>
      </p:sp>
      <p:sp>
        <p:nvSpPr>
          <p:cNvPr id="41" name="Text 39"/>
          <p:cNvSpPr/>
          <p:nvPr/>
        </p:nvSpPr>
        <p:spPr>
          <a:xfrm>
            <a:off x="2450592" y="3291840"/>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42" name="Text 40"/>
          <p:cNvSpPr/>
          <p:nvPr/>
        </p:nvSpPr>
        <p:spPr>
          <a:xfrm>
            <a:off x="2542032" y="3813048"/>
            <a:ext cx="1901952" cy="274320"/>
          </a:xfrm>
          <a:prstGeom prst="rect">
            <a:avLst/>
          </a:prstGeom>
          <a:noFill/>
          <a:ln/>
        </p:spPr>
        <p:txBody>
          <a:bodyPr wrap="square" lIns="0" tIns="0" rIns="0" bIns="0" rtlCol="0" anchor="ctr"/>
          <a:lstStyle/>
          <a:p>
            <a:pPr indent="0" marL="0">
              <a:buNone/>
            </a:pPr>
            <a:r>
              <a:rPr lang="en-US" sz="1150" b="1" dirty="0">
                <a:solidFill>
                  <a:srgbClr val="25D366"/>
                </a:solidFill>
                <a:latin typeface="Calibri" pitchFamily="34" charset="0"/>
                <a:ea typeface="Calibri" pitchFamily="34" charset="-122"/>
                <a:cs typeface="Calibri" pitchFamily="34" charset="-120"/>
              </a:rPr>
              <a:t>WhatsApp Alerts</a:t>
            </a:r>
            <a:endParaRPr lang="en-US" sz="1150" dirty="0"/>
          </a:p>
        </p:txBody>
      </p:sp>
      <p:sp>
        <p:nvSpPr>
          <p:cNvPr id="43" name="Text 41"/>
          <p:cNvSpPr/>
          <p:nvPr/>
        </p:nvSpPr>
        <p:spPr>
          <a:xfrm>
            <a:off x="2542032" y="4114800"/>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Instant notify</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File · Assign · Resolve</a:t>
            </a:r>
            <a:endParaRPr lang="en-US" sz="900" dirty="0"/>
          </a:p>
        </p:txBody>
      </p:sp>
      <p:sp>
        <p:nvSpPr>
          <p:cNvPr id="44" name="Shape 42"/>
          <p:cNvSpPr/>
          <p:nvPr/>
        </p:nvSpPr>
        <p:spPr>
          <a:xfrm>
            <a:off x="4645152" y="3264408"/>
            <a:ext cx="2057400" cy="1609344"/>
          </a:xfrm>
          <a:prstGeom prst="roundRect">
            <a:avLst>
              <a:gd name="adj" fmla="val 5682"/>
            </a:avLst>
          </a:prstGeom>
          <a:solidFill>
            <a:srgbClr val="112030"/>
          </a:solidFill>
          <a:ln w="16510">
            <a:solidFill>
              <a:srgbClr val="FF2060"/>
            </a:solidFill>
            <a:prstDash val="solid"/>
          </a:ln>
          <a:effectLst>
            <a:outerShdw sx="100000" sy="100000" kx="0" ky="0" algn="bl" rotWithShape="0" blurRad="279400" dist="50800" dir="16200000">
              <a:srgbClr val="FF2060">
                <a:alpha val="25000"/>
              </a:srgbClr>
            </a:outerShdw>
          </a:effectLst>
        </p:spPr>
      </p:sp>
      <p:sp>
        <p:nvSpPr>
          <p:cNvPr id="45" name="Shape 43"/>
          <p:cNvSpPr/>
          <p:nvPr/>
        </p:nvSpPr>
        <p:spPr>
          <a:xfrm>
            <a:off x="4645152" y="3264408"/>
            <a:ext cx="2057400" cy="502920"/>
          </a:xfrm>
          <a:prstGeom prst="roundRect">
            <a:avLst>
              <a:gd name="adj" fmla="val 18182"/>
            </a:avLst>
          </a:prstGeom>
          <a:solidFill>
            <a:srgbClr val="FF2060">
              <a:alpha val="18000"/>
            </a:srgbClr>
          </a:solidFill>
          <a:ln w="12700">
            <a:solidFill>
              <a:srgbClr val="000000"/>
            </a:solidFill>
            <a:prstDash val="solid"/>
          </a:ln>
        </p:spPr>
      </p:sp>
      <p:sp>
        <p:nvSpPr>
          <p:cNvPr id="46" name="Shape 44"/>
          <p:cNvSpPr/>
          <p:nvPr/>
        </p:nvSpPr>
        <p:spPr>
          <a:xfrm>
            <a:off x="4645152" y="3584448"/>
            <a:ext cx="2057400" cy="182880"/>
          </a:xfrm>
          <a:prstGeom prst="rect">
            <a:avLst/>
          </a:prstGeom>
          <a:solidFill>
            <a:srgbClr val="FF2060">
              <a:alpha val="18000"/>
            </a:srgbClr>
          </a:solidFill>
          <a:ln w="12700">
            <a:solidFill>
              <a:srgbClr val="000000"/>
            </a:solidFill>
            <a:prstDash val="solid"/>
          </a:ln>
        </p:spPr>
      </p:sp>
      <p:sp>
        <p:nvSpPr>
          <p:cNvPr id="47" name="Text 45"/>
          <p:cNvSpPr/>
          <p:nvPr/>
        </p:nvSpPr>
        <p:spPr>
          <a:xfrm>
            <a:off x="4645152" y="3291840"/>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48" name="Text 46"/>
          <p:cNvSpPr/>
          <p:nvPr/>
        </p:nvSpPr>
        <p:spPr>
          <a:xfrm>
            <a:off x="4736592" y="3813048"/>
            <a:ext cx="1901952" cy="274320"/>
          </a:xfrm>
          <a:prstGeom prst="rect">
            <a:avLst/>
          </a:prstGeom>
          <a:noFill/>
          <a:ln/>
        </p:spPr>
        <p:txBody>
          <a:bodyPr wrap="square" lIns="0" tIns="0" rIns="0" bIns="0" rtlCol="0" anchor="ctr"/>
          <a:lstStyle/>
          <a:p>
            <a:pPr indent="0" marL="0">
              <a:buNone/>
            </a:pPr>
            <a:r>
              <a:rPr lang="en-US" sz="1150" b="1" dirty="0">
                <a:solidFill>
                  <a:srgbClr val="FF2060"/>
                </a:solidFill>
                <a:latin typeface="Calibri" pitchFamily="34" charset="0"/>
                <a:ea typeface="Calibri" pitchFamily="34" charset="-122"/>
                <a:cs typeface="Calibri" pitchFamily="34" charset="-120"/>
              </a:rPr>
              <a:t>Hindi Voice 🇮🇳</a:t>
            </a:r>
            <a:endParaRPr lang="en-US" sz="1150" dirty="0"/>
          </a:p>
        </p:txBody>
      </p:sp>
      <p:sp>
        <p:nvSpPr>
          <p:cNvPr id="49" name="Text 47"/>
          <p:cNvSpPr/>
          <p:nvPr/>
        </p:nvSpPr>
        <p:spPr>
          <a:xfrm>
            <a:off x="4736592" y="4114800"/>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Web Speech API</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Speak complaint live</a:t>
            </a:r>
            <a:endParaRPr lang="en-US" sz="900" dirty="0"/>
          </a:p>
        </p:txBody>
      </p:sp>
      <p:sp>
        <p:nvSpPr>
          <p:cNvPr id="50" name="Shape 48"/>
          <p:cNvSpPr/>
          <p:nvPr/>
        </p:nvSpPr>
        <p:spPr>
          <a:xfrm>
            <a:off x="6839712" y="3264408"/>
            <a:ext cx="2057400" cy="1609344"/>
          </a:xfrm>
          <a:prstGeom prst="roundRect">
            <a:avLst>
              <a:gd name="adj" fmla="val 5682"/>
            </a:avLst>
          </a:prstGeom>
          <a:solidFill>
            <a:srgbClr val="112030"/>
          </a:solidFill>
          <a:ln w="16510">
            <a:solidFill>
              <a:srgbClr val="00FFD1"/>
            </a:solidFill>
            <a:prstDash val="solid"/>
          </a:ln>
          <a:effectLst>
            <a:outerShdw sx="100000" sy="100000" kx="0" ky="0" algn="bl" rotWithShape="0" blurRad="279400" dist="50800" dir="16200000">
              <a:srgbClr val="00FFD1">
                <a:alpha val="25000"/>
              </a:srgbClr>
            </a:outerShdw>
          </a:effectLst>
        </p:spPr>
      </p:sp>
      <p:sp>
        <p:nvSpPr>
          <p:cNvPr id="51" name="Shape 49"/>
          <p:cNvSpPr/>
          <p:nvPr/>
        </p:nvSpPr>
        <p:spPr>
          <a:xfrm>
            <a:off x="6839712" y="3264408"/>
            <a:ext cx="2057400" cy="502920"/>
          </a:xfrm>
          <a:prstGeom prst="roundRect">
            <a:avLst>
              <a:gd name="adj" fmla="val 18182"/>
            </a:avLst>
          </a:prstGeom>
          <a:solidFill>
            <a:srgbClr val="00FFD1">
              <a:alpha val="18000"/>
            </a:srgbClr>
          </a:solidFill>
          <a:ln w="12700">
            <a:solidFill>
              <a:srgbClr val="000000"/>
            </a:solidFill>
            <a:prstDash val="solid"/>
          </a:ln>
        </p:spPr>
      </p:sp>
      <p:sp>
        <p:nvSpPr>
          <p:cNvPr id="52" name="Shape 50"/>
          <p:cNvSpPr/>
          <p:nvPr/>
        </p:nvSpPr>
        <p:spPr>
          <a:xfrm>
            <a:off x="6839712" y="3584448"/>
            <a:ext cx="2057400" cy="182880"/>
          </a:xfrm>
          <a:prstGeom prst="rect">
            <a:avLst/>
          </a:prstGeom>
          <a:solidFill>
            <a:srgbClr val="00FFD1">
              <a:alpha val="18000"/>
            </a:srgbClr>
          </a:solidFill>
          <a:ln w="12700">
            <a:solidFill>
              <a:srgbClr val="000000"/>
            </a:solidFill>
            <a:prstDash val="solid"/>
          </a:ln>
        </p:spPr>
      </p:sp>
      <p:sp>
        <p:nvSpPr>
          <p:cNvPr id="53" name="Text 51"/>
          <p:cNvSpPr/>
          <p:nvPr/>
        </p:nvSpPr>
        <p:spPr>
          <a:xfrm>
            <a:off x="6839712" y="3291840"/>
            <a:ext cx="2057400" cy="475488"/>
          </a:xfrm>
          <a:prstGeom prst="rect">
            <a:avLst/>
          </a:prstGeom>
          <a:noFill/>
          <a:ln/>
        </p:spPr>
        <p:txBody>
          <a:bodyPr wrap="square" lIns="0" tIns="0" rIns="0" bIns="0" rtlCol="0" anchor="ctr"/>
          <a:lstStyle/>
          <a:p>
            <a:pPr algn="ctr" indent="0" marL="0">
              <a:buNone/>
            </a:pPr>
            <a:r>
              <a:rPr lang="en-US" sz="2600" dirty="0">
                <a:solidFill>
                  <a:srgbClr val="000000"/>
                </a:solidFill>
              </a:rPr>
              <a:t>📱</a:t>
            </a:r>
            <a:endParaRPr lang="en-US" sz="2600" dirty="0"/>
          </a:p>
        </p:txBody>
      </p:sp>
      <p:sp>
        <p:nvSpPr>
          <p:cNvPr id="54" name="Text 52"/>
          <p:cNvSpPr/>
          <p:nvPr/>
        </p:nvSpPr>
        <p:spPr>
          <a:xfrm>
            <a:off x="6931152" y="3813048"/>
            <a:ext cx="1901952" cy="274320"/>
          </a:xfrm>
          <a:prstGeom prst="rect">
            <a:avLst/>
          </a:prstGeom>
          <a:noFill/>
          <a:ln/>
        </p:spPr>
        <p:txBody>
          <a:bodyPr wrap="square" lIns="0" tIns="0" rIns="0" bIns="0" rtlCol="0" anchor="ctr"/>
          <a:lstStyle/>
          <a:p>
            <a:pPr indent="0" marL="0">
              <a:buNone/>
            </a:pPr>
            <a:r>
              <a:rPr lang="en-US" sz="1150" b="1" dirty="0">
                <a:solidFill>
                  <a:srgbClr val="00FFD1"/>
                </a:solidFill>
                <a:latin typeface="Calibri" pitchFamily="34" charset="0"/>
                <a:ea typeface="Calibri" pitchFamily="34" charset="-122"/>
                <a:cs typeface="Calibri" pitchFamily="34" charset="-120"/>
              </a:rPr>
              <a:t>PWA + Offline</a:t>
            </a:r>
            <a:endParaRPr lang="en-US" sz="1150" dirty="0"/>
          </a:p>
        </p:txBody>
      </p:sp>
      <p:sp>
        <p:nvSpPr>
          <p:cNvPr id="55" name="Text 53"/>
          <p:cNvSpPr/>
          <p:nvPr/>
        </p:nvSpPr>
        <p:spPr>
          <a:xfrm>
            <a:off x="6931152" y="4114800"/>
            <a:ext cx="1901952" cy="640080"/>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Install anywhere</a:t>
            </a:r>
            <a:endParaRPr lang="en-US" sz="900" dirty="0"/>
          </a:p>
          <a:p>
            <a:pPr indent="0" marL="0">
              <a:buNone/>
            </a:pPr>
            <a:r>
              <a:rPr lang="en-US" sz="900" dirty="0">
                <a:solidFill>
                  <a:srgbClr val="3D6080"/>
                </a:solidFill>
                <a:latin typeface="Calibri" pitchFamily="34" charset="0"/>
                <a:ea typeface="Calibri" pitchFamily="34" charset="-122"/>
                <a:cs typeface="Calibri" pitchFamily="34" charset="-120"/>
              </a:rPr>
              <a:t>Works without net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Text 3"/>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3D6080"/>
                </a:solidFill>
                <a:latin typeface="Consolas" pitchFamily="34" charset="0"/>
                <a:ea typeface="Consolas" pitchFamily="34" charset="-122"/>
                <a:cs typeface="Consolas" pitchFamily="34" charset="-120"/>
              </a:rPr>
              <a:t>HOW IT WORKS</a:t>
            </a:r>
            <a:endParaRPr lang="en-US" sz="750" dirty="0"/>
          </a:p>
        </p:txBody>
      </p:sp>
      <p:sp>
        <p:nvSpPr>
          <p:cNvPr id="6" name="Text 4"/>
          <p:cNvSpPr/>
          <p:nvPr/>
        </p:nvSpPr>
        <p:spPr>
          <a:xfrm>
            <a:off x="365760" y="292608"/>
            <a:ext cx="8412480" cy="621792"/>
          </a:xfrm>
          <a:prstGeom prst="rect">
            <a:avLst/>
          </a:prstGeom>
          <a:noFill/>
          <a:ln/>
        </p:spPr>
        <p:txBody>
          <a:bodyPr wrap="square" rtlCol="0" anchor="ctr"/>
          <a:lstStyle/>
          <a:p>
            <a:pPr algn="ctr" indent="0" marL="0">
              <a:buNone/>
            </a:pPr>
            <a:r>
              <a:rPr lang="en-US" sz="4000" b="1" dirty="0">
                <a:solidFill>
                  <a:srgbClr val="EEF6FF"/>
                </a:solidFill>
                <a:latin typeface="Calibri" pitchFamily="34" charset="0"/>
                <a:ea typeface="Calibri" pitchFamily="34" charset="-122"/>
                <a:cs typeface="Calibri" pitchFamily="34" charset="-120"/>
              </a:rPr>
              <a:t>Complaint to Resolution</a:t>
            </a:r>
            <a:endParaRPr lang="en-US" sz="4000" dirty="0"/>
          </a:p>
        </p:txBody>
      </p:sp>
      <p:sp>
        <p:nvSpPr>
          <p:cNvPr id="7" name="Text 5"/>
          <p:cNvSpPr/>
          <p:nvPr/>
        </p:nvSpPr>
        <p:spPr>
          <a:xfrm>
            <a:off x="365760" y="896112"/>
            <a:ext cx="8412480" cy="237744"/>
          </a:xfrm>
          <a:prstGeom prst="rect">
            <a:avLst/>
          </a:prstGeom>
          <a:noFill/>
          <a:ln/>
        </p:spPr>
        <p:txBody>
          <a:bodyPr wrap="square" rtlCol="0" anchor="ctr"/>
          <a:lstStyle/>
          <a:p>
            <a:pPr algn="ctr" indent="0" marL="0">
              <a:buNone/>
            </a:pPr>
            <a:r>
              <a:rPr lang="en-US" sz="1200" i="1" dirty="0">
                <a:solidFill>
                  <a:srgbClr val="3D6080"/>
                </a:solidFill>
                <a:latin typeface="Calibri" pitchFamily="34" charset="0"/>
                <a:ea typeface="Calibri" pitchFamily="34" charset="-122"/>
                <a:cs typeface="Calibri" pitchFamily="34" charset="-120"/>
              </a:rPr>
              <a:t>6 automated steps · Zero manual intervention · Real-time blockchain</a:t>
            </a:r>
            <a:endParaRPr lang="en-US" sz="1200" dirty="0"/>
          </a:p>
        </p:txBody>
      </p:sp>
      <p:sp>
        <p:nvSpPr>
          <p:cNvPr id="8" name="Shape 6"/>
          <p:cNvSpPr/>
          <p:nvPr/>
        </p:nvSpPr>
        <p:spPr>
          <a:xfrm>
            <a:off x="585216" y="1243584"/>
            <a:ext cx="566928" cy="566928"/>
          </a:xfrm>
          <a:prstGeom prst="ellipse">
            <a:avLst/>
          </a:prstGeom>
          <a:solidFill>
            <a:srgbClr val="3D8EFF"/>
          </a:solidFill>
          <a:ln w="12700">
            <a:solidFill>
              <a:srgbClr val="000000"/>
            </a:solidFill>
            <a:prstDash val="solid"/>
          </a:ln>
          <a:effectLst>
            <a:outerShdw sx="100000" sy="100000" kx="0" ky="0" algn="bl" rotWithShape="0" blurRad="279400" dist="50800" dir="16200000">
              <a:srgbClr val="3D8EFF">
                <a:alpha val="60000"/>
              </a:srgbClr>
            </a:outerShdw>
          </a:effectLst>
        </p:spPr>
      </p:sp>
      <p:sp>
        <p:nvSpPr>
          <p:cNvPr id="9" name="Text 7"/>
          <p:cNvSpPr/>
          <p:nvPr/>
        </p:nvSpPr>
        <p:spPr>
          <a:xfrm>
            <a:off x="585216"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1</a:t>
            </a:r>
            <a:endParaRPr lang="en-US" sz="1700" dirty="0"/>
          </a:p>
        </p:txBody>
      </p:sp>
      <p:sp>
        <p:nvSpPr>
          <p:cNvPr id="10" name="Shape 8"/>
          <p:cNvSpPr/>
          <p:nvPr/>
        </p:nvSpPr>
        <p:spPr>
          <a:xfrm>
            <a:off x="1527048" y="1499616"/>
            <a:ext cx="292608" cy="32004"/>
          </a:xfrm>
          <a:prstGeom prst="rect">
            <a:avLst/>
          </a:prstGeom>
          <a:solidFill>
            <a:srgbClr val="3D8EFF">
              <a:alpha val="50000"/>
            </a:srgbClr>
          </a:solidFill>
          <a:ln w="12700">
            <a:solidFill>
              <a:srgbClr val="000000"/>
            </a:solidFill>
            <a:prstDash val="solid"/>
          </a:ln>
        </p:spPr>
      </p:sp>
      <p:sp>
        <p:nvSpPr>
          <p:cNvPr id="11" name="Shape 9"/>
          <p:cNvSpPr/>
          <p:nvPr/>
        </p:nvSpPr>
        <p:spPr>
          <a:xfrm>
            <a:off x="1783080" y="1435608"/>
            <a:ext cx="73152" cy="182880"/>
          </a:xfrm>
          <a:prstGeom prst="rtTriangle">
            <a:avLst/>
          </a:prstGeom>
          <a:solidFill>
            <a:srgbClr val="3D8EFF">
              <a:alpha val="50000"/>
            </a:srgbClr>
          </a:solidFill>
          <a:ln w="12700">
            <a:solidFill>
              <a:srgbClr val="000000"/>
            </a:solidFill>
            <a:prstDash val="solid"/>
          </a:ln>
        </p:spPr>
      </p:sp>
      <p:sp>
        <p:nvSpPr>
          <p:cNvPr id="12" name="Shape 10"/>
          <p:cNvSpPr/>
          <p:nvPr/>
        </p:nvSpPr>
        <p:spPr>
          <a:xfrm>
            <a:off x="201168" y="1920240"/>
            <a:ext cx="1417320" cy="2852928"/>
          </a:xfrm>
          <a:prstGeom prst="roundRect">
            <a:avLst>
              <a:gd name="adj" fmla="val 5161"/>
            </a:avLst>
          </a:prstGeom>
          <a:solidFill>
            <a:srgbClr val="112030"/>
          </a:solidFill>
          <a:ln w="15240">
            <a:solidFill>
              <a:srgbClr val="3D8EFF"/>
            </a:solidFill>
            <a:prstDash val="solid"/>
          </a:ln>
          <a:effectLst>
            <a:outerShdw sx="100000" sy="100000" kx="0" ky="0" algn="bl" rotWithShape="0" blurRad="177800" dist="76200" dir="8400000">
              <a:srgbClr val="000000">
                <a:alpha val="55000"/>
              </a:srgbClr>
            </a:outerShdw>
          </a:effectLst>
        </p:spPr>
      </p:sp>
      <p:sp>
        <p:nvSpPr>
          <p:cNvPr id="13" name="Shape 11"/>
          <p:cNvSpPr/>
          <p:nvPr/>
        </p:nvSpPr>
        <p:spPr>
          <a:xfrm>
            <a:off x="201168" y="1920240"/>
            <a:ext cx="1417320" cy="548640"/>
          </a:xfrm>
          <a:prstGeom prst="roundRect">
            <a:avLst>
              <a:gd name="adj" fmla="val 13333"/>
            </a:avLst>
          </a:prstGeom>
          <a:solidFill>
            <a:srgbClr val="3D8EFF">
              <a:alpha val="20000"/>
            </a:srgbClr>
          </a:solidFill>
          <a:ln w="12700">
            <a:solidFill>
              <a:srgbClr val="000000"/>
            </a:solidFill>
            <a:prstDash val="solid"/>
          </a:ln>
        </p:spPr>
      </p:sp>
      <p:sp>
        <p:nvSpPr>
          <p:cNvPr id="14" name="Shape 12"/>
          <p:cNvSpPr/>
          <p:nvPr/>
        </p:nvSpPr>
        <p:spPr>
          <a:xfrm>
            <a:off x="201168" y="2240280"/>
            <a:ext cx="1417320" cy="228600"/>
          </a:xfrm>
          <a:prstGeom prst="rect">
            <a:avLst/>
          </a:prstGeom>
          <a:solidFill>
            <a:srgbClr val="3D8EFF">
              <a:alpha val="20000"/>
            </a:srgbClr>
          </a:solidFill>
          <a:ln w="12700">
            <a:solidFill>
              <a:srgbClr val="000000"/>
            </a:solidFill>
            <a:prstDash val="solid"/>
          </a:ln>
        </p:spPr>
      </p:sp>
      <p:sp>
        <p:nvSpPr>
          <p:cNvPr id="15" name="Text 13"/>
          <p:cNvSpPr/>
          <p:nvPr/>
        </p:nvSpPr>
        <p:spPr>
          <a:xfrm>
            <a:off x="201168"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16" name="Text 14"/>
          <p:cNvSpPr/>
          <p:nvPr/>
        </p:nvSpPr>
        <p:spPr>
          <a:xfrm>
            <a:off x="274320" y="2514600"/>
            <a:ext cx="1280160" cy="274320"/>
          </a:xfrm>
          <a:prstGeom prst="rect">
            <a:avLst/>
          </a:prstGeom>
          <a:noFill/>
          <a:ln/>
        </p:spPr>
        <p:txBody>
          <a:bodyPr wrap="square" lIns="0" tIns="0" rIns="0" bIns="0" rtlCol="0" anchor="ctr"/>
          <a:lstStyle/>
          <a:p>
            <a:pPr indent="0" marL="0">
              <a:buNone/>
            </a:pPr>
            <a:r>
              <a:rPr lang="en-US" sz="1150" b="1" dirty="0">
                <a:solidFill>
                  <a:srgbClr val="3D8EFF"/>
                </a:solidFill>
                <a:latin typeface="Calibri" pitchFamily="34" charset="0"/>
                <a:ea typeface="Calibri" pitchFamily="34" charset="-122"/>
                <a:cs typeface="Calibri" pitchFamily="34" charset="-120"/>
              </a:rPr>
              <a:t>Register</a:t>
            </a:r>
            <a:endParaRPr lang="en-US" sz="1150" dirty="0"/>
          </a:p>
        </p:txBody>
      </p:sp>
      <p:sp>
        <p:nvSpPr>
          <p:cNvPr id="17" name="Text 15"/>
          <p:cNvSpPr/>
          <p:nvPr/>
        </p:nvSpPr>
        <p:spPr>
          <a:xfrm>
            <a:off x="274320"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Mobile OTP</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verified</a:t>
            </a:r>
            <a:endParaRPr lang="en-US" sz="920" dirty="0"/>
          </a:p>
        </p:txBody>
      </p:sp>
      <p:sp>
        <p:nvSpPr>
          <p:cNvPr id="18" name="Shape 16"/>
          <p:cNvSpPr/>
          <p:nvPr/>
        </p:nvSpPr>
        <p:spPr>
          <a:xfrm>
            <a:off x="201168" y="4069080"/>
            <a:ext cx="1417320" cy="658368"/>
          </a:xfrm>
          <a:prstGeom prst="rect">
            <a:avLst/>
          </a:prstGeom>
          <a:solidFill>
            <a:srgbClr val="010810"/>
          </a:solidFill>
          <a:ln w="7620">
            <a:solidFill>
              <a:srgbClr val="3D8EFF"/>
            </a:solidFill>
            <a:prstDash val="solid"/>
          </a:ln>
        </p:spPr>
      </p:sp>
      <p:sp>
        <p:nvSpPr>
          <p:cNvPr id="19" name="Text 17"/>
          <p:cNvSpPr/>
          <p:nvPr/>
        </p:nvSpPr>
        <p:spPr>
          <a:xfrm>
            <a:off x="201168" y="4069080"/>
            <a:ext cx="1417320" cy="658368"/>
          </a:xfrm>
          <a:prstGeom prst="rect">
            <a:avLst/>
          </a:prstGeom>
          <a:noFill/>
          <a:ln/>
        </p:spPr>
        <p:txBody>
          <a:bodyPr wrap="square" rtlCol="0" anchor="ctr"/>
          <a:lstStyle/>
          <a:p>
            <a:pPr algn="ctr" indent="0" marL="0">
              <a:buNone/>
            </a:pPr>
            <a:r>
              <a:rPr lang="en-US" sz="1200" b="1" dirty="0">
                <a:solidFill>
                  <a:srgbClr val="3D8EFF"/>
                </a:solidFill>
                <a:latin typeface="Consolas" pitchFamily="34" charset="0"/>
                <a:ea typeface="Consolas" pitchFamily="34" charset="-122"/>
                <a:cs typeface="Consolas" pitchFamily="34" charset="-120"/>
              </a:rPr>
              <a:t>OTP✓</a:t>
            </a:r>
            <a:endParaRPr lang="en-US" sz="1200" dirty="0"/>
          </a:p>
        </p:txBody>
      </p:sp>
      <p:sp>
        <p:nvSpPr>
          <p:cNvPr id="20" name="Shape 18"/>
          <p:cNvSpPr/>
          <p:nvPr/>
        </p:nvSpPr>
        <p:spPr>
          <a:xfrm>
            <a:off x="2066544" y="1243584"/>
            <a:ext cx="566928" cy="566928"/>
          </a:xfrm>
          <a:prstGeom prst="ellipse">
            <a:avLst/>
          </a:prstGeom>
          <a:solidFill>
            <a:srgbClr val="B040FF"/>
          </a:solidFill>
          <a:ln w="12700">
            <a:solidFill>
              <a:srgbClr val="000000"/>
            </a:solidFill>
            <a:prstDash val="solid"/>
          </a:ln>
          <a:effectLst>
            <a:outerShdw sx="100000" sy="100000" kx="0" ky="0" algn="bl" rotWithShape="0" blurRad="279400" dist="50800" dir="16200000">
              <a:srgbClr val="B040FF">
                <a:alpha val="60000"/>
              </a:srgbClr>
            </a:outerShdw>
          </a:effectLst>
        </p:spPr>
      </p:sp>
      <p:sp>
        <p:nvSpPr>
          <p:cNvPr id="21" name="Text 19"/>
          <p:cNvSpPr/>
          <p:nvPr/>
        </p:nvSpPr>
        <p:spPr>
          <a:xfrm>
            <a:off x="2066544"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2</a:t>
            </a:r>
            <a:endParaRPr lang="en-US" sz="1700" dirty="0"/>
          </a:p>
        </p:txBody>
      </p:sp>
      <p:sp>
        <p:nvSpPr>
          <p:cNvPr id="22" name="Shape 20"/>
          <p:cNvSpPr/>
          <p:nvPr/>
        </p:nvSpPr>
        <p:spPr>
          <a:xfrm>
            <a:off x="3008376" y="1499616"/>
            <a:ext cx="292608" cy="32004"/>
          </a:xfrm>
          <a:prstGeom prst="rect">
            <a:avLst/>
          </a:prstGeom>
          <a:solidFill>
            <a:srgbClr val="B040FF">
              <a:alpha val="50000"/>
            </a:srgbClr>
          </a:solidFill>
          <a:ln w="12700">
            <a:solidFill>
              <a:srgbClr val="000000"/>
            </a:solidFill>
            <a:prstDash val="solid"/>
          </a:ln>
        </p:spPr>
      </p:sp>
      <p:sp>
        <p:nvSpPr>
          <p:cNvPr id="23" name="Shape 21"/>
          <p:cNvSpPr/>
          <p:nvPr/>
        </p:nvSpPr>
        <p:spPr>
          <a:xfrm>
            <a:off x="3264408" y="1435608"/>
            <a:ext cx="73152" cy="182880"/>
          </a:xfrm>
          <a:prstGeom prst="rtTriangle">
            <a:avLst/>
          </a:prstGeom>
          <a:solidFill>
            <a:srgbClr val="B040FF">
              <a:alpha val="50000"/>
            </a:srgbClr>
          </a:solidFill>
          <a:ln w="12700">
            <a:solidFill>
              <a:srgbClr val="000000"/>
            </a:solidFill>
            <a:prstDash val="solid"/>
          </a:ln>
        </p:spPr>
      </p:sp>
      <p:sp>
        <p:nvSpPr>
          <p:cNvPr id="24" name="Shape 22"/>
          <p:cNvSpPr/>
          <p:nvPr/>
        </p:nvSpPr>
        <p:spPr>
          <a:xfrm>
            <a:off x="1682496" y="1920240"/>
            <a:ext cx="1417320" cy="2852928"/>
          </a:xfrm>
          <a:prstGeom prst="roundRect">
            <a:avLst>
              <a:gd name="adj" fmla="val 5161"/>
            </a:avLst>
          </a:prstGeom>
          <a:solidFill>
            <a:srgbClr val="112030"/>
          </a:solidFill>
          <a:ln w="15240">
            <a:solidFill>
              <a:srgbClr val="B040FF"/>
            </a:solidFill>
            <a:prstDash val="solid"/>
          </a:ln>
          <a:effectLst>
            <a:outerShdw sx="100000" sy="100000" kx="0" ky="0" algn="bl" rotWithShape="0" blurRad="177800" dist="76200" dir="8400000">
              <a:srgbClr val="000000">
                <a:alpha val="55000"/>
              </a:srgbClr>
            </a:outerShdw>
          </a:effectLst>
        </p:spPr>
      </p:sp>
      <p:sp>
        <p:nvSpPr>
          <p:cNvPr id="25" name="Shape 23"/>
          <p:cNvSpPr/>
          <p:nvPr/>
        </p:nvSpPr>
        <p:spPr>
          <a:xfrm>
            <a:off x="1682496" y="1920240"/>
            <a:ext cx="1417320" cy="548640"/>
          </a:xfrm>
          <a:prstGeom prst="roundRect">
            <a:avLst>
              <a:gd name="adj" fmla="val 13333"/>
            </a:avLst>
          </a:prstGeom>
          <a:solidFill>
            <a:srgbClr val="B040FF">
              <a:alpha val="20000"/>
            </a:srgbClr>
          </a:solidFill>
          <a:ln w="12700">
            <a:solidFill>
              <a:srgbClr val="000000"/>
            </a:solidFill>
            <a:prstDash val="solid"/>
          </a:ln>
        </p:spPr>
      </p:sp>
      <p:sp>
        <p:nvSpPr>
          <p:cNvPr id="26" name="Shape 24"/>
          <p:cNvSpPr/>
          <p:nvPr/>
        </p:nvSpPr>
        <p:spPr>
          <a:xfrm>
            <a:off x="1682496" y="2240280"/>
            <a:ext cx="1417320" cy="228600"/>
          </a:xfrm>
          <a:prstGeom prst="rect">
            <a:avLst/>
          </a:prstGeom>
          <a:solidFill>
            <a:srgbClr val="B040FF">
              <a:alpha val="20000"/>
            </a:srgbClr>
          </a:solidFill>
          <a:ln w="12700">
            <a:solidFill>
              <a:srgbClr val="000000"/>
            </a:solidFill>
            <a:prstDash val="solid"/>
          </a:ln>
        </p:spPr>
      </p:sp>
      <p:sp>
        <p:nvSpPr>
          <p:cNvPr id="27" name="Text 25"/>
          <p:cNvSpPr/>
          <p:nvPr/>
        </p:nvSpPr>
        <p:spPr>
          <a:xfrm>
            <a:off x="1682496"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28" name="Text 26"/>
          <p:cNvSpPr/>
          <p:nvPr/>
        </p:nvSpPr>
        <p:spPr>
          <a:xfrm>
            <a:off x="1755648" y="2514600"/>
            <a:ext cx="1280160" cy="274320"/>
          </a:xfrm>
          <a:prstGeom prst="rect">
            <a:avLst/>
          </a:prstGeom>
          <a:noFill/>
          <a:ln/>
        </p:spPr>
        <p:txBody>
          <a:bodyPr wrap="square" lIns="0" tIns="0" rIns="0" bIns="0" rtlCol="0" anchor="ctr"/>
          <a:lstStyle/>
          <a:p>
            <a:pPr indent="0" marL="0">
              <a:buNone/>
            </a:pPr>
            <a:r>
              <a:rPr lang="en-US" sz="1150" b="1" dirty="0">
                <a:solidFill>
                  <a:srgbClr val="B040FF"/>
                </a:solidFill>
                <a:latin typeface="Calibri" pitchFamily="34" charset="0"/>
                <a:ea typeface="Calibri" pitchFamily="34" charset="-122"/>
                <a:cs typeface="Calibri" pitchFamily="34" charset="-120"/>
              </a:rPr>
              <a:t>Report</a:t>
            </a:r>
            <a:endParaRPr lang="en-US" sz="1150" dirty="0"/>
          </a:p>
        </p:txBody>
      </p:sp>
      <p:sp>
        <p:nvSpPr>
          <p:cNvPr id="29" name="Text 27"/>
          <p:cNvSpPr/>
          <p:nvPr/>
        </p:nvSpPr>
        <p:spPr>
          <a:xfrm>
            <a:off x="1755648"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Type or speak</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Hindi 🎤</a:t>
            </a:r>
            <a:endParaRPr lang="en-US" sz="920" dirty="0"/>
          </a:p>
        </p:txBody>
      </p:sp>
      <p:sp>
        <p:nvSpPr>
          <p:cNvPr id="30" name="Shape 28"/>
          <p:cNvSpPr/>
          <p:nvPr/>
        </p:nvSpPr>
        <p:spPr>
          <a:xfrm>
            <a:off x="1682496" y="4069080"/>
            <a:ext cx="1417320" cy="658368"/>
          </a:xfrm>
          <a:prstGeom prst="rect">
            <a:avLst/>
          </a:prstGeom>
          <a:solidFill>
            <a:srgbClr val="010810"/>
          </a:solidFill>
          <a:ln w="7620">
            <a:solidFill>
              <a:srgbClr val="B040FF"/>
            </a:solidFill>
            <a:prstDash val="solid"/>
          </a:ln>
        </p:spPr>
      </p:sp>
      <p:sp>
        <p:nvSpPr>
          <p:cNvPr id="31" name="Text 29"/>
          <p:cNvSpPr/>
          <p:nvPr/>
        </p:nvSpPr>
        <p:spPr>
          <a:xfrm>
            <a:off x="1682496" y="4069080"/>
            <a:ext cx="1417320" cy="658368"/>
          </a:xfrm>
          <a:prstGeom prst="rect">
            <a:avLst/>
          </a:prstGeom>
          <a:noFill/>
          <a:ln/>
        </p:spPr>
        <p:txBody>
          <a:bodyPr wrap="square" rtlCol="0" anchor="ctr"/>
          <a:lstStyle/>
          <a:p>
            <a:pPr algn="ctr" indent="0" marL="0">
              <a:buNone/>
            </a:pPr>
            <a:r>
              <a:rPr lang="en-US" sz="1200" b="1" dirty="0">
                <a:solidFill>
                  <a:srgbClr val="B040FF"/>
                </a:solidFill>
                <a:latin typeface="Consolas" pitchFamily="34" charset="0"/>
                <a:ea typeface="Consolas" pitchFamily="34" charset="-122"/>
                <a:cs typeface="Consolas" pitchFamily="34" charset="-120"/>
              </a:rPr>
              <a:t>Hindi🎤</a:t>
            </a:r>
            <a:endParaRPr lang="en-US" sz="1200" dirty="0"/>
          </a:p>
        </p:txBody>
      </p:sp>
      <p:sp>
        <p:nvSpPr>
          <p:cNvPr id="32" name="Shape 30"/>
          <p:cNvSpPr/>
          <p:nvPr/>
        </p:nvSpPr>
        <p:spPr>
          <a:xfrm>
            <a:off x="3547872" y="1243584"/>
            <a:ext cx="566928" cy="566928"/>
          </a:xfrm>
          <a:prstGeom prst="ellipse">
            <a:avLst/>
          </a:prstGeom>
          <a:solidFill>
            <a:srgbClr val="00F5FF"/>
          </a:solidFill>
          <a:ln w="12700">
            <a:solidFill>
              <a:srgbClr val="000000"/>
            </a:solidFill>
            <a:prstDash val="solid"/>
          </a:ln>
          <a:effectLst>
            <a:outerShdw sx="100000" sy="100000" kx="0" ky="0" algn="bl" rotWithShape="0" blurRad="279400" dist="50800" dir="16200000">
              <a:srgbClr val="00F5FF">
                <a:alpha val="60000"/>
              </a:srgbClr>
            </a:outerShdw>
          </a:effectLst>
        </p:spPr>
      </p:sp>
      <p:sp>
        <p:nvSpPr>
          <p:cNvPr id="33" name="Text 31"/>
          <p:cNvSpPr/>
          <p:nvPr/>
        </p:nvSpPr>
        <p:spPr>
          <a:xfrm>
            <a:off x="3547872"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3</a:t>
            </a:r>
            <a:endParaRPr lang="en-US" sz="1700" dirty="0"/>
          </a:p>
        </p:txBody>
      </p:sp>
      <p:sp>
        <p:nvSpPr>
          <p:cNvPr id="34" name="Shape 32"/>
          <p:cNvSpPr/>
          <p:nvPr/>
        </p:nvSpPr>
        <p:spPr>
          <a:xfrm>
            <a:off x="4489704" y="1499616"/>
            <a:ext cx="292608" cy="32004"/>
          </a:xfrm>
          <a:prstGeom prst="rect">
            <a:avLst/>
          </a:prstGeom>
          <a:solidFill>
            <a:srgbClr val="00F5FF">
              <a:alpha val="50000"/>
            </a:srgbClr>
          </a:solidFill>
          <a:ln w="12700">
            <a:solidFill>
              <a:srgbClr val="000000"/>
            </a:solidFill>
            <a:prstDash val="solid"/>
          </a:ln>
        </p:spPr>
      </p:sp>
      <p:sp>
        <p:nvSpPr>
          <p:cNvPr id="35" name="Shape 33"/>
          <p:cNvSpPr/>
          <p:nvPr/>
        </p:nvSpPr>
        <p:spPr>
          <a:xfrm>
            <a:off x="4745736" y="1435608"/>
            <a:ext cx="73152" cy="182880"/>
          </a:xfrm>
          <a:prstGeom prst="rtTriangle">
            <a:avLst/>
          </a:prstGeom>
          <a:solidFill>
            <a:srgbClr val="00F5FF">
              <a:alpha val="50000"/>
            </a:srgbClr>
          </a:solidFill>
          <a:ln w="12700">
            <a:solidFill>
              <a:srgbClr val="000000"/>
            </a:solidFill>
            <a:prstDash val="solid"/>
          </a:ln>
        </p:spPr>
      </p:sp>
      <p:sp>
        <p:nvSpPr>
          <p:cNvPr id="36" name="Shape 34"/>
          <p:cNvSpPr/>
          <p:nvPr/>
        </p:nvSpPr>
        <p:spPr>
          <a:xfrm>
            <a:off x="3163824" y="1920240"/>
            <a:ext cx="1417320" cy="2852928"/>
          </a:xfrm>
          <a:prstGeom prst="roundRect">
            <a:avLst>
              <a:gd name="adj" fmla="val 5161"/>
            </a:avLst>
          </a:prstGeom>
          <a:solidFill>
            <a:srgbClr val="112030"/>
          </a:solidFill>
          <a:ln w="15240">
            <a:solidFill>
              <a:srgbClr val="00F5FF"/>
            </a:solidFill>
            <a:prstDash val="solid"/>
          </a:ln>
          <a:effectLst>
            <a:outerShdw sx="100000" sy="100000" kx="0" ky="0" algn="bl" rotWithShape="0" blurRad="177800" dist="76200" dir="8400000">
              <a:srgbClr val="000000">
                <a:alpha val="55000"/>
              </a:srgbClr>
            </a:outerShdw>
          </a:effectLst>
        </p:spPr>
      </p:sp>
      <p:sp>
        <p:nvSpPr>
          <p:cNvPr id="37" name="Shape 35"/>
          <p:cNvSpPr/>
          <p:nvPr/>
        </p:nvSpPr>
        <p:spPr>
          <a:xfrm>
            <a:off x="3163824" y="1920240"/>
            <a:ext cx="1417320" cy="548640"/>
          </a:xfrm>
          <a:prstGeom prst="roundRect">
            <a:avLst>
              <a:gd name="adj" fmla="val 13333"/>
            </a:avLst>
          </a:prstGeom>
          <a:solidFill>
            <a:srgbClr val="00F5FF">
              <a:alpha val="20000"/>
            </a:srgbClr>
          </a:solidFill>
          <a:ln w="12700">
            <a:solidFill>
              <a:srgbClr val="000000"/>
            </a:solidFill>
            <a:prstDash val="solid"/>
          </a:ln>
        </p:spPr>
      </p:sp>
      <p:sp>
        <p:nvSpPr>
          <p:cNvPr id="38" name="Shape 36"/>
          <p:cNvSpPr/>
          <p:nvPr/>
        </p:nvSpPr>
        <p:spPr>
          <a:xfrm>
            <a:off x="3163824" y="2240280"/>
            <a:ext cx="1417320" cy="228600"/>
          </a:xfrm>
          <a:prstGeom prst="rect">
            <a:avLst/>
          </a:prstGeom>
          <a:solidFill>
            <a:srgbClr val="00F5FF">
              <a:alpha val="20000"/>
            </a:srgbClr>
          </a:solidFill>
          <a:ln w="12700">
            <a:solidFill>
              <a:srgbClr val="000000"/>
            </a:solidFill>
            <a:prstDash val="solid"/>
          </a:ln>
        </p:spPr>
      </p:sp>
      <p:sp>
        <p:nvSpPr>
          <p:cNvPr id="39" name="Text 37"/>
          <p:cNvSpPr/>
          <p:nvPr/>
        </p:nvSpPr>
        <p:spPr>
          <a:xfrm>
            <a:off x="3163824"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40" name="Text 38"/>
          <p:cNvSpPr/>
          <p:nvPr/>
        </p:nvSpPr>
        <p:spPr>
          <a:xfrm>
            <a:off x="3236976" y="2514600"/>
            <a:ext cx="1280160" cy="274320"/>
          </a:xfrm>
          <a:prstGeom prst="rect">
            <a:avLst/>
          </a:prstGeom>
          <a:noFill/>
          <a:ln/>
        </p:spPr>
        <p:txBody>
          <a:bodyPr wrap="square" lIns="0" tIns="0" rIns="0" bIns="0" rtlCol="0" anchor="ctr"/>
          <a:lstStyle/>
          <a:p>
            <a:pPr indent="0" marL="0">
              <a:buNone/>
            </a:pPr>
            <a:r>
              <a:rPr lang="en-US" sz="1150" b="1" dirty="0">
                <a:solidFill>
                  <a:srgbClr val="00F5FF"/>
                </a:solidFill>
                <a:latin typeface="Calibri" pitchFamily="34" charset="0"/>
                <a:ea typeface="Calibri" pitchFamily="34" charset="-122"/>
                <a:cs typeface="Calibri" pitchFamily="34" charset="-120"/>
              </a:rPr>
              <a:t>AI Classify</a:t>
            </a:r>
            <a:endParaRPr lang="en-US" sz="1150" dirty="0"/>
          </a:p>
        </p:txBody>
      </p:sp>
      <p:sp>
        <p:nvSpPr>
          <p:cNvPr id="41" name="Text 39"/>
          <p:cNvSpPr/>
          <p:nvPr/>
        </p:nvSpPr>
        <p:spPr>
          <a:xfrm>
            <a:off x="3236976"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Score + category</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flagged</a:t>
            </a:r>
            <a:endParaRPr lang="en-US" sz="920" dirty="0"/>
          </a:p>
        </p:txBody>
      </p:sp>
      <p:sp>
        <p:nvSpPr>
          <p:cNvPr id="42" name="Shape 40"/>
          <p:cNvSpPr/>
          <p:nvPr/>
        </p:nvSpPr>
        <p:spPr>
          <a:xfrm>
            <a:off x="3163824" y="4069080"/>
            <a:ext cx="1417320" cy="658368"/>
          </a:xfrm>
          <a:prstGeom prst="rect">
            <a:avLst/>
          </a:prstGeom>
          <a:solidFill>
            <a:srgbClr val="010810"/>
          </a:solidFill>
          <a:ln w="7620">
            <a:solidFill>
              <a:srgbClr val="00F5FF"/>
            </a:solidFill>
            <a:prstDash val="solid"/>
          </a:ln>
        </p:spPr>
      </p:sp>
      <p:sp>
        <p:nvSpPr>
          <p:cNvPr id="43" name="Text 41"/>
          <p:cNvSpPr/>
          <p:nvPr/>
        </p:nvSpPr>
        <p:spPr>
          <a:xfrm>
            <a:off x="3163824" y="4069080"/>
            <a:ext cx="1417320" cy="658368"/>
          </a:xfrm>
          <a:prstGeom prst="rect">
            <a:avLst/>
          </a:prstGeom>
          <a:noFill/>
          <a:ln/>
        </p:spPr>
        <p:txBody>
          <a:bodyPr wrap="square" rtlCol="0" anchor="ctr"/>
          <a:lstStyle/>
          <a:p>
            <a:pPr algn="ctr" indent="0" marL="0">
              <a:buNone/>
            </a:pPr>
            <a:r>
              <a:rPr lang="en-US" sz="1200" b="1" dirty="0">
                <a:solidFill>
                  <a:srgbClr val="00F5FF"/>
                </a:solidFill>
                <a:latin typeface="Consolas" pitchFamily="34" charset="0"/>
                <a:ea typeface="Consolas" pitchFamily="34" charset="-122"/>
                <a:cs typeface="Consolas" pitchFamily="34" charset="-120"/>
              </a:rPr>
              <a:t>AI🧠</a:t>
            </a:r>
            <a:endParaRPr lang="en-US" sz="1200" dirty="0"/>
          </a:p>
        </p:txBody>
      </p:sp>
      <p:sp>
        <p:nvSpPr>
          <p:cNvPr id="44" name="Shape 42"/>
          <p:cNvSpPr/>
          <p:nvPr/>
        </p:nvSpPr>
        <p:spPr>
          <a:xfrm>
            <a:off x="5029200" y="1243584"/>
            <a:ext cx="566928" cy="566928"/>
          </a:xfrm>
          <a:prstGeom prst="ellipse">
            <a:avLst/>
          </a:prstGeom>
          <a:solidFill>
            <a:srgbClr val="00FF88"/>
          </a:solidFill>
          <a:ln w="12700">
            <a:solidFill>
              <a:srgbClr val="000000"/>
            </a:solidFill>
            <a:prstDash val="solid"/>
          </a:ln>
          <a:effectLst>
            <a:outerShdw sx="100000" sy="100000" kx="0" ky="0" algn="bl" rotWithShape="0" blurRad="279400" dist="50800" dir="16200000">
              <a:srgbClr val="00FF88">
                <a:alpha val="60000"/>
              </a:srgbClr>
            </a:outerShdw>
          </a:effectLst>
        </p:spPr>
      </p:sp>
      <p:sp>
        <p:nvSpPr>
          <p:cNvPr id="45" name="Text 43"/>
          <p:cNvSpPr/>
          <p:nvPr/>
        </p:nvSpPr>
        <p:spPr>
          <a:xfrm>
            <a:off x="5029200"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4</a:t>
            </a:r>
            <a:endParaRPr lang="en-US" sz="1700" dirty="0"/>
          </a:p>
        </p:txBody>
      </p:sp>
      <p:sp>
        <p:nvSpPr>
          <p:cNvPr id="46" name="Shape 44"/>
          <p:cNvSpPr/>
          <p:nvPr/>
        </p:nvSpPr>
        <p:spPr>
          <a:xfrm>
            <a:off x="5971032" y="1499616"/>
            <a:ext cx="292608" cy="32004"/>
          </a:xfrm>
          <a:prstGeom prst="rect">
            <a:avLst/>
          </a:prstGeom>
          <a:solidFill>
            <a:srgbClr val="00FF88">
              <a:alpha val="50000"/>
            </a:srgbClr>
          </a:solidFill>
          <a:ln w="12700">
            <a:solidFill>
              <a:srgbClr val="000000"/>
            </a:solidFill>
            <a:prstDash val="solid"/>
          </a:ln>
        </p:spPr>
      </p:sp>
      <p:sp>
        <p:nvSpPr>
          <p:cNvPr id="47" name="Shape 45"/>
          <p:cNvSpPr/>
          <p:nvPr/>
        </p:nvSpPr>
        <p:spPr>
          <a:xfrm>
            <a:off x="6227064" y="1435608"/>
            <a:ext cx="73152" cy="182880"/>
          </a:xfrm>
          <a:prstGeom prst="rtTriangle">
            <a:avLst/>
          </a:prstGeom>
          <a:solidFill>
            <a:srgbClr val="00FF88">
              <a:alpha val="50000"/>
            </a:srgbClr>
          </a:solidFill>
          <a:ln w="12700">
            <a:solidFill>
              <a:srgbClr val="000000"/>
            </a:solidFill>
            <a:prstDash val="solid"/>
          </a:ln>
        </p:spPr>
      </p:sp>
      <p:sp>
        <p:nvSpPr>
          <p:cNvPr id="48" name="Shape 46"/>
          <p:cNvSpPr/>
          <p:nvPr/>
        </p:nvSpPr>
        <p:spPr>
          <a:xfrm>
            <a:off x="4645152" y="1920240"/>
            <a:ext cx="1417320" cy="2852928"/>
          </a:xfrm>
          <a:prstGeom prst="roundRect">
            <a:avLst>
              <a:gd name="adj" fmla="val 5161"/>
            </a:avLst>
          </a:prstGeom>
          <a:solidFill>
            <a:srgbClr val="112030"/>
          </a:solidFill>
          <a:ln w="15240">
            <a:solidFill>
              <a:srgbClr val="00FF88"/>
            </a:solidFill>
            <a:prstDash val="solid"/>
          </a:ln>
          <a:effectLst>
            <a:outerShdw sx="100000" sy="100000" kx="0" ky="0" algn="bl" rotWithShape="0" blurRad="177800" dist="76200" dir="8400000">
              <a:srgbClr val="000000">
                <a:alpha val="55000"/>
              </a:srgbClr>
            </a:outerShdw>
          </a:effectLst>
        </p:spPr>
      </p:sp>
      <p:sp>
        <p:nvSpPr>
          <p:cNvPr id="49" name="Shape 47"/>
          <p:cNvSpPr/>
          <p:nvPr/>
        </p:nvSpPr>
        <p:spPr>
          <a:xfrm>
            <a:off x="4645152" y="1920240"/>
            <a:ext cx="1417320" cy="548640"/>
          </a:xfrm>
          <a:prstGeom prst="roundRect">
            <a:avLst>
              <a:gd name="adj" fmla="val 13333"/>
            </a:avLst>
          </a:prstGeom>
          <a:solidFill>
            <a:srgbClr val="00FF88">
              <a:alpha val="20000"/>
            </a:srgbClr>
          </a:solidFill>
          <a:ln w="12700">
            <a:solidFill>
              <a:srgbClr val="000000"/>
            </a:solidFill>
            <a:prstDash val="solid"/>
          </a:ln>
        </p:spPr>
      </p:sp>
      <p:sp>
        <p:nvSpPr>
          <p:cNvPr id="50" name="Shape 48"/>
          <p:cNvSpPr/>
          <p:nvPr/>
        </p:nvSpPr>
        <p:spPr>
          <a:xfrm>
            <a:off x="4645152" y="2240280"/>
            <a:ext cx="1417320" cy="228600"/>
          </a:xfrm>
          <a:prstGeom prst="rect">
            <a:avLst/>
          </a:prstGeom>
          <a:solidFill>
            <a:srgbClr val="00FF88">
              <a:alpha val="20000"/>
            </a:srgbClr>
          </a:solidFill>
          <a:ln w="12700">
            <a:solidFill>
              <a:srgbClr val="000000"/>
            </a:solidFill>
            <a:prstDash val="solid"/>
          </a:ln>
        </p:spPr>
      </p:sp>
      <p:sp>
        <p:nvSpPr>
          <p:cNvPr id="51" name="Text 49"/>
          <p:cNvSpPr/>
          <p:nvPr/>
        </p:nvSpPr>
        <p:spPr>
          <a:xfrm>
            <a:off x="4645152"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52" name="Text 50"/>
          <p:cNvSpPr/>
          <p:nvPr/>
        </p:nvSpPr>
        <p:spPr>
          <a:xfrm>
            <a:off x="4718304" y="2514600"/>
            <a:ext cx="1280160" cy="274320"/>
          </a:xfrm>
          <a:prstGeom prst="rect">
            <a:avLst/>
          </a:prstGeom>
          <a:noFill/>
          <a:ln/>
        </p:spPr>
        <p:txBody>
          <a:bodyPr wrap="square" lIns="0" tIns="0" rIns="0" bIns="0" rtlCol="0" anchor="ctr"/>
          <a:lstStyle/>
          <a:p>
            <a:pPr indent="0" marL="0">
              <a:buNone/>
            </a:pPr>
            <a:r>
              <a:rPr lang="en-US" sz="1150" b="1" dirty="0">
                <a:solidFill>
                  <a:srgbClr val="00FF88"/>
                </a:solidFill>
                <a:latin typeface="Calibri" pitchFamily="34" charset="0"/>
                <a:ea typeface="Calibri" pitchFamily="34" charset="-122"/>
                <a:cs typeface="Calibri" pitchFamily="34" charset="-120"/>
              </a:rPr>
              <a:t>Blockchain</a:t>
            </a:r>
            <a:endParaRPr lang="en-US" sz="1150" dirty="0"/>
          </a:p>
        </p:txBody>
      </p:sp>
      <p:sp>
        <p:nvSpPr>
          <p:cNvPr id="53" name="Text 51"/>
          <p:cNvSpPr/>
          <p:nvPr/>
        </p:nvSpPr>
        <p:spPr>
          <a:xfrm>
            <a:off x="4718304"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Permanent block</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created</a:t>
            </a:r>
            <a:endParaRPr lang="en-US" sz="920" dirty="0"/>
          </a:p>
        </p:txBody>
      </p:sp>
      <p:sp>
        <p:nvSpPr>
          <p:cNvPr id="54" name="Shape 52"/>
          <p:cNvSpPr/>
          <p:nvPr/>
        </p:nvSpPr>
        <p:spPr>
          <a:xfrm>
            <a:off x="4645152" y="4069080"/>
            <a:ext cx="1417320" cy="658368"/>
          </a:xfrm>
          <a:prstGeom prst="rect">
            <a:avLst/>
          </a:prstGeom>
          <a:solidFill>
            <a:srgbClr val="010810"/>
          </a:solidFill>
          <a:ln w="7620">
            <a:solidFill>
              <a:srgbClr val="00FF88"/>
            </a:solidFill>
            <a:prstDash val="solid"/>
          </a:ln>
        </p:spPr>
      </p:sp>
      <p:sp>
        <p:nvSpPr>
          <p:cNvPr id="55" name="Text 53"/>
          <p:cNvSpPr/>
          <p:nvPr/>
        </p:nvSpPr>
        <p:spPr>
          <a:xfrm>
            <a:off x="4645152" y="4069080"/>
            <a:ext cx="1417320" cy="658368"/>
          </a:xfrm>
          <a:prstGeom prst="rect">
            <a:avLst/>
          </a:prstGeom>
          <a:noFill/>
          <a:ln/>
        </p:spPr>
        <p:txBody>
          <a:bodyPr wrap="square" rtlCol="0" anchor="ctr"/>
          <a:lstStyle/>
          <a:p>
            <a:pPr algn="ctr" indent="0" marL="0">
              <a:buNone/>
            </a:pPr>
            <a:r>
              <a:rPr lang="en-US" sz="1200" b="1" dirty="0">
                <a:solidFill>
                  <a:srgbClr val="00FF88"/>
                </a:solidFill>
                <a:latin typeface="Consolas" pitchFamily="34" charset="0"/>
                <a:ea typeface="Consolas" pitchFamily="34" charset="-122"/>
                <a:cs typeface="Consolas" pitchFamily="34" charset="-120"/>
              </a:rPr>
              <a:t>Hash⛓</a:t>
            </a:r>
            <a:endParaRPr lang="en-US" sz="1200" dirty="0"/>
          </a:p>
        </p:txBody>
      </p:sp>
      <p:sp>
        <p:nvSpPr>
          <p:cNvPr id="56" name="Shape 54"/>
          <p:cNvSpPr/>
          <p:nvPr/>
        </p:nvSpPr>
        <p:spPr>
          <a:xfrm>
            <a:off x="6510528" y="1243584"/>
            <a:ext cx="566928" cy="566928"/>
          </a:xfrm>
          <a:prstGeom prst="ellipse">
            <a:avLst/>
          </a:prstGeom>
          <a:solidFill>
            <a:srgbClr val="FFCC00"/>
          </a:solidFill>
          <a:ln w="12700">
            <a:solidFill>
              <a:srgbClr val="000000"/>
            </a:solidFill>
            <a:prstDash val="solid"/>
          </a:ln>
          <a:effectLst>
            <a:outerShdw sx="100000" sy="100000" kx="0" ky="0" algn="bl" rotWithShape="0" blurRad="279400" dist="50800" dir="16200000">
              <a:srgbClr val="FFCC00">
                <a:alpha val="60000"/>
              </a:srgbClr>
            </a:outerShdw>
          </a:effectLst>
        </p:spPr>
      </p:sp>
      <p:sp>
        <p:nvSpPr>
          <p:cNvPr id="57" name="Text 55"/>
          <p:cNvSpPr/>
          <p:nvPr/>
        </p:nvSpPr>
        <p:spPr>
          <a:xfrm>
            <a:off x="6510528"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5</a:t>
            </a:r>
            <a:endParaRPr lang="en-US" sz="1700" dirty="0"/>
          </a:p>
        </p:txBody>
      </p:sp>
      <p:sp>
        <p:nvSpPr>
          <p:cNvPr id="58" name="Shape 56"/>
          <p:cNvSpPr/>
          <p:nvPr/>
        </p:nvSpPr>
        <p:spPr>
          <a:xfrm>
            <a:off x="7452360" y="1499616"/>
            <a:ext cx="292608" cy="32004"/>
          </a:xfrm>
          <a:prstGeom prst="rect">
            <a:avLst/>
          </a:prstGeom>
          <a:solidFill>
            <a:srgbClr val="FFCC00">
              <a:alpha val="50000"/>
            </a:srgbClr>
          </a:solidFill>
          <a:ln w="12700">
            <a:solidFill>
              <a:srgbClr val="000000"/>
            </a:solidFill>
            <a:prstDash val="solid"/>
          </a:ln>
        </p:spPr>
      </p:sp>
      <p:sp>
        <p:nvSpPr>
          <p:cNvPr id="59" name="Shape 57"/>
          <p:cNvSpPr/>
          <p:nvPr/>
        </p:nvSpPr>
        <p:spPr>
          <a:xfrm>
            <a:off x="7708392" y="1435608"/>
            <a:ext cx="73152" cy="182880"/>
          </a:xfrm>
          <a:prstGeom prst="rtTriangle">
            <a:avLst/>
          </a:prstGeom>
          <a:solidFill>
            <a:srgbClr val="FFCC00">
              <a:alpha val="50000"/>
            </a:srgbClr>
          </a:solidFill>
          <a:ln w="12700">
            <a:solidFill>
              <a:srgbClr val="000000"/>
            </a:solidFill>
            <a:prstDash val="solid"/>
          </a:ln>
        </p:spPr>
      </p:sp>
      <p:sp>
        <p:nvSpPr>
          <p:cNvPr id="60" name="Shape 58"/>
          <p:cNvSpPr/>
          <p:nvPr/>
        </p:nvSpPr>
        <p:spPr>
          <a:xfrm>
            <a:off x="6126480" y="1920240"/>
            <a:ext cx="1417320" cy="2852928"/>
          </a:xfrm>
          <a:prstGeom prst="roundRect">
            <a:avLst>
              <a:gd name="adj" fmla="val 5161"/>
            </a:avLst>
          </a:prstGeom>
          <a:solidFill>
            <a:srgbClr val="112030"/>
          </a:solidFill>
          <a:ln w="15240">
            <a:solidFill>
              <a:srgbClr val="FFCC00"/>
            </a:solidFill>
            <a:prstDash val="solid"/>
          </a:ln>
          <a:effectLst>
            <a:outerShdw sx="100000" sy="100000" kx="0" ky="0" algn="bl" rotWithShape="0" blurRad="177800" dist="76200" dir="8400000">
              <a:srgbClr val="000000">
                <a:alpha val="55000"/>
              </a:srgbClr>
            </a:outerShdw>
          </a:effectLst>
        </p:spPr>
      </p:sp>
      <p:sp>
        <p:nvSpPr>
          <p:cNvPr id="61" name="Shape 59"/>
          <p:cNvSpPr/>
          <p:nvPr/>
        </p:nvSpPr>
        <p:spPr>
          <a:xfrm>
            <a:off x="6126480" y="1920240"/>
            <a:ext cx="1417320" cy="548640"/>
          </a:xfrm>
          <a:prstGeom prst="roundRect">
            <a:avLst>
              <a:gd name="adj" fmla="val 13333"/>
            </a:avLst>
          </a:prstGeom>
          <a:solidFill>
            <a:srgbClr val="FFCC00">
              <a:alpha val="20000"/>
            </a:srgbClr>
          </a:solidFill>
          <a:ln w="12700">
            <a:solidFill>
              <a:srgbClr val="000000"/>
            </a:solidFill>
            <a:prstDash val="solid"/>
          </a:ln>
        </p:spPr>
      </p:sp>
      <p:sp>
        <p:nvSpPr>
          <p:cNvPr id="62" name="Shape 60"/>
          <p:cNvSpPr/>
          <p:nvPr/>
        </p:nvSpPr>
        <p:spPr>
          <a:xfrm>
            <a:off x="6126480" y="2240280"/>
            <a:ext cx="1417320" cy="228600"/>
          </a:xfrm>
          <a:prstGeom prst="rect">
            <a:avLst/>
          </a:prstGeom>
          <a:solidFill>
            <a:srgbClr val="FFCC00">
              <a:alpha val="20000"/>
            </a:srgbClr>
          </a:solidFill>
          <a:ln w="12700">
            <a:solidFill>
              <a:srgbClr val="000000"/>
            </a:solidFill>
            <a:prstDash val="solid"/>
          </a:ln>
        </p:spPr>
      </p:sp>
      <p:sp>
        <p:nvSpPr>
          <p:cNvPr id="63" name="Text 61"/>
          <p:cNvSpPr/>
          <p:nvPr/>
        </p:nvSpPr>
        <p:spPr>
          <a:xfrm>
            <a:off x="6126480"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64" name="Text 62"/>
          <p:cNvSpPr/>
          <p:nvPr/>
        </p:nvSpPr>
        <p:spPr>
          <a:xfrm>
            <a:off x="6199632" y="2514600"/>
            <a:ext cx="1280160" cy="274320"/>
          </a:xfrm>
          <a:prstGeom prst="rect">
            <a:avLst/>
          </a:prstGeom>
          <a:noFill/>
          <a:ln/>
        </p:spPr>
        <p:txBody>
          <a:bodyPr wrap="square" lIns="0" tIns="0" rIns="0" bIns="0" rtlCol="0" anchor="ctr"/>
          <a:lstStyle/>
          <a:p>
            <a:pPr indent="0" marL="0">
              <a:buNone/>
            </a:pPr>
            <a:r>
              <a:rPr lang="en-US" sz="1150" b="1" dirty="0">
                <a:solidFill>
                  <a:srgbClr val="FFCC00"/>
                </a:solidFill>
                <a:latin typeface="Calibri" pitchFamily="34" charset="0"/>
                <a:ea typeface="Calibri" pitchFamily="34" charset="-122"/>
                <a:cs typeface="Calibri" pitchFamily="34" charset="-120"/>
              </a:rPr>
              <a:t>Auto-Assign</a:t>
            </a:r>
            <a:endParaRPr lang="en-US" sz="1150" dirty="0"/>
          </a:p>
        </p:txBody>
      </p:sp>
      <p:sp>
        <p:nvSpPr>
          <p:cNvPr id="65" name="Text 63"/>
          <p:cNvSpPr/>
          <p:nvPr/>
        </p:nvSpPr>
        <p:spPr>
          <a:xfrm>
            <a:off x="6199632"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Officer matched</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auto</a:t>
            </a:r>
            <a:endParaRPr lang="en-US" sz="920" dirty="0"/>
          </a:p>
        </p:txBody>
      </p:sp>
      <p:sp>
        <p:nvSpPr>
          <p:cNvPr id="66" name="Shape 64"/>
          <p:cNvSpPr/>
          <p:nvPr/>
        </p:nvSpPr>
        <p:spPr>
          <a:xfrm>
            <a:off x="6126480" y="4069080"/>
            <a:ext cx="1417320" cy="658368"/>
          </a:xfrm>
          <a:prstGeom prst="rect">
            <a:avLst/>
          </a:prstGeom>
          <a:solidFill>
            <a:srgbClr val="010810"/>
          </a:solidFill>
          <a:ln w="7620">
            <a:solidFill>
              <a:srgbClr val="FFCC00"/>
            </a:solidFill>
            <a:prstDash val="solid"/>
          </a:ln>
        </p:spPr>
      </p:sp>
      <p:sp>
        <p:nvSpPr>
          <p:cNvPr id="67" name="Text 65"/>
          <p:cNvSpPr/>
          <p:nvPr/>
        </p:nvSpPr>
        <p:spPr>
          <a:xfrm>
            <a:off x="6126480" y="4069080"/>
            <a:ext cx="1417320" cy="658368"/>
          </a:xfrm>
          <a:prstGeom prst="rect">
            <a:avLst/>
          </a:prstGeom>
          <a:noFill/>
          <a:ln/>
        </p:spPr>
        <p:txBody>
          <a:bodyPr wrap="square" rtlCol="0" anchor="ctr"/>
          <a:lstStyle/>
          <a:p>
            <a:pPr algn="ctr" indent="0" marL="0">
              <a:buNone/>
            </a:pPr>
            <a:r>
              <a:rPr lang="en-US" sz="1200" b="1" dirty="0">
                <a:solidFill>
                  <a:srgbClr val="FFCC00"/>
                </a:solidFill>
                <a:latin typeface="Consolas" pitchFamily="34" charset="0"/>
                <a:ea typeface="Consolas" pitchFamily="34" charset="-122"/>
                <a:cs typeface="Consolas" pitchFamily="34" charset="-120"/>
              </a:rPr>
              <a:t>Auto👮</a:t>
            </a:r>
            <a:endParaRPr lang="en-US" sz="1200" dirty="0"/>
          </a:p>
        </p:txBody>
      </p:sp>
      <p:sp>
        <p:nvSpPr>
          <p:cNvPr id="68" name="Shape 66"/>
          <p:cNvSpPr/>
          <p:nvPr/>
        </p:nvSpPr>
        <p:spPr>
          <a:xfrm>
            <a:off x="7991856" y="1243584"/>
            <a:ext cx="566928" cy="566928"/>
          </a:xfrm>
          <a:prstGeom prst="ellipse">
            <a:avLst/>
          </a:prstGeom>
          <a:solidFill>
            <a:srgbClr val="00FFD1"/>
          </a:solidFill>
          <a:ln w="12700">
            <a:solidFill>
              <a:srgbClr val="000000"/>
            </a:solidFill>
            <a:prstDash val="solid"/>
          </a:ln>
          <a:effectLst>
            <a:outerShdw sx="100000" sy="100000" kx="0" ky="0" algn="bl" rotWithShape="0" blurRad="279400" dist="50800" dir="16200000">
              <a:srgbClr val="00FFD1">
                <a:alpha val="60000"/>
              </a:srgbClr>
            </a:outerShdw>
          </a:effectLst>
        </p:spPr>
      </p:sp>
      <p:sp>
        <p:nvSpPr>
          <p:cNvPr id="69" name="Text 67"/>
          <p:cNvSpPr/>
          <p:nvPr/>
        </p:nvSpPr>
        <p:spPr>
          <a:xfrm>
            <a:off x="7991856" y="1243584"/>
            <a:ext cx="566928" cy="566928"/>
          </a:xfrm>
          <a:prstGeom prst="rect">
            <a:avLst/>
          </a:prstGeom>
          <a:noFill/>
          <a:ln/>
        </p:spPr>
        <p:txBody>
          <a:bodyPr wrap="square" lIns="0" tIns="0" rIns="0" bIns="0" rtlCol="0" anchor="ctr"/>
          <a:lstStyle/>
          <a:p>
            <a:pPr algn="ctr" indent="0" marL="0">
              <a:buNone/>
            </a:pPr>
            <a:r>
              <a:rPr lang="en-US" sz="1700" b="1" dirty="0">
                <a:solidFill>
                  <a:srgbClr val="000000"/>
                </a:solidFill>
                <a:latin typeface="Consolas" pitchFamily="34" charset="0"/>
                <a:ea typeface="Consolas" pitchFamily="34" charset="-122"/>
                <a:cs typeface="Consolas" pitchFamily="34" charset="-120"/>
              </a:rPr>
              <a:t>6</a:t>
            </a:r>
            <a:endParaRPr lang="en-US" sz="1700" dirty="0"/>
          </a:p>
        </p:txBody>
      </p:sp>
      <p:sp>
        <p:nvSpPr>
          <p:cNvPr id="70" name="Shape 68"/>
          <p:cNvSpPr/>
          <p:nvPr/>
        </p:nvSpPr>
        <p:spPr>
          <a:xfrm>
            <a:off x="7607808" y="1920240"/>
            <a:ext cx="1417320" cy="2852928"/>
          </a:xfrm>
          <a:prstGeom prst="roundRect">
            <a:avLst>
              <a:gd name="adj" fmla="val 5161"/>
            </a:avLst>
          </a:prstGeom>
          <a:solidFill>
            <a:srgbClr val="112030"/>
          </a:solidFill>
          <a:ln w="15240">
            <a:solidFill>
              <a:srgbClr val="00FFD1"/>
            </a:solidFill>
            <a:prstDash val="solid"/>
          </a:ln>
          <a:effectLst>
            <a:outerShdw sx="100000" sy="100000" kx="0" ky="0" algn="bl" rotWithShape="0" blurRad="177800" dist="76200" dir="8400000">
              <a:srgbClr val="000000">
                <a:alpha val="55000"/>
              </a:srgbClr>
            </a:outerShdw>
          </a:effectLst>
        </p:spPr>
      </p:sp>
      <p:sp>
        <p:nvSpPr>
          <p:cNvPr id="71" name="Shape 69"/>
          <p:cNvSpPr/>
          <p:nvPr/>
        </p:nvSpPr>
        <p:spPr>
          <a:xfrm>
            <a:off x="7607808" y="1920240"/>
            <a:ext cx="1417320" cy="548640"/>
          </a:xfrm>
          <a:prstGeom prst="roundRect">
            <a:avLst>
              <a:gd name="adj" fmla="val 13333"/>
            </a:avLst>
          </a:prstGeom>
          <a:solidFill>
            <a:srgbClr val="00FFD1">
              <a:alpha val="20000"/>
            </a:srgbClr>
          </a:solidFill>
          <a:ln w="12700">
            <a:solidFill>
              <a:srgbClr val="000000"/>
            </a:solidFill>
            <a:prstDash val="solid"/>
          </a:ln>
        </p:spPr>
      </p:sp>
      <p:sp>
        <p:nvSpPr>
          <p:cNvPr id="72" name="Shape 70"/>
          <p:cNvSpPr/>
          <p:nvPr/>
        </p:nvSpPr>
        <p:spPr>
          <a:xfrm>
            <a:off x="7607808" y="2240280"/>
            <a:ext cx="1417320" cy="228600"/>
          </a:xfrm>
          <a:prstGeom prst="rect">
            <a:avLst/>
          </a:prstGeom>
          <a:solidFill>
            <a:srgbClr val="00FFD1">
              <a:alpha val="20000"/>
            </a:srgbClr>
          </a:solidFill>
          <a:ln w="12700">
            <a:solidFill>
              <a:srgbClr val="000000"/>
            </a:solidFill>
            <a:prstDash val="solid"/>
          </a:ln>
        </p:spPr>
      </p:sp>
      <p:sp>
        <p:nvSpPr>
          <p:cNvPr id="73" name="Text 71"/>
          <p:cNvSpPr/>
          <p:nvPr/>
        </p:nvSpPr>
        <p:spPr>
          <a:xfrm>
            <a:off x="7607808" y="1920240"/>
            <a:ext cx="1417320" cy="548640"/>
          </a:xfrm>
          <a:prstGeom prst="rect">
            <a:avLst/>
          </a:prstGeom>
          <a:noFill/>
          <a:ln/>
        </p:spPr>
        <p:txBody>
          <a:bodyPr wrap="square" lIns="0" tIns="0" rIns="0" bIns="0" rtlCol="0" anchor="ctr"/>
          <a:lstStyle/>
          <a:p>
            <a:pPr algn="ctr" indent="0" marL="0">
              <a:buNone/>
            </a:pPr>
            <a:r>
              <a:rPr lang="en-US" sz="2800" dirty="0">
                <a:solidFill>
                  <a:srgbClr val="000000"/>
                </a:solidFill>
              </a:rPr>
              <a:t>✅</a:t>
            </a:r>
            <a:endParaRPr lang="en-US" sz="2800" dirty="0"/>
          </a:p>
        </p:txBody>
      </p:sp>
      <p:sp>
        <p:nvSpPr>
          <p:cNvPr id="74" name="Text 72"/>
          <p:cNvSpPr/>
          <p:nvPr/>
        </p:nvSpPr>
        <p:spPr>
          <a:xfrm>
            <a:off x="7680960" y="2514600"/>
            <a:ext cx="1280160" cy="274320"/>
          </a:xfrm>
          <a:prstGeom prst="rect">
            <a:avLst/>
          </a:prstGeom>
          <a:noFill/>
          <a:ln/>
        </p:spPr>
        <p:txBody>
          <a:bodyPr wrap="square" lIns="0" tIns="0" rIns="0" bIns="0" rtlCol="0" anchor="ctr"/>
          <a:lstStyle/>
          <a:p>
            <a:pPr indent="0" marL="0">
              <a:buNone/>
            </a:pPr>
            <a:r>
              <a:rPr lang="en-US" sz="1150" b="1" dirty="0">
                <a:solidFill>
                  <a:srgbClr val="00FFD1"/>
                </a:solidFill>
                <a:latin typeface="Calibri" pitchFamily="34" charset="0"/>
                <a:ea typeface="Calibri" pitchFamily="34" charset="-122"/>
                <a:cs typeface="Calibri" pitchFamily="34" charset="-120"/>
              </a:rPr>
              <a:t>Resolve</a:t>
            </a:r>
            <a:endParaRPr lang="en-US" sz="1150" dirty="0"/>
          </a:p>
        </p:txBody>
      </p:sp>
      <p:sp>
        <p:nvSpPr>
          <p:cNvPr id="75" name="Text 73"/>
          <p:cNvSpPr/>
          <p:nvPr/>
        </p:nvSpPr>
        <p:spPr>
          <a:xfrm>
            <a:off x="7680960" y="2834640"/>
            <a:ext cx="1280160" cy="822960"/>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WhatsApp sent</a:t>
            </a:r>
            <a:endParaRPr lang="en-US" sz="920" dirty="0"/>
          </a:p>
          <a:p>
            <a:pPr indent="0" marL="0">
              <a:buNone/>
            </a:pPr>
            <a:r>
              <a:rPr lang="en-US" sz="920" dirty="0">
                <a:solidFill>
                  <a:srgbClr val="3D6080"/>
                </a:solidFill>
                <a:latin typeface="Calibri" pitchFamily="34" charset="0"/>
                <a:ea typeface="Calibri" pitchFamily="34" charset="-122"/>
                <a:cs typeface="Calibri" pitchFamily="34" charset="-120"/>
              </a:rPr>
              <a:t>chain done</a:t>
            </a:r>
            <a:endParaRPr lang="en-US" sz="920" dirty="0"/>
          </a:p>
        </p:txBody>
      </p:sp>
      <p:sp>
        <p:nvSpPr>
          <p:cNvPr id="76" name="Shape 74"/>
          <p:cNvSpPr/>
          <p:nvPr/>
        </p:nvSpPr>
        <p:spPr>
          <a:xfrm>
            <a:off x="7607808" y="4069080"/>
            <a:ext cx="1417320" cy="658368"/>
          </a:xfrm>
          <a:prstGeom prst="rect">
            <a:avLst/>
          </a:prstGeom>
          <a:solidFill>
            <a:srgbClr val="010810"/>
          </a:solidFill>
          <a:ln w="7620">
            <a:solidFill>
              <a:srgbClr val="00FFD1"/>
            </a:solidFill>
            <a:prstDash val="solid"/>
          </a:ln>
        </p:spPr>
      </p:sp>
      <p:sp>
        <p:nvSpPr>
          <p:cNvPr id="77" name="Text 75"/>
          <p:cNvSpPr/>
          <p:nvPr/>
        </p:nvSpPr>
        <p:spPr>
          <a:xfrm>
            <a:off x="7607808" y="4069080"/>
            <a:ext cx="1417320" cy="658368"/>
          </a:xfrm>
          <a:prstGeom prst="rect">
            <a:avLst/>
          </a:prstGeom>
          <a:noFill/>
          <a:ln/>
        </p:spPr>
        <p:txBody>
          <a:bodyPr wrap="square" rtlCol="0" anchor="ctr"/>
          <a:lstStyle/>
          <a:p>
            <a:pPr algn="ctr" indent="0" marL="0">
              <a:buNone/>
            </a:pPr>
            <a:r>
              <a:rPr lang="en-US" sz="1200" b="1" dirty="0">
                <a:solidFill>
                  <a:srgbClr val="00FFD1"/>
                </a:solidFill>
                <a:latin typeface="Consolas" pitchFamily="34" charset="0"/>
                <a:ea typeface="Consolas" pitchFamily="34" charset="-122"/>
                <a:cs typeface="Consolas" pitchFamily="34" charset="-120"/>
              </a:rPr>
              <a:t>Done✅</a:t>
            </a:r>
            <a:endParaRPr lang="en-US" sz="1200" dirty="0"/>
          </a:p>
        </p:txBody>
      </p:sp>
      <p:sp>
        <p:nvSpPr>
          <p:cNvPr id="78" name="Shape 76"/>
          <p:cNvSpPr/>
          <p:nvPr/>
        </p:nvSpPr>
        <p:spPr>
          <a:xfrm>
            <a:off x="274320" y="4846320"/>
            <a:ext cx="8595360" cy="347472"/>
          </a:xfrm>
          <a:prstGeom prst="roundRect">
            <a:avLst>
              <a:gd name="adj" fmla="val 15789"/>
            </a:avLst>
          </a:prstGeom>
          <a:solidFill>
            <a:srgbClr val="010810"/>
          </a:solidFill>
          <a:ln w="16510">
            <a:solidFill>
              <a:srgbClr val="00FF88"/>
            </a:solidFill>
            <a:prstDash val="solid"/>
          </a:ln>
          <a:effectLst>
            <a:outerShdw sx="100000" sy="100000" kx="0" ky="0" algn="bl" rotWithShape="0" blurRad="279400" dist="50800" dir="16200000">
              <a:srgbClr val="00FF88">
                <a:alpha val="30000"/>
              </a:srgbClr>
            </a:outerShdw>
          </a:effectLst>
        </p:spPr>
      </p:sp>
      <p:sp>
        <p:nvSpPr>
          <p:cNvPr id="79" name="Text 77"/>
          <p:cNvSpPr/>
          <p:nvPr/>
        </p:nvSpPr>
        <p:spPr>
          <a:xfrm>
            <a:off x="274320" y="4846320"/>
            <a:ext cx="8595360" cy="347472"/>
          </a:xfrm>
          <a:prstGeom prst="rect">
            <a:avLst/>
          </a:prstGeom>
          <a:noFill/>
          <a:ln/>
        </p:spPr>
        <p:txBody>
          <a:bodyPr wrap="square" rtlCol="0" anchor="ctr"/>
          <a:lstStyle/>
          <a:p>
            <a:pPr algn="ctr" indent="0" marL="0">
              <a:buNone/>
            </a:pPr>
            <a:r>
              <a:rPr lang="en-US" sz="1000" dirty="0">
                <a:solidFill>
                  <a:srgbClr val="00FF88"/>
                </a:solidFill>
                <a:latin typeface="Calibri" pitchFamily="34" charset="0"/>
                <a:ea typeface="Calibri" pitchFamily="34" charset="-122"/>
                <a:cs typeface="Calibri" pitchFamily="34" charset="-120"/>
              </a:rPr>
              <a:t>🤖  Poora process AUTOMATED — complaint file ke baad ZERO human intervention · 24/7 · All 8 AI jobs running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Text 3"/>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FFCC00"/>
                </a:solidFill>
                <a:latin typeface="Consolas" pitchFamily="34" charset="0"/>
                <a:ea typeface="Consolas" pitchFamily="34" charset="-122"/>
                <a:cs typeface="Consolas" pitchFamily="34" charset="-120"/>
              </a:rPr>
              <a:t>TECHNOLOGY STACK</a:t>
            </a:r>
            <a:endParaRPr lang="en-US" sz="750" dirty="0"/>
          </a:p>
        </p:txBody>
      </p:sp>
      <p:sp>
        <p:nvSpPr>
          <p:cNvPr id="6" name="Text 4"/>
          <p:cNvSpPr/>
          <p:nvPr/>
        </p:nvSpPr>
        <p:spPr>
          <a:xfrm>
            <a:off x="365760" y="292608"/>
            <a:ext cx="8412480" cy="530352"/>
          </a:xfrm>
          <a:prstGeom prst="rect">
            <a:avLst/>
          </a:prstGeom>
          <a:noFill/>
          <a:ln/>
        </p:spPr>
        <p:txBody>
          <a:bodyPr wrap="square" rtlCol="0" anchor="ctr"/>
          <a:lstStyle/>
          <a:p>
            <a:pPr algn="ctr" indent="0" marL="0">
              <a:buNone/>
            </a:pPr>
            <a:r>
              <a:rPr lang="en-US" sz="3200" b="1" dirty="0">
                <a:solidFill>
                  <a:srgbClr val="EEF6FF"/>
                </a:solidFill>
                <a:latin typeface="Calibri" pitchFamily="34" charset="0"/>
                <a:ea typeface="Calibri" pitchFamily="34" charset="-122"/>
                <a:cs typeface="Calibri" pitchFamily="34" charset="-120"/>
              </a:rPr>
              <a:t>Fully Deployed  ·  Zero Cost  ·  Production Ready</a:t>
            </a:r>
            <a:endParaRPr lang="en-US" sz="3200" dirty="0"/>
          </a:p>
        </p:txBody>
      </p:sp>
      <p:sp>
        <p:nvSpPr>
          <p:cNvPr id="7" name="Shape 5"/>
          <p:cNvSpPr/>
          <p:nvPr/>
        </p:nvSpPr>
        <p:spPr>
          <a:xfrm>
            <a:off x="274320" y="987552"/>
            <a:ext cx="4297680" cy="822960"/>
          </a:xfrm>
          <a:prstGeom prst="roundRect">
            <a:avLst>
              <a:gd name="adj" fmla="val 7778"/>
            </a:avLst>
          </a:prstGeom>
          <a:solidFill>
            <a:srgbClr val="112030"/>
          </a:solidFill>
          <a:ln w="12700">
            <a:solidFill>
              <a:srgbClr val="3D8EFF"/>
            </a:solidFill>
            <a:prstDash val="solid"/>
          </a:ln>
          <a:effectLst>
            <a:outerShdw sx="100000" sy="100000" kx="0" ky="0" algn="bl" rotWithShape="0" blurRad="279400" dist="50800" dir="16200000">
              <a:srgbClr val="3D8EFF">
                <a:alpha val="15000"/>
              </a:srgbClr>
            </a:outerShdw>
          </a:effectLst>
        </p:spPr>
      </p:sp>
      <p:sp>
        <p:nvSpPr>
          <p:cNvPr id="8" name="Shape 6"/>
          <p:cNvSpPr/>
          <p:nvPr/>
        </p:nvSpPr>
        <p:spPr>
          <a:xfrm>
            <a:off x="274320" y="987552"/>
            <a:ext cx="713232" cy="822960"/>
          </a:xfrm>
          <a:prstGeom prst="roundRect">
            <a:avLst>
              <a:gd name="adj" fmla="val 8974"/>
            </a:avLst>
          </a:prstGeom>
          <a:solidFill>
            <a:srgbClr val="3D8EFF">
              <a:alpha val="18000"/>
            </a:srgbClr>
          </a:solidFill>
          <a:ln w="12700">
            <a:solidFill>
              <a:srgbClr val="000000"/>
            </a:solidFill>
            <a:prstDash val="solid"/>
          </a:ln>
        </p:spPr>
      </p:sp>
      <p:sp>
        <p:nvSpPr>
          <p:cNvPr id="9" name="Shape 7"/>
          <p:cNvSpPr/>
          <p:nvPr/>
        </p:nvSpPr>
        <p:spPr>
          <a:xfrm>
            <a:off x="713232" y="987552"/>
            <a:ext cx="274320" cy="822960"/>
          </a:xfrm>
          <a:prstGeom prst="rect">
            <a:avLst/>
          </a:prstGeom>
          <a:solidFill>
            <a:srgbClr val="3D8EFF">
              <a:alpha val="18000"/>
            </a:srgbClr>
          </a:solidFill>
          <a:ln w="12700">
            <a:solidFill>
              <a:srgbClr val="000000"/>
            </a:solidFill>
            <a:prstDash val="solid"/>
          </a:ln>
        </p:spPr>
      </p:sp>
      <p:sp>
        <p:nvSpPr>
          <p:cNvPr id="10" name="Text 8"/>
          <p:cNvSpPr/>
          <p:nvPr/>
        </p:nvSpPr>
        <p:spPr>
          <a:xfrm>
            <a:off x="274320" y="987552"/>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Text 9"/>
          <p:cNvSpPr/>
          <p:nvPr/>
        </p:nvSpPr>
        <p:spPr>
          <a:xfrm>
            <a:off x="1078992" y="1060704"/>
            <a:ext cx="1371600" cy="237744"/>
          </a:xfrm>
          <a:prstGeom prst="rect">
            <a:avLst/>
          </a:prstGeom>
          <a:noFill/>
          <a:ln/>
        </p:spPr>
        <p:txBody>
          <a:bodyPr wrap="square" lIns="0" tIns="0" rIns="0" bIns="0" rtlCol="0" anchor="ctr"/>
          <a:lstStyle/>
          <a:p>
            <a:pPr indent="0" marL="0">
              <a:buNone/>
            </a:pPr>
            <a:r>
              <a:rPr lang="en-US" sz="900" b="1" spc="100" kern="0" dirty="0">
                <a:solidFill>
                  <a:srgbClr val="3D8EFF"/>
                </a:solidFill>
                <a:latin typeface="Consolas" pitchFamily="34" charset="0"/>
                <a:ea typeface="Consolas" pitchFamily="34" charset="-122"/>
                <a:cs typeface="Consolas" pitchFamily="34" charset="-120"/>
              </a:rPr>
              <a:t>FRONTEND</a:t>
            </a:r>
            <a:endParaRPr lang="en-US" sz="900" dirty="0"/>
          </a:p>
        </p:txBody>
      </p:sp>
      <p:sp>
        <p:nvSpPr>
          <p:cNvPr id="12" name="Text 10"/>
          <p:cNvSpPr/>
          <p:nvPr/>
        </p:nvSpPr>
        <p:spPr>
          <a:xfrm>
            <a:off x="1078992" y="1316736"/>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React 18  ·  Vite 7  ·  Pure CSS-in-JS  ·  No external UI library</a:t>
            </a:r>
            <a:endParaRPr lang="en-US" sz="920" dirty="0"/>
          </a:p>
        </p:txBody>
      </p:sp>
      <p:sp>
        <p:nvSpPr>
          <p:cNvPr id="13" name="Shape 11"/>
          <p:cNvSpPr/>
          <p:nvPr/>
        </p:nvSpPr>
        <p:spPr>
          <a:xfrm>
            <a:off x="4736592" y="987552"/>
            <a:ext cx="4297680" cy="822960"/>
          </a:xfrm>
          <a:prstGeom prst="roundRect">
            <a:avLst>
              <a:gd name="adj" fmla="val 7778"/>
            </a:avLst>
          </a:prstGeom>
          <a:solidFill>
            <a:srgbClr val="112030"/>
          </a:solidFill>
          <a:ln w="12700">
            <a:solidFill>
              <a:srgbClr val="00FF88"/>
            </a:solidFill>
            <a:prstDash val="solid"/>
          </a:ln>
          <a:effectLst>
            <a:outerShdw sx="100000" sy="100000" kx="0" ky="0" algn="bl" rotWithShape="0" blurRad="279400" dist="50800" dir="16200000">
              <a:srgbClr val="00FF88">
                <a:alpha val="15000"/>
              </a:srgbClr>
            </a:outerShdw>
          </a:effectLst>
        </p:spPr>
      </p:sp>
      <p:sp>
        <p:nvSpPr>
          <p:cNvPr id="14" name="Shape 12"/>
          <p:cNvSpPr/>
          <p:nvPr/>
        </p:nvSpPr>
        <p:spPr>
          <a:xfrm>
            <a:off x="4736592" y="987552"/>
            <a:ext cx="713232" cy="822960"/>
          </a:xfrm>
          <a:prstGeom prst="roundRect">
            <a:avLst>
              <a:gd name="adj" fmla="val 8974"/>
            </a:avLst>
          </a:prstGeom>
          <a:solidFill>
            <a:srgbClr val="00FF88">
              <a:alpha val="18000"/>
            </a:srgbClr>
          </a:solidFill>
          <a:ln w="12700">
            <a:solidFill>
              <a:srgbClr val="000000"/>
            </a:solidFill>
            <a:prstDash val="solid"/>
          </a:ln>
        </p:spPr>
      </p:sp>
      <p:sp>
        <p:nvSpPr>
          <p:cNvPr id="15" name="Shape 13"/>
          <p:cNvSpPr/>
          <p:nvPr/>
        </p:nvSpPr>
        <p:spPr>
          <a:xfrm>
            <a:off x="5175504" y="987552"/>
            <a:ext cx="274320" cy="822960"/>
          </a:xfrm>
          <a:prstGeom prst="rect">
            <a:avLst/>
          </a:prstGeom>
          <a:solidFill>
            <a:srgbClr val="00FF88">
              <a:alpha val="18000"/>
            </a:srgbClr>
          </a:solidFill>
          <a:ln w="12700">
            <a:solidFill>
              <a:srgbClr val="000000"/>
            </a:solidFill>
            <a:prstDash val="solid"/>
          </a:ln>
        </p:spPr>
      </p:sp>
      <p:sp>
        <p:nvSpPr>
          <p:cNvPr id="16" name="Text 14"/>
          <p:cNvSpPr/>
          <p:nvPr/>
        </p:nvSpPr>
        <p:spPr>
          <a:xfrm>
            <a:off x="4736592" y="987552"/>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Text 15"/>
          <p:cNvSpPr/>
          <p:nvPr/>
        </p:nvSpPr>
        <p:spPr>
          <a:xfrm>
            <a:off x="5541264" y="1060704"/>
            <a:ext cx="1371600" cy="237744"/>
          </a:xfrm>
          <a:prstGeom prst="rect">
            <a:avLst/>
          </a:prstGeom>
          <a:noFill/>
          <a:ln/>
        </p:spPr>
        <p:txBody>
          <a:bodyPr wrap="square" lIns="0" tIns="0" rIns="0" bIns="0" rtlCol="0" anchor="ctr"/>
          <a:lstStyle/>
          <a:p>
            <a:pPr indent="0" marL="0">
              <a:buNone/>
            </a:pPr>
            <a:r>
              <a:rPr lang="en-US" sz="900" b="1" spc="100" kern="0" dirty="0">
                <a:solidFill>
                  <a:srgbClr val="00FF88"/>
                </a:solidFill>
                <a:latin typeface="Consolas" pitchFamily="34" charset="0"/>
                <a:ea typeface="Consolas" pitchFamily="34" charset="-122"/>
                <a:cs typeface="Consolas" pitchFamily="34" charset="-120"/>
              </a:rPr>
              <a:t>DEPLOYMENT</a:t>
            </a:r>
            <a:endParaRPr lang="en-US" sz="900" dirty="0"/>
          </a:p>
        </p:txBody>
      </p:sp>
      <p:sp>
        <p:nvSpPr>
          <p:cNvPr id="18" name="Text 16"/>
          <p:cNvSpPr/>
          <p:nvPr/>
        </p:nvSpPr>
        <p:spPr>
          <a:xfrm>
            <a:off x="5541264" y="1316736"/>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Frontend → Vercel (Free)  ·  Backend → Render.com (Free)  ·  Global CDN</a:t>
            </a:r>
            <a:endParaRPr lang="en-US" sz="920" dirty="0"/>
          </a:p>
        </p:txBody>
      </p:sp>
      <p:sp>
        <p:nvSpPr>
          <p:cNvPr id="19" name="Shape 17"/>
          <p:cNvSpPr/>
          <p:nvPr/>
        </p:nvSpPr>
        <p:spPr>
          <a:xfrm>
            <a:off x="274320" y="1956816"/>
            <a:ext cx="4297680" cy="822960"/>
          </a:xfrm>
          <a:prstGeom prst="roundRect">
            <a:avLst>
              <a:gd name="adj" fmla="val 7778"/>
            </a:avLst>
          </a:prstGeom>
          <a:solidFill>
            <a:srgbClr val="112030"/>
          </a:solidFill>
          <a:ln w="12700">
            <a:solidFill>
              <a:srgbClr val="FFCC00"/>
            </a:solidFill>
            <a:prstDash val="solid"/>
          </a:ln>
          <a:effectLst>
            <a:outerShdw sx="100000" sy="100000" kx="0" ky="0" algn="bl" rotWithShape="0" blurRad="279400" dist="50800" dir="16200000">
              <a:srgbClr val="FFCC00">
                <a:alpha val="15000"/>
              </a:srgbClr>
            </a:outerShdw>
          </a:effectLst>
        </p:spPr>
      </p:sp>
      <p:sp>
        <p:nvSpPr>
          <p:cNvPr id="20" name="Shape 18"/>
          <p:cNvSpPr/>
          <p:nvPr/>
        </p:nvSpPr>
        <p:spPr>
          <a:xfrm>
            <a:off x="274320" y="1956816"/>
            <a:ext cx="713232" cy="822960"/>
          </a:xfrm>
          <a:prstGeom prst="roundRect">
            <a:avLst>
              <a:gd name="adj" fmla="val 8974"/>
            </a:avLst>
          </a:prstGeom>
          <a:solidFill>
            <a:srgbClr val="FFCC00">
              <a:alpha val="18000"/>
            </a:srgbClr>
          </a:solidFill>
          <a:ln w="12700">
            <a:solidFill>
              <a:srgbClr val="000000"/>
            </a:solidFill>
            <a:prstDash val="solid"/>
          </a:ln>
        </p:spPr>
      </p:sp>
      <p:sp>
        <p:nvSpPr>
          <p:cNvPr id="21" name="Shape 19"/>
          <p:cNvSpPr/>
          <p:nvPr/>
        </p:nvSpPr>
        <p:spPr>
          <a:xfrm>
            <a:off x="713232" y="1956816"/>
            <a:ext cx="274320" cy="822960"/>
          </a:xfrm>
          <a:prstGeom prst="rect">
            <a:avLst/>
          </a:prstGeom>
          <a:solidFill>
            <a:srgbClr val="FFCC00">
              <a:alpha val="18000"/>
            </a:srgbClr>
          </a:solidFill>
          <a:ln w="12700">
            <a:solidFill>
              <a:srgbClr val="000000"/>
            </a:solidFill>
            <a:prstDash val="solid"/>
          </a:ln>
        </p:spPr>
      </p:sp>
      <p:sp>
        <p:nvSpPr>
          <p:cNvPr id="22" name="Text 20"/>
          <p:cNvSpPr/>
          <p:nvPr/>
        </p:nvSpPr>
        <p:spPr>
          <a:xfrm>
            <a:off x="274320" y="1956816"/>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Text 21"/>
          <p:cNvSpPr/>
          <p:nvPr/>
        </p:nvSpPr>
        <p:spPr>
          <a:xfrm>
            <a:off x="1078992" y="2029968"/>
            <a:ext cx="1371600" cy="237744"/>
          </a:xfrm>
          <a:prstGeom prst="rect">
            <a:avLst/>
          </a:prstGeom>
          <a:noFill/>
          <a:ln/>
        </p:spPr>
        <p:txBody>
          <a:bodyPr wrap="square" lIns="0" tIns="0" rIns="0" bIns="0" rtlCol="0" anchor="ctr"/>
          <a:lstStyle/>
          <a:p>
            <a:pPr indent="0" marL="0">
              <a:buNone/>
            </a:pPr>
            <a:r>
              <a:rPr lang="en-US" sz="900" b="1" spc="100" kern="0" dirty="0">
                <a:solidFill>
                  <a:srgbClr val="FFCC00"/>
                </a:solidFill>
                <a:latin typeface="Consolas" pitchFamily="34" charset="0"/>
                <a:ea typeface="Consolas" pitchFamily="34" charset="-122"/>
                <a:cs typeface="Consolas" pitchFamily="34" charset="-120"/>
              </a:rPr>
              <a:t>BACKEND</a:t>
            </a:r>
            <a:endParaRPr lang="en-US" sz="900" dirty="0"/>
          </a:p>
        </p:txBody>
      </p:sp>
      <p:sp>
        <p:nvSpPr>
          <p:cNvPr id="24" name="Text 22"/>
          <p:cNvSpPr/>
          <p:nvPr/>
        </p:nvSpPr>
        <p:spPr>
          <a:xfrm>
            <a:off x="1078992" y="2286000"/>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FastAPI (Python)  ·  SQLite dev  ·  PostgreSQL prod ready  ·  REST API</a:t>
            </a:r>
            <a:endParaRPr lang="en-US" sz="920" dirty="0"/>
          </a:p>
        </p:txBody>
      </p:sp>
      <p:sp>
        <p:nvSpPr>
          <p:cNvPr id="25" name="Shape 23"/>
          <p:cNvSpPr/>
          <p:nvPr/>
        </p:nvSpPr>
        <p:spPr>
          <a:xfrm>
            <a:off x="4736592" y="1956816"/>
            <a:ext cx="4297680" cy="822960"/>
          </a:xfrm>
          <a:prstGeom prst="roundRect">
            <a:avLst>
              <a:gd name="adj" fmla="val 7778"/>
            </a:avLst>
          </a:prstGeom>
          <a:solidFill>
            <a:srgbClr val="112030"/>
          </a:solidFill>
          <a:ln w="12700">
            <a:solidFill>
              <a:srgbClr val="B040FF"/>
            </a:solidFill>
            <a:prstDash val="solid"/>
          </a:ln>
          <a:effectLst>
            <a:outerShdw sx="100000" sy="100000" kx="0" ky="0" algn="bl" rotWithShape="0" blurRad="279400" dist="50800" dir="16200000">
              <a:srgbClr val="B040FF">
                <a:alpha val="15000"/>
              </a:srgbClr>
            </a:outerShdw>
          </a:effectLst>
        </p:spPr>
      </p:sp>
      <p:sp>
        <p:nvSpPr>
          <p:cNvPr id="26" name="Shape 24"/>
          <p:cNvSpPr/>
          <p:nvPr/>
        </p:nvSpPr>
        <p:spPr>
          <a:xfrm>
            <a:off x="4736592" y="1956816"/>
            <a:ext cx="713232" cy="822960"/>
          </a:xfrm>
          <a:prstGeom prst="roundRect">
            <a:avLst>
              <a:gd name="adj" fmla="val 8974"/>
            </a:avLst>
          </a:prstGeom>
          <a:solidFill>
            <a:srgbClr val="B040FF">
              <a:alpha val="18000"/>
            </a:srgbClr>
          </a:solidFill>
          <a:ln w="12700">
            <a:solidFill>
              <a:srgbClr val="000000"/>
            </a:solidFill>
            <a:prstDash val="solid"/>
          </a:ln>
        </p:spPr>
      </p:sp>
      <p:sp>
        <p:nvSpPr>
          <p:cNvPr id="27" name="Shape 25"/>
          <p:cNvSpPr/>
          <p:nvPr/>
        </p:nvSpPr>
        <p:spPr>
          <a:xfrm>
            <a:off x="5175504" y="1956816"/>
            <a:ext cx="274320" cy="822960"/>
          </a:xfrm>
          <a:prstGeom prst="rect">
            <a:avLst/>
          </a:prstGeom>
          <a:solidFill>
            <a:srgbClr val="B040FF">
              <a:alpha val="18000"/>
            </a:srgbClr>
          </a:solidFill>
          <a:ln w="12700">
            <a:solidFill>
              <a:srgbClr val="000000"/>
            </a:solidFill>
            <a:prstDash val="solid"/>
          </a:ln>
        </p:spPr>
      </p:sp>
      <p:sp>
        <p:nvSpPr>
          <p:cNvPr id="28" name="Text 26"/>
          <p:cNvSpPr/>
          <p:nvPr/>
        </p:nvSpPr>
        <p:spPr>
          <a:xfrm>
            <a:off x="4736592" y="1956816"/>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Text 27"/>
          <p:cNvSpPr/>
          <p:nvPr/>
        </p:nvSpPr>
        <p:spPr>
          <a:xfrm>
            <a:off x="5541264" y="2029968"/>
            <a:ext cx="1371600" cy="237744"/>
          </a:xfrm>
          <a:prstGeom prst="rect">
            <a:avLst/>
          </a:prstGeom>
          <a:noFill/>
          <a:ln/>
        </p:spPr>
        <p:txBody>
          <a:bodyPr wrap="square" lIns="0" tIns="0" rIns="0" bIns="0" rtlCol="0" anchor="ctr"/>
          <a:lstStyle/>
          <a:p>
            <a:pPr indent="0" marL="0">
              <a:buNone/>
            </a:pPr>
            <a:r>
              <a:rPr lang="en-US" sz="900" b="1" spc="100" kern="0" dirty="0">
                <a:solidFill>
                  <a:srgbClr val="B040FF"/>
                </a:solidFill>
                <a:latin typeface="Consolas" pitchFamily="34" charset="0"/>
                <a:ea typeface="Consolas" pitchFamily="34" charset="-122"/>
                <a:cs typeface="Consolas" pitchFamily="34" charset="-120"/>
              </a:rPr>
              <a:t>AI ENGINE</a:t>
            </a:r>
            <a:endParaRPr lang="en-US" sz="900" dirty="0"/>
          </a:p>
        </p:txBody>
      </p:sp>
      <p:sp>
        <p:nvSpPr>
          <p:cNvPr id="30" name="Text 28"/>
          <p:cNvSpPr/>
          <p:nvPr/>
        </p:nvSpPr>
        <p:spPr>
          <a:xfrm>
            <a:off x="5541264" y="2286000"/>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Custom Rule-based Classifier  ·  8 categories  ·  Claude API ready</a:t>
            </a:r>
            <a:endParaRPr lang="en-US" sz="920" dirty="0"/>
          </a:p>
        </p:txBody>
      </p:sp>
      <p:sp>
        <p:nvSpPr>
          <p:cNvPr id="31" name="Shape 29"/>
          <p:cNvSpPr/>
          <p:nvPr/>
        </p:nvSpPr>
        <p:spPr>
          <a:xfrm>
            <a:off x="274320" y="2926080"/>
            <a:ext cx="4297680" cy="822960"/>
          </a:xfrm>
          <a:prstGeom prst="roundRect">
            <a:avLst>
              <a:gd name="adj" fmla="val 7778"/>
            </a:avLst>
          </a:prstGeom>
          <a:solidFill>
            <a:srgbClr val="112030"/>
          </a:solidFill>
          <a:ln w="12700">
            <a:solidFill>
              <a:srgbClr val="00F5FF"/>
            </a:solidFill>
            <a:prstDash val="solid"/>
          </a:ln>
          <a:effectLst>
            <a:outerShdw sx="100000" sy="100000" kx="0" ky="0" algn="bl" rotWithShape="0" blurRad="279400" dist="50800" dir="16200000">
              <a:srgbClr val="00F5FF">
                <a:alpha val="15000"/>
              </a:srgbClr>
            </a:outerShdw>
          </a:effectLst>
        </p:spPr>
      </p:sp>
      <p:sp>
        <p:nvSpPr>
          <p:cNvPr id="32" name="Shape 30"/>
          <p:cNvSpPr/>
          <p:nvPr/>
        </p:nvSpPr>
        <p:spPr>
          <a:xfrm>
            <a:off x="274320" y="2926080"/>
            <a:ext cx="713232" cy="822960"/>
          </a:xfrm>
          <a:prstGeom prst="roundRect">
            <a:avLst>
              <a:gd name="adj" fmla="val 8974"/>
            </a:avLst>
          </a:prstGeom>
          <a:solidFill>
            <a:srgbClr val="00F5FF">
              <a:alpha val="18000"/>
            </a:srgbClr>
          </a:solidFill>
          <a:ln w="12700">
            <a:solidFill>
              <a:srgbClr val="000000"/>
            </a:solidFill>
            <a:prstDash val="solid"/>
          </a:ln>
        </p:spPr>
      </p:sp>
      <p:sp>
        <p:nvSpPr>
          <p:cNvPr id="33" name="Shape 31"/>
          <p:cNvSpPr/>
          <p:nvPr/>
        </p:nvSpPr>
        <p:spPr>
          <a:xfrm>
            <a:off x="713232" y="2926080"/>
            <a:ext cx="274320" cy="822960"/>
          </a:xfrm>
          <a:prstGeom prst="rect">
            <a:avLst/>
          </a:prstGeom>
          <a:solidFill>
            <a:srgbClr val="00F5FF">
              <a:alpha val="18000"/>
            </a:srgbClr>
          </a:solidFill>
          <a:ln w="12700">
            <a:solidFill>
              <a:srgbClr val="000000"/>
            </a:solidFill>
            <a:prstDash val="solid"/>
          </a:ln>
        </p:spPr>
      </p:sp>
      <p:sp>
        <p:nvSpPr>
          <p:cNvPr id="34" name="Text 32"/>
          <p:cNvSpPr/>
          <p:nvPr/>
        </p:nvSpPr>
        <p:spPr>
          <a:xfrm>
            <a:off x="274320" y="2926080"/>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5" name="Text 33"/>
          <p:cNvSpPr/>
          <p:nvPr/>
        </p:nvSpPr>
        <p:spPr>
          <a:xfrm>
            <a:off x="1078992" y="2999232"/>
            <a:ext cx="1371600" cy="237744"/>
          </a:xfrm>
          <a:prstGeom prst="rect">
            <a:avLst/>
          </a:prstGeom>
          <a:noFill/>
          <a:ln/>
        </p:spPr>
        <p:txBody>
          <a:bodyPr wrap="square" lIns="0" tIns="0" rIns="0" bIns="0" rtlCol="0" anchor="ctr"/>
          <a:lstStyle/>
          <a:p>
            <a:pPr indent="0" marL="0">
              <a:buNone/>
            </a:pPr>
            <a:r>
              <a:rPr lang="en-US" sz="900" b="1" spc="100" kern="0" dirty="0">
                <a:solidFill>
                  <a:srgbClr val="00F5FF"/>
                </a:solidFill>
                <a:latin typeface="Consolas" pitchFamily="34" charset="0"/>
                <a:ea typeface="Consolas" pitchFamily="34" charset="-122"/>
                <a:cs typeface="Consolas" pitchFamily="34" charset="-120"/>
              </a:rPr>
              <a:t>BLOCKCHAIN</a:t>
            </a:r>
            <a:endParaRPr lang="en-US" sz="900" dirty="0"/>
          </a:p>
        </p:txBody>
      </p:sp>
      <p:sp>
        <p:nvSpPr>
          <p:cNvPr id="36" name="Text 34"/>
          <p:cNvSpPr/>
          <p:nvPr/>
        </p:nvSpPr>
        <p:spPr>
          <a:xfrm>
            <a:off x="1078992" y="3255264"/>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Custom JavaScript SHA-256  ·  Chain validation  ·  Tamper-proof blocks</a:t>
            </a:r>
            <a:endParaRPr lang="en-US" sz="920" dirty="0"/>
          </a:p>
        </p:txBody>
      </p:sp>
      <p:sp>
        <p:nvSpPr>
          <p:cNvPr id="37" name="Shape 35"/>
          <p:cNvSpPr/>
          <p:nvPr/>
        </p:nvSpPr>
        <p:spPr>
          <a:xfrm>
            <a:off x="4736592" y="2926080"/>
            <a:ext cx="4297680" cy="822960"/>
          </a:xfrm>
          <a:prstGeom prst="roundRect">
            <a:avLst>
              <a:gd name="adj" fmla="val 7778"/>
            </a:avLst>
          </a:prstGeom>
          <a:solidFill>
            <a:srgbClr val="112030"/>
          </a:solidFill>
          <a:ln w="12700">
            <a:solidFill>
              <a:srgbClr val="FF2060"/>
            </a:solidFill>
            <a:prstDash val="solid"/>
          </a:ln>
          <a:effectLst>
            <a:outerShdw sx="100000" sy="100000" kx="0" ky="0" algn="bl" rotWithShape="0" blurRad="279400" dist="50800" dir="16200000">
              <a:srgbClr val="FF2060">
                <a:alpha val="15000"/>
              </a:srgbClr>
            </a:outerShdw>
          </a:effectLst>
        </p:spPr>
      </p:sp>
      <p:sp>
        <p:nvSpPr>
          <p:cNvPr id="38" name="Shape 36"/>
          <p:cNvSpPr/>
          <p:nvPr/>
        </p:nvSpPr>
        <p:spPr>
          <a:xfrm>
            <a:off x="4736592" y="2926080"/>
            <a:ext cx="713232" cy="822960"/>
          </a:xfrm>
          <a:prstGeom prst="roundRect">
            <a:avLst>
              <a:gd name="adj" fmla="val 8974"/>
            </a:avLst>
          </a:prstGeom>
          <a:solidFill>
            <a:srgbClr val="FF2060">
              <a:alpha val="18000"/>
            </a:srgbClr>
          </a:solidFill>
          <a:ln w="12700">
            <a:solidFill>
              <a:srgbClr val="000000"/>
            </a:solidFill>
            <a:prstDash val="solid"/>
          </a:ln>
        </p:spPr>
      </p:sp>
      <p:sp>
        <p:nvSpPr>
          <p:cNvPr id="39" name="Shape 37"/>
          <p:cNvSpPr/>
          <p:nvPr/>
        </p:nvSpPr>
        <p:spPr>
          <a:xfrm>
            <a:off x="5175504" y="2926080"/>
            <a:ext cx="274320" cy="822960"/>
          </a:xfrm>
          <a:prstGeom prst="rect">
            <a:avLst/>
          </a:prstGeom>
          <a:solidFill>
            <a:srgbClr val="FF2060">
              <a:alpha val="18000"/>
            </a:srgbClr>
          </a:solidFill>
          <a:ln w="12700">
            <a:solidFill>
              <a:srgbClr val="000000"/>
            </a:solidFill>
            <a:prstDash val="solid"/>
          </a:ln>
        </p:spPr>
      </p:sp>
      <p:sp>
        <p:nvSpPr>
          <p:cNvPr id="40" name="Text 38"/>
          <p:cNvSpPr/>
          <p:nvPr/>
        </p:nvSpPr>
        <p:spPr>
          <a:xfrm>
            <a:off x="4736592" y="2926080"/>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1" name="Text 39"/>
          <p:cNvSpPr/>
          <p:nvPr/>
        </p:nvSpPr>
        <p:spPr>
          <a:xfrm>
            <a:off x="5541264" y="2999232"/>
            <a:ext cx="1371600" cy="237744"/>
          </a:xfrm>
          <a:prstGeom prst="rect">
            <a:avLst/>
          </a:prstGeom>
          <a:noFill/>
          <a:ln/>
        </p:spPr>
        <p:txBody>
          <a:bodyPr wrap="square" lIns="0" tIns="0" rIns="0" bIns="0" rtlCol="0" anchor="ctr"/>
          <a:lstStyle/>
          <a:p>
            <a:pPr indent="0" marL="0">
              <a:buNone/>
            </a:pPr>
            <a:r>
              <a:rPr lang="en-US" sz="900" b="1" spc="100" kern="0" dirty="0">
                <a:solidFill>
                  <a:srgbClr val="FF2060"/>
                </a:solidFill>
                <a:latin typeface="Consolas" pitchFamily="34" charset="0"/>
                <a:ea typeface="Consolas" pitchFamily="34" charset="-122"/>
                <a:cs typeface="Consolas" pitchFamily="34" charset="-120"/>
              </a:rPr>
              <a:t>AUTH</a:t>
            </a:r>
            <a:endParaRPr lang="en-US" sz="900" dirty="0"/>
          </a:p>
        </p:txBody>
      </p:sp>
      <p:sp>
        <p:nvSpPr>
          <p:cNvPr id="42" name="Text 40"/>
          <p:cNvSpPr/>
          <p:nvPr/>
        </p:nvSpPr>
        <p:spPr>
          <a:xfrm>
            <a:off x="5541264" y="3255264"/>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Mobile OTP Engine  ·  Session management  ·  Role-based access control</a:t>
            </a:r>
            <a:endParaRPr lang="en-US" sz="920" dirty="0"/>
          </a:p>
        </p:txBody>
      </p:sp>
      <p:sp>
        <p:nvSpPr>
          <p:cNvPr id="43" name="Shape 41"/>
          <p:cNvSpPr/>
          <p:nvPr/>
        </p:nvSpPr>
        <p:spPr>
          <a:xfrm>
            <a:off x="274320" y="3895344"/>
            <a:ext cx="4297680" cy="822960"/>
          </a:xfrm>
          <a:prstGeom prst="roundRect">
            <a:avLst>
              <a:gd name="adj" fmla="val 7778"/>
            </a:avLst>
          </a:prstGeom>
          <a:solidFill>
            <a:srgbClr val="112030"/>
          </a:solidFill>
          <a:ln w="12700">
            <a:solidFill>
              <a:srgbClr val="00FFD1"/>
            </a:solidFill>
            <a:prstDash val="solid"/>
          </a:ln>
          <a:effectLst>
            <a:outerShdw sx="100000" sy="100000" kx="0" ky="0" algn="bl" rotWithShape="0" blurRad="279400" dist="50800" dir="16200000">
              <a:srgbClr val="00FFD1">
                <a:alpha val="15000"/>
              </a:srgbClr>
            </a:outerShdw>
          </a:effectLst>
        </p:spPr>
      </p:sp>
      <p:sp>
        <p:nvSpPr>
          <p:cNvPr id="44" name="Shape 42"/>
          <p:cNvSpPr/>
          <p:nvPr/>
        </p:nvSpPr>
        <p:spPr>
          <a:xfrm>
            <a:off x="274320" y="3895344"/>
            <a:ext cx="713232" cy="822960"/>
          </a:xfrm>
          <a:prstGeom prst="roundRect">
            <a:avLst>
              <a:gd name="adj" fmla="val 8974"/>
            </a:avLst>
          </a:prstGeom>
          <a:solidFill>
            <a:srgbClr val="00FFD1">
              <a:alpha val="18000"/>
            </a:srgbClr>
          </a:solidFill>
          <a:ln w="12700">
            <a:solidFill>
              <a:srgbClr val="000000"/>
            </a:solidFill>
            <a:prstDash val="solid"/>
          </a:ln>
        </p:spPr>
      </p:sp>
      <p:sp>
        <p:nvSpPr>
          <p:cNvPr id="45" name="Shape 43"/>
          <p:cNvSpPr/>
          <p:nvPr/>
        </p:nvSpPr>
        <p:spPr>
          <a:xfrm>
            <a:off x="713232" y="3895344"/>
            <a:ext cx="274320" cy="822960"/>
          </a:xfrm>
          <a:prstGeom prst="rect">
            <a:avLst/>
          </a:prstGeom>
          <a:solidFill>
            <a:srgbClr val="00FFD1">
              <a:alpha val="18000"/>
            </a:srgbClr>
          </a:solidFill>
          <a:ln w="12700">
            <a:solidFill>
              <a:srgbClr val="000000"/>
            </a:solidFill>
            <a:prstDash val="solid"/>
          </a:ln>
        </p:spPr>
      </p:sp>
      <p:sp>
        <p:nvSpPr>
          <p:cNvPr id="46" name="Text 44"/>
          <p:cNvSpPr/>
          <p:nvPr/>
        </p:nvSpPr>
        <p:spPr>
          <a:xfrm>
            <a:off x="274320" y="3895344"/>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7" name="Text 45"/>
          <p:cNvSpPr/>
          <p:nvPr/>
        </p:nvSpPr>
        <p:spPr>
          <a:xfrm>
            <a:off x="1078992" y="3968496"/>
            <a:ext cx="1371600" cy="237744"/>
          </a:xfrm>
          <a:prstGeom prst="rect">
            <a:avLst/>
          </a:prstGeom>
          <a:noFill/>
          <a:ln/>
        </p:spPr>
        <p:txBody>
          <a:bodyPr wrap="square" lIns="0" tIns="0" rIns="0" bIns="0" rtlCol="0" anchor="ctr"/>
          <a:lstStyle/>
          <a:p>
            <a:pPr indent="0" marL="0">
              <a:buNone/>
            </a:pPr>
            <a:r>
              <a:rPr lang="en-US" sz="900" b="1" spc="100" kern="0" dirty="0">
                <a:solidFill>
                  <a:srgbClr val="00FFD1"/>
                </a:solidFill>
                <a:latin typeface="Consolas" pitchFamily="34" charset="0"/>
                <a:ea typeface="Consolas" pitchFamily="34" charset="-122"/>
                <a:cs typeface="Consolas" pitchFamily="34" charset="-120"/>
              </a:rPr>
              <a:t>VOICE + PWA</a:t>
            </a:r>
            <a:endParaRPr lang="en-US" sz="900" dirty="0"/>
          </a:p>
        </p:txBody>
      </p:sp>
      <p:sp>
        <p:nvSpPr>
          <p:cNvPr id="48" name="Text 46"/>
          <p:cNvSpPr/>
          <p:nvPr/>
        </p:nvSpPr>
        <p:spPr>
          <a:xfrm>
            <a:off x="1078992" y="4224528"/>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Web Speech API  ·  Hindi hi-IN  ·  Web App Manifest  ·  Offline-ready</a:t>
            </a:r>
            <a:endParaRPr lang="en-US" sz="920" dirty="0"/>
          </a:p>
        </p:txBody>
      </p:sp>
      <p:sp>
        <p:nvSpPr>
          <p:cNvPr id="49" name="Shape 47"/>
          <p:cNvSpPr/>
          <p:nvPr/>
        </p:nvSpPr>
        <p:spPr>
          <a:xfrm>
            <a:off x="4736592" y="3895344"/>
            <a:ext cx="4297680" cy="822960"/>
          </a:xfrm>
          <a:prstGeom prst="roundRect">
            <a:avLst>
              <a:gd name="adj" fmla="val 7778"/>
            </a:avLst>
          </a:prstGeom>
          <a:solidFill>
            <a:srgbClr val="112030"/>
          </a:solidFill>
          <a:ln w="12700">
            <a:solidFill>
              <a:srgbClr val="FF7020"/>
            </a:solidFill>
            <a:prstDash val="solid"/>
          </a:ln>
          <a:effectLst>
            <a:outerShdw sx="100000" sy="100000" kx="0" ky="0" algn="bl" rotWithShape="0" blurRad="279400" dist="50800" dir="16200000">
              <a:srgbClr val="FF7020">
                <a:alpha val="15000"/>
              </a:srgbClr>
            </a:outerShdw>
          </a:effectLst>
        </p:spPr>
      </p:sp>
      <p:sp>
        <p:nvSpPr>
          <p:cNvPr id="50" name="Shape 48"/>
          <p:cNvSpPr/>
          <p:nvPr/>
        </p:nvSpPr>
        <p:spPr>
          <a:xfrm>
            <a:off x="4736592" y="3895344"/>
            <a:ext cx="713232" cy="822960"/>
          </a:xfrm>
          <a:prstGeom prst="roundRect">
            <a:avLst>
              <a:gd name="adj" fmla="val 8974"/>
            </a:avLst>
          </a:prstGeom>
          <a:solidFill>
            <a:srgbClr val="FF7020">
              <a:alpha val="18000"/>
            </a:srgbClr>
          </a:solidFill>
          <a:ln w="12700">
            <a:solidFill>
              <a:srgbClr val="000000"/>
            </a:solidFill>
            <a:prstDash val="solid"/>
          </a:ln>
        </p:spPr>
      </p:sp>
      <p:sp>
        <p:nvSpPr>
          <p:cNvPr id="51" name="Shape 49"/>
          <p:cNvSpPr/>
          <p:nvPr/>
        </p:nvSpPr>
        <p:spPr>
          <a:xfrm>
            <a:off x="5175504" y="3895344"/>
            <a:ext cx="274320" cy="822960"/>
          </a:xfrm>
          <a:prstGeom prst="rect">
            <a:avLst/>
          </a:prstGeom>
          <a:solidFill>
            <a:srgbClr val="FF7020">
              <a:alpha val="18000"/>
            </a:srgbClr>
          </a:solidFill>
          <a:ln w="12700">
            <a:solidFill>
              <a:srgbClr val="000000"/>
            </a:solidFill>
            <a:prstDash val="solid"/>
          </a:ln>
        </p:spPr>
      </p:sp>
      <p:sp>
        <p:nvSpPr>
          <p:cNvPr id="52" name="Text 50"/>
          <p:cNvSpPr/>
          <p:nvPr/>
        </p:nvSpPr>
        <p:spPr>
          <a:xfrm>
            <a:off x="4736592" y="3895344"/>
            <a:ext cx="713232" cy="82296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53" name="Text 51"/>
          <p:cNvSpPr/>
          <p:nvPr/>
        </p:nvSpPr>
        <p:spPr>
          <a:xfrm>
            <a:off x="5541264" y="3968496"/>
            <a:ext cx="1371600" cy="237744"/>
          </a:xfrm>
          <a:prstGeom prst="rect">
            <a:avLst/>
          </a:prstGeom>
          <a:noFill/>
          <a:ln/>
        </p:spPr>
        <p:txBody>
          <a:bodyPr wrap="square" lIns="0" tIns="0" rIns="0" bIns="0" rtlCol="0" anchor="ctr"/>
          <a:lstStyle/>
          <a:p>
            <a:pPr indent="0" marL="0">
              <a:buNone/>
            </a:pPr>
            <a:r>
              <a:rPr lang="en-US" sz="900" b="1" spc="100" kern="0" dirty="0">
                <a:solidFill>
                  <a:srgbClr val="FF7020"/>
                </a:solidFill>
                <a:latin typeface="Consolas" pitchFamily="34" charset="0"/>
                <a:ea typeface="Consolas" pitchFamily="34" charset="-122"/>
                <a:cs typeface="Consolas" pitchFamily="34" charset="-120"/>
              </a:rPr>
              <a:t>AUTOMATION</a:t>
            </a:r>
            <a:endParaRPr lang="en-US" sz="900" dirty="0"/>
          </a:p>
        </p:txBody>
      </p:sp>
      <p:sp>
        <p:nvSpPr>
          <p:cNvPr id="54" name="Text 52"/>
          <p:cNvSpPr/>
          <p:nvPr/>
        </p:nvSpPr>
        <p:spPr>
          <a:xfrm>
            <a:off x="5541264" y="4224528"/>
            <a:ext cx="3401568" cy="420624"/>
          </a:xfrm>
          <a:prstGeom prst="rect">
            <a:avLst/>
          </a:prstGeom>
          <a:noFill/>
          <a:ln/>
        </p:spPr>
        <p:txBody>
          <a:bodyPr wrap="square" lIns="0" tIns="0" rIns="0" bIns="0" rtlCol="0" anchor="ctr"/>
          <a:lstStyle/>
          <a:p>
            <a:pPr indent="0" marL="0">
              <a:buNone/>
            </a:pPr>
            <a:r>
              <a:rPr lang="en-US" sz="920" dirty="0">
                <a:solidFill>
                  <a:srgbClr val="3D6080"/>
                </a:solidFill>
                <a:latin typeface="Calibri" pitchFamily="34" charset="0"/>
                <a:ea typeface="Calibri" pitchFamily="34" charset="-122"/>
                <a:cs typeface="Calibri" pitchFamily="34" charset="-120"/>
              </a:rPr>
              <a:t>8 JS jobs  ·  Event-driven  ·  Auto-assign · Escalate · Alert · Notify</a:t>
            </a:r>
            <a:endParaRPr lang="en-US" sz="920" dirty="0"/>
          </a:p>
        </p:txBody>
      </p:sp>
      <p:sp>
        <p:nvSpPr>
          <p:cNvPr id="55" name="Shape 53"/>
          <p:cNvSpPr/>
          <p:nvPr/>
        </p:nvSpPr>
        <p:spPr>
          <a:xfrm>
            <a:off x="274320" y="4901184"/>
            <a:ext cx="8595360" cy="292608"/>
          </a:xfrm>
          <a:prstGeom prst="roundRect">
            <a:avLst>
              <a:gd name="adj" fmla="val 15625"/>
            </a:avLst>
          </a:prstGeom>
          <a:solidFill>
            <a:srgbClr val="00421F"/>
          </a:solidFill>
          <a:ln w="15240">
            <a:solidFill>
              <a:srgbClr val="00FF88"/>
            </a:solidFill>
            <a:prstDash val="solid"/>
          </a:ln>
          <a:effectLst>
            <a:outerShdw sx="100000" sy="100000" kx="0" ky="0" algn="bl" rotWithShape="0" blurRad="279400" dist="50800" dir="16200000">
              <a:srgbClr val="00FF88">
                <a:alpha val="30000"/>
              </a:srgbClr>
            </a:outerShdw>
          </a:effectLst>
        </p:spPr>
      </p:sp>
      <p:sp>
        <p:nvSpPr>
          <p:cNvPr id="56" name="Text 54"/>
          <p:cNvSpPr/>
          <p:nvPr/>
        </p:nvSpPr>
        <p:spPr>
          <a:xfrm>
            <a:off x="274320" y="4901184"/>
            <a:ext cx="8595360" cy="292608"/>
          </a:xfrm>
          <a:prstGeom prst="rect">
            <a:avLst/>
          </a:prstGeom>
          <a:noFill/>
          <a:ln/>
        </p:spPr>
        <p:txBody>
          <a:bodyPr wrap="square" rtlCol="0" anchor="ctr"/>
          <a:lstStyle/>
          <a:p>
            <a:pPr algn="ctr" indent="0" marL="0">
              <a:buNone/>
            </a:pPr>
            <a:r>
              <a:rPr lang="en-US" sz="1000" b="1" dirty="0">
                <a:solidFill>
                  <a:srgbClr val="00FF88"/>
                </a:solidFill>
                <a:latin typeface="Consolas" pitchFamily="34" charset="0"/>
                <a:ea typeface="Consolas" pitchFamily="34" charset="-122"/>
                <a:cs typeface="Consolas" pitchFamily="34" charset="-120"/>
              </a:rPr>
              <a:t>✅  Both URLs LIVE RIGHT NOW — civiceye-v6.vercel.app  ·  civiceye-v6.onrender.com  ·  FREE FOREVER</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Text 3"/>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00FF88"/>
                </a:solidFill>
                <a:latin typeface="Consolas" pitchFamily="34" charset="0"/>
                <a:ea typeface="Consolas" pitchFamily="34" charset="-122"/>
                <a:cs typeface="Consolas" pitchFamily="34" charset="-120"/>
              </a:rPr>
              <a:t>COMPETITIVE ADVANTAGE</a:t>
            </a:r>
            <a:endParaRPr lang="en-US" sz="750" dirty="0"/>
          </a:p>
        </p:txBody>
      </p:sp>
      <p:sp>
        <p:nvSpPr>
          <p:cNvPr id="6" name="Text 4"/>
          <p:cNvSpPr/>
          <p:nvPr/>
        </p:nvSpPr>
        <p:spPr>
          <a:xfrm>
            <a:off x="365760" y="256032"/>
            <a:ext cx="8412480" cy="548640"/>
          </a:xfrm>
          <a:prstGeom prst="rect">
            <a:avLst/>
          </a:prstGeom>
          <a:noFill/>
          <a:ln/>
        </p:spPr>
        <p:txBody>
          <a:bodyPr wrap="square" rtlCol="0" anchor="ctr"/>
          <a:lstStyle/>
          <a:p>
            <a:pPr algn="ctr" indent="0" marL="0">
              <a:buNone/>
            </a:pPr>
            <a:r>
              <a:rPr lang="en-US" sz="3600" b="1" dirty="0">
                <a:solidFill>
                  <a:srgbClr val="EEF6FF"/>
                </a:solidFill>
                <a:latin typeface="Calibri" pitchFamily="34" charset="0"/>
                <a:ea typeface="Calibri" pitchFamily="34" charset="-122"/>
                <a:cs typeface="Calibri" pitchFamily="34" charset="-120"/>
              </a:rPr>
              <a:t>CivicEye vs The World</a:t>
            </a:r>
            <a:endParaRPr lang="en-US" sz="3600" dirty="0"/>
          </a:p>
        </p:txBody>
      </p:sp>
      <p:sp>
        <p:nvSpPr>
          <p:cNvPr id="7" name="Shape 5"/>
          <p:cNvSpPr/>
          <p:nvPr/>
        </p:nvSpPr>
        <p:spPr>
          <a:xfrm>
            <a:off x="256032" y="914400"/>
            <a:ext cx="2752344" cy="347472"/>
          </a:xfrm>
          <a:prstGeom prst="roundRect">
            <a:avLst>
              <a:gd name="adj" fmla="val 13158"/>
            </a:avLst>
          </a:prstGeom>
          <a:solidFill>
            <a:srgbClr val="112030"/>
          </a:solidFill>
          <a:ln w="12700">
            <a:solidFill>
              <a:srgbClr val="112030"/>
            </a:solidFill>
            <a:prstDash val="solid"/>
          </a:ln>
        </p:spPr>
      </p:sp>
      <p:sp>
        <p:nvSpPr>
          <p:cNvPr id="8" name="Text 6"/>
          <p:cNvSpPr/>
          <p:nvPr/>
        </p:nvSpPr>
        <p:spPr>
          <a:xfrm>
            <a:off x="256032" y="914400"/>
            <a:ext cx="2752344" cy="34747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Feature</a:t>
            </a:r>
            <a:endParaRPr lang="en-US" sz="1050" dirty="0"/>
          </a:p>
        </p:txBody>
      </p:sp>
      <p:sp>
        <p:nvSpPr>
          <p:cNvPr id="9" name="Shape 7"/>
          <p:cNvSpPr/>
          <p:nvPr/>
        </p:nvSpPr>
        <p:spPr>
          <a:xfrm>
            <a:off x="3090672" y="914400"/>
            <a:ext cx="2423160" cy="347472"/>
          </a:xfrm>
          <a:prstGeom prst="roundRect">
            <a:avLst>
              <a:gd name="adj" fmla="val 13158"/>
            </a:avLst>
          </a:prstGeom>
          <a:solidFill>
            <a:srgbClr val="00F5FF"/>
          </a:solidFill>
          <a:ln w="12700">
            <a:solidFill>
              <a:srgbClr val="00F5FF"/>
            </a:solidFill>
            <a:prstDash val="solid"/>
          </a:ln>
          <a:effectLst>
            <a:outerShdw sx="100000" sy="100000" kx="0" ky="0" algn="bl" rotWithShape="0" blurRad="279400" dist="50800" dir="16200000">
              <a:srgbClr val="00F5FF">
                <a:alpha val="50000"/>
              </a:srgbClr>
            </a:outerShdw>
          </a:effectLst>
        </p:spPr>
      </p:sp>
      <p:sp>
        <p:nvSpPr>
          <p:cNvPr id="10" name="Text 8"/>
          <p:cNvSpPr/>
          <p:nvPr/>
        </p:nvSpPr>
        <p:spPr>
          <a:xfrm>
            <a:off x="3090672" y="914400"/>
            <a:ext cx="2423160" cy="347472"/>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 CivicEye v6</a:t>
            </a:r>
            <a:endParaRPr lang="en-US" sz="1050" dirty="0"/>
          </a:p>
        </p:txBody>
      </p:sp>
      <p:sp>
        <p:nvSpPr>
          <p:cNvPr id="11" name="Shape 9"/>
          <p:cNvSpPr/>
          <p:nvPr/>
        </p:nvSpPr>
        <p:spPr>
          <a:xfrm>
            <a:off x="5596128" y="914400"/>
            <a:ext cx="1618488" cy="347472"/>
          </a:xfrm>
          <a:prstGeom prst="roundRect">
            <a:avLst>
              <a:gd name="adj" fmla="val 13158"/>
            </a:avLst>
          </a:prstGeom>
          <a:solidFill>
            <a:srgbClr val="112030"/>
          </a:solidFill>
          <a:ln w="12700">
            <a:solidFill>
              <a:srgbClr val="112030"/>
            </a:solidFill>
            <a:prstDash val="solid"/>
          </a:ln>
        </p:spPr>
      </p:sp>
      <p:sp>
        <p:nvSpPr>
          <p:cNvPr id="12" name="Text 10"/>
          <p:cNvSpPr/>
          <p:nvPr/>
        </p:nvSpPr>
        <p:spPr>
          <a:xfrm>
            <a:off x="5596128" y="914400"/>
            <a:ext cx="1618488" cy="34747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 CPGRAMS</a:t>
            </a:r>
            <a:endParaRPr lang="en-US" sz="1050" dirty="0"/>
          </a:p>
        </p:txBody>
      </p:sp>
      <p:sp>
        <p:nvSpPr>
          <p:cNvPr id="13" name="Shape 11"/>
          <p:cNvSpPr/>
          <p:nvPr/>
        </p:nvSpPr>
        <p:spPr>
          <a:xfrm>
            <a:off x="7296912" y="914400"/>
            <a:ext cx="1673352" cy="347472"/>
          </a:xfrm>
          <a:prstGeom prst="roundRect">
            <a:avLst>
              <a:gd name="adj" fmla="val 13158"/>
            </a:avLst>
          </a:prstGeom>
          <a:solidFill>
            <a:srgbClr val="112030"/>
          </a:solidFill>
          <a:ln w="12700">
            <a:solidFill>
              <a:srgbClr val="112030"/>
            </a:solidFill>
            <a:prstDash val="solid"/>
          </a:ln>
        </p:spPr>
      </p:sp>
      <p:sp>
        <p:nvSpPr>
          <p:cNvPr id="14" name="Text 12"/>
          <p:cNvSpPr/>
          <p:nvPr/>
        </p:nvSpPr>
        <p:spPr>
          <a:xfrm>
            <a:off x="7296912" y="914400"/>
            <a:ext cx="1673352" cy="34747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 311 Apps</a:t>
            </a:r>
            <a:endParaRPr lang="en-US" sz="1050" dirty="0"/>
          </a:p>
        </p:txBody>
      </p:sp>
      <p:sp>
        <p:nvSpPr>
          <p:cNvPr id="15" name="Shape 13"/>
          <p:cNvSpPr/>
          <p:nvPr/>
        </p:nvSpPr>
        <p:spPr>
          <a:xfrm>
            <a:off x="256032" y="1280160"/>
            <a:ext cx="2752344" cy="310896"/>
          </a:xfrm>
          <a:prstGeom prst="rect">
            <a:avLst/>
          </a:prstGeom>
          <a:solidFill>
            <a:srgbClr val="030E1A"/>
          </a:solidFill>
          <a:ln w="3175">
            <a:solidFill>
              <a:srgbClr val="3D6080"/>
            </a:solidFill>
            <a:prstDash val="solid"/>
          </a:ln>
        </p:spPr>
      </p:sp>
      <p:sp>
        <p:nvSpPr>
          <p:cNvPr id="16" name="Text 14"/>
          <p:cNvSpPr/>
          <p:nvPr/>
        </p:nvSpPr>
        <p:spPr>
          <a:xfrm>
            <a:off x="329184" y="1280160"/>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AI Classification</a:t>
            </a:r>
            <a:endParaRPr lang="en-US" sz="880" dirty="0"/>
          </a:p>
        </p:txBody>
      </p:sp>
      <p:sp>
        <p:nvSpPr>
          <p:cNvPr id="17" name="Shape 15"/>
          <p:cNvSpPr/>
          <p:nvPr/>
        </p:nvSpPr>
        <p:spPr>
          <a:xfrm>
            <a:off x="3090672" y="1280160"/>
            <a:ext cx="2423160" cy="310896"/>
          </a:xfrm>
          <a:prstGeom prst="rect">
            <a:avLst/>
          </a:prstGeom>
          <a:solidFill>
            <a:srgbClr val="02160A"/>
          </a:solidFill>
          <a:ln w="8890">
            <a:solidFill>
              <a:srgbClr val="00FF88"/>
            </a:solidFill>
            <a:prstDash val="solid"/>
          </a:ln>
        </p:spPr>
      </p:sp>
      <p:sp>
        <p:nvSpPr>
          <p:cNvPr id="18" name="Text 16"/>
          <p:cNvSpPr/>
          <p:nvPr/>
        </p:nvSpPr>
        <p:spPr>
          <a:xfrm>
            <a:off x="3163824" y="1280160"/>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8 cats · 0-100</a:t>
            </a:r>
            <a:endParaRPr lang="en-US" sz="880" dirty="0"/>
          </a:p>
        </p:txBody>
      </p:sp>
      <p:sp>
        <p:nvSpPr>
          <p:cNvPr id="19" name="Shape 17"/>
          <p:cNvSpPr/>
          <p:nvPr/>
        </p:nvSpPr>
        <p:spPr>
          <a:xfrm>
            <a:off x="5596128" y="1280160"/>
            <a:ext cx="1618488" cy="310896"/>
          </a:xfrm>
          <a:prstGeom prst="rect">
            <a:avLst/>
          </a:prstGeom>
          <a:solidFill>
            <a:srgbClr val="030E1A"/>
          </a:solidFill>
          <a:ln w="3175">
            <a:solidFill>
              <a:srgbClr val="3D6080"/>
            </a:solidFill>
            <a:prstDash val="solid"/>
          </a:ln>
        </p:spPr>
      </p:sp>
      <p:sp>
        <p:nvSpPr>
          <p:cNvPr id="20" name="Text 18"/>
          <p:cNvSpPr/>
          <p:nvPr/>
        </p:nvSpPr>
        <p:spPr>
          <a:xfrm>
            <a:off x="5669280" y="1280160"/>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Manual</a:t>
            </a:r>
            <a:endParaRPr lang="en-US" sz="880" dirty="0"/>
          </a:p>
        </p:txBody>
      </p:sp>
      <p:sp>
        <p:nvSpPr>
          <p:cNvPr id="21" name="Shape 19"/>
          <p:cNvSpPr/>
          <p:nvPr/>
        </p:nvSpPr>
        <p:spPr>
          <a:xfrm>
            <a:off x="7296912" y="1280160"/>
            <a:ext cx="1673352" cy="310896"/>
          </a:xfrm>
          <a:prstGeom prst="rect">
            <a:avLst/>
          </a:prstGeom>
          <a:solidFill>
            <a:srgbClr val="030E1A"/>
          </a:solidFill>
          <a:ln w="3175">
            <a:solidFill>
              <a:srgbClr val="3D6080"/>
            </a:solidFill>
            <a:prstDash val="solid"/>
          </a:ln>
        </p:spPr>
      </p:sp>
      <p:sp>
        <p:nvSpPr>
          <p:cNvPr id="22" name="Text 20"/>
          <p:cNvSpPr/>
          <p:nvPr/>
        </p:nvSpPr>
        <p:spPr>
          <a:xfrm>
            <a:off x="7370064" y="1280160"/>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Basic</a:t>
            </a:r>
            <a:endParaRPr lang="en-US" sz="880" dirty="0"/>
          </a:p>
        </p:txBody>
      </p:sp>
      <p:sp>
        <p:nvSpPr>
          <p:cNvPr id="23" name="Shape 21"/>
          <p:cNvSpPr/>
          <p:nvPr/>
        </p:nvSpPr>
        <p:spPr>
          <a:xfrm>
            <a:off x="256032" y="1613916"/>
            <a:ext cx="2752344" cy="310896"/>
          </a:xfrm>
          <a:prstGeom prst="rect">
            <a:avLst/>
          </a:prstGeom>
          <a:solidFill>
            <a:srgbClr val="112030"/>
          </a:solidFill>
          <a:ln w="3175">
            <a:solidFill>
              <a:srgbClr val="3D6080"/>
            </a:solidFill>
            <a:prstDash val="solid"/>
          </a:ln>
        </p:spPr>
      </p:sp>
      <p:sp>
        <p:nvSpPr>
          <p:cNvPr id="24" name="Text 22"/>
          <p:cNvSpPr/>
          <p:nvPr/>
        </p:nvSpPr>
        <p:spPr>
          <a:xfrm>
            <a:off x="329184" y="1613916"/>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Blockchain Audit</a:t>
            </a:r>
            <a:endParaRPr lang="en-US" sz="880" dirty="0"/>
          </a:p>
        </p:txBody>
      </p:sp>
      <p:sp>
        <p:nvSpPr>
          <p:cNvPr id="25" name="Shape 23"/>
          <p:cNvSpPr/>
          <p:nvPr/>
        </p:nvSpPr>
        <p:spPr>
          <a:xfrm>
            <a:off x="3090672" y="1613916"/>
            <a:ext cx="2423160" cy="310896"/>
          </a:xfrm>
          <a:prstGeom prst="rect">
            <a:avLst/>
          </a:prstGeom>
          <a:solidFill>
            <a:srgbClr val="02160A"/>
          </a:solidFill>
          <a:ln w="8890">
            <a:solidFill>
              <a:srgbClr val="00FF88"/>
            </a:solidFill>
            <a:prstDash val="solid"/>
          </a:ln>
        </p:spPr>
      </p:sp>
      <p:sp>
        <p:nvSpPr>
          <p:cNvPr id="26" name="Text 24"/>
          <p:cNvSpPr/>
          <p:nvPr/>
        </p:nvSpPr>
        <p:spPr>
          <a:xfrm>
            <a:off x="3163824" y="1613916"/>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SHA-256 proof</a:t>
            </a:r>
            <a:endParaRPr lang="en-US" sz="880" dirty="0"/>
          </a:p>
        </p:txBody>
      </p:sp>
      <p:sp>
        <p:nvSpPr>
          <p:cNvPr id="27" name="Shape 25"/>
          <p:cNvSpPr/>
          <p:nvPr/>
        </p:nvSpPr>
        <p:spPr>
          <a:xfrm>
            <a:off x="5596128" y="1613916"/>
            <a:ext cx="1618488" cy="310896"/>
          </a:xfrm>
          <a:prstGeom prst="rect">
            <a:avLst/>
          </a:prstGeom>
          <a:solidFill>
            <a:srgbClr val="112030"/>
          </a:solidFill>
          <a:ln w="3175">
            <a:solidFill>
              <a:srgbClr val="3D6080"/>
            </a:solidFill>
            <a:prstDash val="solid"/>
          </a:ln>
        </p:spPr>
      </p:sp>
      <p:sp>
        <p:nvSpPr>
          <p:cNvPr id="28" name="Text 26"/>
          <p:cNvSpPr/>
          <p:nvPr/>
        </p:nvSpPr>
        <p:spPr>
          <a:xfrm>
            <a:off x="5669280" y="1613916"/>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29" name="Shape 27"/>
          <p:cNvSpPr/>
          <p:nvPr/>
        </p:nvSpPr>
        <p:spPr>
          <a:xfrm>
            <a:off x="7296912" y="1613916"/>
            <a:ext cx="1673352" cy="310896"/>
          </a:xfrm>
          <a:prstGeom prst="rect">
            <a:avLst/>
          </a:prstGeom>
          <a:solidFill>
            <a:srgbClr val="112030"/>
          </a:solidFill>
          <a:ln w="3175">
            <a:solidFill>
              <a:srgbClr val="3D6080"/>
            </a:solidFill>
            <a:prstDash val="solid"/>
          </a:ln>
        </p:spPr>
      </p:sp>
      <p:sp>
        <p:nvSpPr>
          <p:cNvPr id="30" name="Text 28"/>
          <p:cNvSpPr/>
          <p:nvPr/>
        </p:nvSpPr>
        <p:spPr>
          <a:xfrm>
            <a:off x="7370064" y="1613916"/>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31" name="Shape 29"/>
          <p:cNvSpPr/>
          <p:nvPr/>
        </p:nvSpPr>
        <p:spPr>
          <a:xfrm>
            <a:off x="256032" y="1947672"/>
            <a:ext cx="2752344" cy="310896"/>
          </a:xfrm>
          <a:prstGeom prst="rect">
            <a:avLst/>
          </a:prstGeom>
          <a:solidFill>
            <a:srgbClr val="030E1A"/>
          </a:solidFill>
          <a:ln w="3175">
            <a:solidFill>
              <a:srgbClr val="3D6080"/>
            </a:solidFill>
            <a:prstDash val="solid"/>
          </a:ln>
        </p:spPr>
      </p:sp>
      <p:sp>
        <p:nvSpPr>
          <p:cNvPr id="32" name="Text 30"/>
          <p:cNvSpPr/>
          <p:nvPr/>
        </p:nvSpPr>
        <p:spPr>
          <a:xfrm>
            <a:off x="329184" y="1947672"/>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Corruption Detection</a:t>
            </a:r>
            <a:endParaRPr lang="en-US" sz="880" dirty="0"/>
          </a:p>
        </p:txBody>
      </p:sp>
      <p:sp>
        <p:nvSpPr>
          <p:cNvPr id="33" name="Shape 31"/>
          <p:cNvSpPr/>
          <p:nvPr/>
        </p:nvSpPr>
        <p:spPr>
          <a:xfrm>
            <a:off x="3090672" y="1947672"/>
            <a:ext cx="2423160" cy="310896"/>
          </a:xfrm>
          <a:prstGeom prst="rect">
            <a:avLst/>
          </a:prstGeom>
          <a:solidFill>
            <a:srgbClr val="02160A"/>
          </a:solidFill>
          <a:ln w="8890">
            <a:solidFill>
              <a:srgbClr val="00FF88"/>
            </a:solidFill>
            <a:prstDash val="solid"/>
          </a:ln>
        </p:spPr>
      </p:sp>
      <p:sp>
        <p:nvSpPr>
          <p:cNvPr id="34" name="Text 32"/>
          <p:cNvSpPr/>
          <p:nvPr/>
        </p:nvSpPr>
        <p:spPr>
          <a:xfrm>
            <a:off x="3163824" y="1947672"/>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Auto-flag</a:t>
            </a:r>
            <a:endParaRPr lang="en-US" sz="880" dirty="0"/>
          </a:p>
        </p:txBody>
      </p:sp>
      <p:sp>
        <p:nvSpPr>
          <p:cNvPr id="35" name="Shape 33"/>
          <p:cNvSpPr/>
          <p:nvPr/>
        </p:nvSpPr>
        <p:spPr>
          <a:xfrm>
            <a:off x="5596128" y="1947672"/>
            <a:ext cx="1618488" cy="310896"/>
          </a:xfrm>
          <a:prstGeom prst="rect">
            <a:avLst/>
          </a:prstGeom>
          <a:solidFill>
            <a:srgbClr val="030E1A"/>
          </a:solidFill>
          <a:ln w="3175">
            <a:solidFill>
              <a:srgbClr val="3D6080"/>
            </a:solidFill>
            <a:prstDash val="solid"/>
          </a:ln>
        </p:spPr>
      </p:sp>
      <p:sp>
        <p:nvSpPr>
          <p:cNvPr id="36" name="Text 34"/>
          <p:cNvSpPr/>
          <p:nvPr/>
        </p:nvSpPr>
        <p:spPr>
          <a:xfrm>
            <a:off x="5669280" y="1947672"/>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37" name="Shape 35"/>
          <p:cNvSpPr/>
          <p:nvPr/>
        </p:nvSpPr>
        <p:spPr>
          <a:xfrm>
            <a:off x="7296912" y="1947672"/>
            <a:ext cx="1673352" cy="310896"/>
          </a:xfrm>
          <a:prstGeom prst="rect">
            <a:avLst/>
          </a:prstGeom>
          <a:solidFill>
            <a:srgbClr val="030E1A"/>
          </a:solidFill>
          <a:ln w="3175">
            <a:solidFill>
              <a:srgbClr val="3D6080"/>
            </a:solidFill>
            <a:prstDash val="solid"/>
          </a:ln>
        </p:spPr>
      </p:sp>
      <p:sp>
        <p:nvSpPr>
          <p:cNvPr id="38" name="Text 36"/>
          <p:cNvSpPr/>
          <p:nvPr/>
        </p:nvSpPr>
        <p:spPr>
          <a:xfrm>
            <a:off x="7370064" y="1947672"/>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39" name="Shape 37"/>
          <p:cNvSpPr/>
          <p:nvPr/>
        </p:nvSpPr>
        <p:spPr>
          <a:xfrm>
            <a:off x="256032" y="2281428"/>
            <a:ext cx="2752344" cy="310896"/>
          </a:xfrm>
          <a:prstGeom prst="rect">
            <a:avLst/>
          </a:prstGeom>
          <a:solidFill>
            <a:srgbClr val="112030"/>
          </a:solidFill>
          <a:ln w="3175">
            <a:solidFill>
              <a:srgbClr val="3D6080"/>
            </a:solidFill>
            <a:prstDash val="solid"/>
          </a:ln>
        </p:spPr>
      </p:sp>
      <p:sp>
        <p:nvSpPr>
          <p:cNvPr id="40" name="Text 38"/>
          <p:cNvSpPr/>
          <p:nvPr/>
        </p:nvSpPr>
        <p:spPr>
          <a:xfrm>
            <a:off x="329184" y="2281428"/>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AI Automation 24/7</a:t>
            </a:r>
            <a:endParaRPr lang="en-US" sz="880" dirty="0"/>
          </a:p>
        </p:txBody>
      </p:sp>
      <p:sp>
        <p:nvSpPr>
          <p:cNvPr id="41" name="Shape 39"/>
          <p:cNvSpPr/>
          <p:nvPr/>
        </p:nvSpPr>
        <p:spPr>
          <a:xfrm>
            <a:off x="3090672" y="2281428"/>
            <a:ext cx="2423160" cy="310896"/>
          </a:xfrm>
          <a:prstGeom prst="rect">
            <a:avLst/>
          </a:prstGeom>
          <a:solidFill>
            <a:srgbClr val="02160A"/>
          </a:solidFill>
          <a:ln w="8890">
            <a:solidFill>
              <a:srgbClr val="00FF88"/>
            </a:solidFill>
            <a:prstDash val="solid"/>
          </a:ln>
        </p:spPr>
      </p:sp>
      <p:sp>
        <p:nvSpPr>
          <p:cNvPr id="42" name="Text 40"/>
          <p:cNvSpPr/>
          <p:nvPr/>
        </p:nvSpPr>
        <p:spPr>
          <a:xfrm>
            <a:off x="3163824" y="2281428"/>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8 jobs</a:t>
            </a:r>
            <a:endParaRPr lang="en-US" sz="880" dirty="0"/>
          </a:p>
        </p:txBody>
      </p:sp>
      <p:sp>
        <p:nvSpPr>
          <p:cNvPr id="43" name="Shape 41"/>
          <p:cNvSpPr/>
          <p:nvPr/>
        </p:nvSpPr>
        <p:spPr>
          <a:xfrm>
            <a:off x="5596128" y="2281428"/>
            <a:ext cx="1618488" cy="310896"/>
          </a:xfrm>
          <a:prstGeom prst="rect">
            <a:avLst/>
          </a:prstGeom>
          <a:solidFill>
            <a:srgbClr val="112030"/>
          </a:solidFill>
          <a:ln w="3175">
            <a:solidFill>
              <a:srgbClr val="3D6080"/>
            </a:solidFill>
            <a:prstDash val="solid"/>
          </a:ln>
        </p:spPr>
      </p:sp>
      <p:sp>
        <p:nvSpPr>
          <p:cNvPr id="44" name="Text 42"/>
          <p:cNvSpPr/>
          <p:nvPr/>
        </p:nvSpPr>
        <p:spPr>
          <a:xfrm>
            <a:off x="5669280" y="2281428"/>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Manual</a:t>
            </a:r>
            <a:endParaRPr lang="en-US" sz="880" dirty="0"/>
          </a:p>
        </p:txBody>
      </p:sp>
      <p:sp>
        <p:nvSpPr>
          <p:cNvPr id="45" name="Shape 43"/>
          <p:cNvSpPr/>
          <p:nvPr/>
        </p:nvSpPr>
        <p:spPr>
          <a:xfrm>
            <a:off x="7296912" y="2281428"/>
            <a:ext cx="1673352" cy="310896"/>
          </a:xfrm>
          <a:prstGeom prst="rect">
            <a:avLst/>
          </a:prstGeom>
          <a:solidFill>
            <a:srgbClr val="112030"/>
          </a:solidFill>
          <a:ln w="3175">
            <a:solidFill>
              <a:srgbClr val="3D6080"/>
            </a:solidFill>
            <a:prstDash val="solid"/>
          </a:ln>
        </p:spPr>
      </p:sp>
      <p:sp>
        <p:nvSpPr>
          <p:cNvPr id="46" name="Text 44"/>
          <p:cNvSpPr/>
          <p:nvPr/>
        </p:nvSpPr>
        <p:spPr>
          <a:xfrm>
            <a:off x="7370064" y="2281428"/>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47" name="Shape 45"/>
          <p:cNvSpPr/>
          <p:nvPr/>
        </p:nvSpPr>
        <p:spPr>
          <a:xfrm>
            <a:off x="256032" y="2615184"/>
            <a:ext cx="2752344" cy="310896"/>
          </a:xfrm>
          <a:prstGeom prst="rect">
            <a:avLst/>
          </a:prstGeom>
          <a:solidFill>
            <a:srgbClr val="030E1A"/>
          </a:solidFill>
          <a:ln w="3175">
            <a:solidFill>
              <a:srgbClr val="3D6080"/>
            </a:solidFill>
            <a:prstDash val="solid"/>
          </a:ln>
        </p:spPr>
      </p:sp>
      <p:sp>
        <p:nvSpPr>
          <p:cNvPr id="48" name="Text 46"/>
          <p:cNvSpPr/>
          <p:nvPr/>
        </p:nvSpPr>
        <p:spPr>
          <a:xfrm>
            <a:off x="329184" y="2615184"/>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Bilingual AI Chat</a:t>
            </a:r>
            <a:endParaRPr lang="en-US" sz="880" dirty="0"/>
          </a:p>
        </p:txBody>
      </p:sp>
      <p:sp>
        <p:nvSpPr>
          <p:cNvPr id="49" name="Shape 47"/>
          <p:cNvSpPr/>
          <p:nvPr/>
        </p:nvSpPr>
        <p:spPr>
          <a:xfrm>
            <a:off x="3090672" y="2615184"/>
            <a:ext cx="2423160" cy="310896"/>
          </a:xfrm>
          <a:prstGeom prst="rect">
            <a:avLst/>
          </a:prstGeom>
          <a:solidFill>
            <a:srgbClr val="02160A"/>
          </a:solidFill>
          <a:ln w="8890">
            <a:solidFill>
              <a:srgbClr val="00FF88"/>
            </a:solidFill>
            <a:prstDash val="solid"/>
          </a:ln>
        </p:spPr>
      </p:sp>
      <p:sp>
        <p:nvSpPr>
          <p:cNvPr id="50" name="Text 48"/>
          <p:cNvSpPr/>
          <p:nvPr/>
        </p:nvSpPr>
        <p:spPr>
          <a:xfrm>
            <a:off x="3163824" y="2615184"/>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Hindi + English</a:t>
            </a:r>
            <a:endParaRPr lang="en-US" sz="880" dirty="0"/>
          </a:p>
        </p:txBody>
      </p:sp>
      <p:sp>
        <p:nvSpPr>
          <p:cNvPr id="51" name="Shape 49"/>
          <p:cNvSpPr/>
          <p:nvPr/>
        </p:nvSpPr>
        <p:spPr>
          <a:xfrm>
            <a:off x="5596128" y="2615184"/>
            <a:ext cx="1618488" cy="310896"/>
          </a:xfrm>
          <a:prstGeom prst="rect">
            <a:avLst/>
          </a:prstGeom>
          <a:solidFill>
            <a:srgbClr val="030E1A"/>
          </a:solidFill>
          <a:ln w="3175">
            <a:solidFill>
              <a:srgbClr val="3D6080"/>
            </a:solidFill>
            <a:prstDash val="solid"/>
          </a:ln>
        </p:spPr>
      </p:sp>
      <p:sp>
        <p:nvSpPr>
          <p:cNvPr id="52" name="Text 50"/>
          <p:cNvSpPr/>
          <p:nvPr/>
        </p:nvSpPr>
        <p:spPr>
          <a:xfrm>
            <a:off x="5669280" y="2615184"/>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53" name="Shape 51"/>
          <p:cNvSpPr/>
          <p:nvPr/>
        </p:nvSpPr>
        <p:spPr>
          <a:xfrm>
            <a:off x="7296912" y="2615184"/>
            <a:ext cx="1673352" cy="310896"/>
          </a:xfrm>
          <a:prstGeom prst="rect">
            <a:avLst/>
          </a:prstGeom>
          <a:solidFill>
            <a:srgbClr val="030E1A"/>
          </a:solidFill>
          <a:ln w="3175">
            <a:solidFill>
              <a:srgbClr val="3D6080"/>
            </a:solidFill>
            <a:prstDash val="solid"/>
          </a:ln>
        </p:spPr>
      </p:sp>
      <p:sp>
        <p:nvSpPr>
          <p:cNvPr id="54" name="Text 52"/>
          <p:cNvSpPr/>
          <p:nvPr/>
        </p:nvSpPr>
        <p:spPr>
          <a:xfrm>
            <a:off x="7370064" y="2615184"/>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FAQ only</a:t>
            </a:r>
            <a:endParaRPr lang="en-US" sz="880" dirty="0"/>
          </a:p>
        </p:txBody>
      </p:sp>
      <p:sp>
        <p:nvSpPr>
          <p:cNvPr id="55" name="Shape 53"/>
          <p:cNvSpPr/>
          <p:nvPr/>
        </p:nvSpPr>
        <p:spPr>
          <a:xfrm>
            <a:off x="256032" y="2948940"/>
            <a:ext cx="2752344" cy="310896"/>
          </a:xfrm>
          <a:prstGeom prst="rect">
            <a:avLst/>
          </a:prstGeom>
          <a:solidFill>
            <a:srgbClr val="112030"/>
          </a:solidFill>
          <a:ln w="3175">
            <a:solidFill>
              <a:srgbClr val="3D6080"/>
            </a:solidFill>
            <a:prstDash val="solid"/>
          </a:ln>
        </p:spPr>
      </p:sp>
      <p:sp>
        <p:nvSpPr>
          <p:cNvPr id="56" name="Text 54"/>
          <p:cNvSpPr/>
          <p:nvPr/>
        </p:nvSpPr>
        <p:spPr>
          <a:xfrm>
            <a:off x="329184" y="2948940"/>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Hindi Voice Input</a:t>
            </a:r>
            <a:endParaRPr lang="en-US" sz="880" dirty="0"/>
          </a:p>
        </p:txBody>
      </p:sp>
      <p:sp>
        <p:nvSpPr>
          <p:cNvPr id="57" name="Shape 55"/>
          <p:cNvSpPr/>
          <p:nvPr/>
        </p:nvSpPr>
        <p:spPr>
          <a:xfrm>
            <a:off x="3090672" y="2948940"/>
            <a:ext cx="2423160" cy="310896"/>
          </a:xfrm>
          <a:prstGeom prst="rect">
            <a:avLst/>
          </a:prstGeom>
          <a:solidFill>
            <a:srgbClr val="02160A"/>
          </a:solidFill>
          <a:ln w="8890">
            <a:solidFill>
              <a:srgbClr val="00FF88"/>
            </a:solidFill>
            <a:prstDash val="solid"/>
          </a:ln>
        </p:spPr>
      </p:sp>
      <p:sp>
        <p:nvSpPr>
          <p:cNvPr id="58" name="Text 56"/>
          <p:cNvSpPr/>
          <p:nvPr/>
        </p:nvSpPr>
        <p:spPr>
          <a:xfrm>
            <a:off x="3163824" y="2948940"/>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 Live</a:t>
            </a:r>
            <a:endParaRPr lang="en-US" sz="880" dirty="0"/>
          </a:p>
        </p:txBody>
      </p:sp>
      <p:sp>
        <p:nvSpPr>
          <p:cNvPr id="59" name="Shape 57"/>
          <p:cNvSpPr/>
          <p:nvPr/>
        </p:nvSpPr>
        <p:spPr>
          <a:xfrm>
            <a:off x="5596128" y="2948940"/>
            <a:ext cx="1618488" cy="310896"/>
          </a:xfrm>
          <a:prstGeom prst="rect">
            <a:avLst/>
          </a:prstGeom>
          <a:solidFill>
            <a:srgbClr val="112030"/>
          </a:solidFill>
          <a:ln w="3175">
            <a:solidFill>
              <a:srgbClr val="3D6080"/>
            </a:solidFill>
            <a:prstDash val="solid"/>
          </a:ln>
        </p:spPr>
      </p:sp>
      <p:sp>
        <p:nvSpPr>
          <p:cNvPr id="60" name="Text 58"/>
          <p:cNvSpPr/>
          <p:nvPr/>
        </p:nvSpPr>
        <p:spPr>
          <a:xfrm>
            <a:off x="5669280" y="2948940"/>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61" name="Shape 59"/>
          <p:cNvSpPr/>
          <p:nvPr/>
        </p:nvSpPr>
        <p:spPr>
          <a:xfrm>
            <a:off x="7296912" y="2948940"/>
            <a:ext cx="1673352" cy="310896"/>
          </a:xfrm>
          <a:prstGeom prst="rect">
            <a:avLst/>
          </a:prstGeom>
          <a:solidFill>
            <a:srgbClr val="112030"/>
          </a:solidFill>
          <a:ln w="3175">
            <a:solidFill>
              <a:srgbClr val="3D6080"/>
            </a:solidFill>
            <a:prstDash val="solid"/>
          </a:ln>
        </p:spPr>
      </p:sp>
      <p:sp>
        <p:nvSpPr>
          <p:cNvPr id="62" name="Text 60"/>
          <p:cNvSpPr/>
          <p:nvPr/>
        </p:nvSpPr>
        <p:spPr>
          <a:xfrm>
            <a:off x="7370064" y="2948940"/>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63" name="Shape 61"/>
          <p:cNvSpPr/>
          <p:nvPr/>
        </p:nvSpPr>
        <p:spPr>
          <a:xfrm>
            <a:off x="256032" y="3282696"/>
            <a:ext cx="2752344" cy="310896"/>
          </a:xfrm>
          <a:prstGeom prst="rect">
            <a:avLst/>
          </a:prstGeom>
          <a:solidFill>
            <a:srgbClr val="030E1A"/>
          </a:solidFill>
          <a:ln w="3175">
            <a:solidFill>
              <a:srgbClr val="3D6080"/>
            </a:solidFill>
            <a:prstDash val="solid"/>
          </a:ln>
        </p:spPr>
      </p:sp>
      <p:sp>
        <p:nvSpPr>
          <p:cNvPr id="64" name="Text 62"/>
          <p:cNvSpPr/>
          <p:nvPr/>
        </p:nvSpPr>
        <p:spPr>
          <a:xfrm>
            <a:off x="329184" y="3282696"/>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OTP Authentication</a:t>
            </a:r>
            <a:endParaRPr lang="en-US" sz="880" dirty="0"/>
          </a:p>
        </p:txBody>
      </p:sp>
      <p:sp>
        <p:nvSpPr>
          <p:cNvPr id="65" name="Shape 63"/>
          <p:cNvSpPr/>
          <p:nvPr/>
        </p:nvSpPr>
        <p:spPr>
          <a:xfrm>
            <a:off x="3090672" y="3282696"/>
            <a:ext cx="2423160" cy="310896"/>
          </a:xfrm>
          <a:prstGeom prst="rect">
            <a:avLst/>
          </a:prstGeom>
          <a:solidFill>
            <a:srgbClr val="02160A"/>
          </a:solidFill>
          <a:ln w="8890">
            <a:solidFill>
              <a:srgbClr val="00FF88"/>
            </a:solidFill>
            <a:prstDash val="solid"/>
          </a:ln>
        </p:spPr>
      </p:sp>
      <p:sp>
        <p:nvSpPr>
          <p:cNvPr id="66" name="Text 64"/>
          <p:cNvSpPr/>
          <p:nvPr/>
        </p:nvSpPr>
        <p:spPr>
          <a:xfrm>
            <a:off x="3163824" y="3282696"/>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Mobile reg</a:t>
            </a:r>
            <a:endParaRPr lang="en-US" sz="880" dirty="0"/>
          </a:p>
        </p:txBody>
      </p:sp>
      <p:sp>
        <p:nvSpPr>
          <p:cNvPr id="67" name="Shape 65"/>
          <p:cNvSpPr/>
          <p:nvPr/>
        </p:nvSpPr>
        <p:spPr>
          <a:xfrm>
            <a:off x="5596128" y="3282696"/>
            <a:ext cx="1618488" cy="310896"/>
          </a:xfrm>
          <a:prstGeom prst="rect">
            <a:avLst/>
          </a:prstGeom>
          <a:solidFill>
            <a:srgbClr val="030E1A"/>
          </a:solidFill>
          <a:ln w="3175">
            <a:solidFill>
              <a:srgbClr val="3D6080"/>
            </a:solidFill>
            <a:prstDash val="solid"/>
          </a:ln>
        </p:spPr>
      </p:sp>
      <p:sp>
        <p:nvSpPr>
          <p:cNvPr id="68" name="Text 66"/>
          <p:cNvSpPr/>
          <p:nvPr/>
        </p:nvSpPr>
        <p:spPr>
          <a:xfrm>
            <a:off x="5669280" y="3282696"/>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Govt ID</a:t>
            </a:r>
            <a:endParaRPr lang="en-US" sz="880" dirty="0"/>
          </a:p>
        </p:txBody>
      </p:sp>
      <p:sp>
        <p:nvSpPr>
          <p:cNvPr id="69" name="Shape 67"/>
          <p:cNvSpPr/>
          <p:nvPr/>
        </p:nvSpPr>
        <p:spPr>
          <a:xfrm>
            <a:off x="7296912" y="3282696"/>
            <a:ext cx="1673352" cy="310896"/>
          </a:xfrm>
          <a:prstGeom prst="rect">
            <a:avLst/>
          </a:prstGeom>
          <a:solidFill>
            <a:srgbClr val="030E1A"/>
          </a:solidFill>
          <a:ln w="3175">
            <a:solidFill>
              <a:srgbClr val="3D6080"/>
            </a:solidFill>
            <a:prstDash val="solid"/>
          </a:ln>
        </p:spPr>
      </p:sp>
      <p:sp>
        <p:nvSpPr>
          <p:cNvPr id="70" name="Text 68"/>
          <p:cNvSpPr/>
          <p:nvPr/>
        </p:nvSpPr>
        <p:spPr>
          <a:xfrm>
            <a:off x="7370064" y="3282696"/>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Email</a:t>
            </a:r>
            <a:endParaRPr lang="en-US" sz="880" dirty="0"/>
          </a:p>
        </p:txBody>
      </p:sp>
      <p:sp>
        <p:nvSpPr>
          <p:cNvPr id="71" name="Shape 69"/>
          <p:cNvSpPr/>
          <p:nvPr/>
        </p:nvSpPr>
        <p:spPr>
          <a:xfrm>
            <a:off x="256032" y="3616452"/>
            <a:ext cx="2752344" cy="310896"/>
          </a:xfrm>
          <a:prstGeom prst="rect">
            <a:avLst/>
          </a:prstGeom>
          <a:solidFill>
            <a:srgbClr val="112030"/>
          </a:solidFill>
          <a:ln w="3175">
            <a:solidFill>
              <a:srgbClr val="3D6080"/>
            </a:solidFill>
            <a:prstDash val="solid"/>
          </a:ln>
        </p:spPr>
      </p:sp>
      <p:sp>
        <p:nvSpPr>
          <p:cNvPr id="72" name="Text 70"/>
          <p:cNvSpPr/>
          <p:nvPr/>
        </p:nvSpPr>
        <p:spPr>
          <a:xfrm>
            <a:off x="329184" y="3616452"/>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WhatsApp Alerts</a:t>
            </a:r>
            <a:endParaRPr lang="en-US" sz="880" dirty="0"/>
          </a:p>
        </p:txBody>
      </p:sp>
      <p:sp>
        <p:nvSpPr>
          <p:cNvPr id="73" name="Shape 71"/>
          <p:cNvSpPr/>
          <p:nvPr/>
        </p:nvSpPr>
        <p:spPr>
          <a:xfrm>
            <a:off x="3090672" y="3616452"/>
            <a:ext cx="2423160" cy="310896"/>
          </a:xfrm>
          <a:prstGeom prst="rect">
            <a:avLst/>
          </a:prstGeom>
          <a:solidFill>
            <a:srgbClr val="02160A"/>
          </a:solidFill>
          <a:ln w="8890">
            <a:solidFill>
              <a:srgbClr val="00FF88"/>
            </a:solidFill>
            <a:prstDash val="solid"/>
          </a:ln>
        </p:spPr>
      </p:sp>
      <p:sp>
        <p:nvSpPr>
          <p:cNvPr id="74" name="Text 72"/>
          <p:cNvSpPr/>
          <p:nvPr/>
        </p:nvSpPr>
        <p:spPr>
          <a:xfrm>
            <a:off x="3163824" y="3616452"/>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Instant</a:t>
            </a:r>
            <a:endParaRPr lang="en-US" sz="880" dirty="0"/>
          </a:p>
        </p:txBody>
      </p:sp>
      <p:sp>
        <p:nvSpPr>
          <p:cNvPr id="75" name="Shape 73"/>
          <p:cNvSpPr/>
          <p:nvPr/>
        </p:nvSpPr>
        <p:spPr>
          <a:xfrm>
            <a:off x="5596128" y="3616452"/>
            <a:ext cx="1618488" cy="310896"/>
          </a:xfrm>
          <a:prstGeom prst="rect">
            <a:avLst/>
          </a:prstGeom>
          <a:solidFill>
            <a:srgbClr val="112030"/>
          </a:solidFill>
          <a:ln w="3175">
            <a:solidFill>
              <a:srgbClr val="3D6080"/>
            </a:solidFill>
            <a:prstDash val="solid"/>
          </a:ln>
        </p:spPr>
      </p:sp>
      <p:sp>
        <p:nvSpPr>
          <p:cNvPr id="76" name="Text 74"/>
          <p:cNvSpPr/>
          <p:nvPr/>
        </p:nvSpPr>
        <p:spPr>
          <a:xfrm>
            <a:off x="5669280" y="3616452"/>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None</a:t>
            </a:r>
            <a:endParaRPr lang="en-US" sz="880" dirty="0"/>
          </a:p>
        </p:txBody>
      </p:sp>
      <p:sp>
        <p:nvSpPr>
          <p:cNvPr id="77" name="Shape 75"/>
          <p:cNvSpPr/>
          <p:nvPr/>
        </p:nvSpPr>
        <p:spPr>
          <a:xfrm>
            <a:off x="7296912" y="3616452"/>
            <a:ext cx="1673352" cy="310896"/>
          </a:xfrm>
          <a:prstGeom prst="rect">
            <a:avLst/>
          </a:prstGeom>
          <a:solidFill>
            <a:srgbClr val="112030"/>
          </a:solidFill>
          <a:ln w="3175">
            <a:solidFill>
              <a:srgbClr val="3D6080"/>
            </a:solidFill>
            <a:prstDash val="solid"/>
          </a:ln>
        </p:spPr>
      </p:sp>
      <p:sp>
        <p:nvSpPr>
          <p:cNvPr id="78" name="Text 76"/>
          <p:cNvSpPr/>
          <p:nvPr/>
        </p:nvSpPr>
        <p:spPr>
          <a:xfrm>
            <a:off x="7370064" y="3616452"/>
            <a:ext cx="1554480" cy="310896"/>
          </a:xfrm>
          <a:prstGeom prst="rect">
            <a:avLst/>
          </a:prstGeom>
          <a:noFill/>
          <a:ln/>
        </p:spPr>
        <p:txBody>
          <a:bodyPr wrap="square" lIns="0" tIns="0" rIns="0" bIns="0" rtlCol="0" anchor="ctr"/>
          <a:lstStyle/>
          <a:p>
            <a:pPr indent="0" marL="0">
              <a:buNone/>
            </a:pPr>
            <a:r>
              <a:rPr lang="en-US" sz="880" dirty="0">
                <a:solidFill>
                  <a:srgbClr val="FFCC00"/>
                </a:solidFill>
                <a:latin typeface="Calibri" pitchFamily="34" charset="0"/>
                <a:ea typeface="Calibri" pitchFamily="34" charset="-122"/>
                <a:cs typeface="Calibri" pitchFamily="34" charset="-120"/>
              </a:rPr>
              <a:t>⚠ Email</a:t>
            </a:r>
            <a:endParaRPr lang="en-US" sz="880" dirty="0"/>
          </a:p>
        </p:txBody>
      </p:sp>
      <p:sp>
        <p:nvSpPr>
          <p:cNvPr id="79" name="Shape 77"/>
          <p:cNvSpPr/>
          <p:nvPr/>
        </p:nvSpPr>
        <p:spPr>
          <a:xfrm>
            <a:off x="256032" y="3950208"/>
            <a:ext cx="2752344" cy="310896"/>
          </a:xfrm>
          <a:prstGeom prst="rect">
            <a:avLst/>
          </a:prstGeom>
          <a:solidFill>
            <a:srgbClr val="030E1A"/>
          </a:solidFill>
          <a:ln w="3175">
            <a:solidFill>
              <a:srgbClr val="3D6080"/>
            </a:solidFill>
            <a:prstDash val="solid"/>
          </a:ln>
        </p:spPr>
      </p:sp>
      <p:sp>
        <p:nvSpPr>
          <p:cNvPr id="80" name="Text 78"/>
          <p:cNvSpPr/>
          <p:nvPr/>
        </p:nvSpPr>
        <p:spPr>
          <a:xfrm>
            <a:off x="329184" y="3950208"/>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Deploy Time</a:t>
            </a:r>
            <a:endParaRPr lang="en-US" sz="880" dirty="0"/>
          </a:p>
        </p:txBody>
      </p:sp>
      <p:sp>
        <p:nvSpPr>
          <p:cNvPr id="81" name="Shape 79"/>
          <p:cNvSpPr/>
          <p:nvPr/>
        </p:nvSpPr>
        <p:spPr>
          <a:xfrm>
            <a:off x="3090672" y="3950208"/>
            <a:ext cx="2423160" cy="310896"/>
          </a:xfrm>
          <a:prstGeom prst="rect">
            <a:avLst/>
          </a:prstGeom>
          <a:solidFill>
            <a:srgbClr val="02160A"/>
          </a:solidFill>
          <a:ln w="8890">
            <a:solidFill>
              <a:srgbClr val="00FF88"/>
            </a:solidFill>
            <a:prstDash val="solid"/>
          </a:ln>
        </p:spPr>
      </p:sp>
      <p:sp>
        <p:nvSpPr>
          <p:cNvPr id="82" name="Text 80"/>
          <p:cNvSpPr/>
          <p:nvPr/>
        </p:nvSpPr>
        <p:spPr>
          <a:xfrm>
            <a:off x="3163824" y="3950208"/>
            <a:ext cx="2304288" cy="310896"/>
          </a:xfrm>
          <a:prstGeom prst="rect">
            <a:avLst/>
          </a:prstGeom>
          <a:noFill/>
          <a:ln/>
        </p:spPr>
        <p:txBody>
          <a:bodyPr wrap="square" lIns="0" tIns="0" rIns="0" bIns="0" rtlCol="0" anchor="ctr"/>
          <a:lstStyle/>
          <a:p>
            <a:pPr indent="0" marL="0">
              <a:buNone/>
            </a:pPr>
            <a:r>
              <a:rPr lang="en-US" sz="880" dirty="0">
                <a:solidFill>
                  <a:srgbClr val="00FF88"/>
                </a:solidFill>
                <a:latin typeface="Calibri" pitchFamily="34" charset="0"/>
                <a:ea typeface="Calibri" pitchFamily="34" charset="-122"/>
                <a:cs typeface="Calibri" pitchFamily="34" charset="-120"/>
              </a:rPr>
              <a:t>✅ 30 minutes</a:t>
            </a:r>
            <a:endParaRPr lang="en-US" sz="880" dirty="0"/>
          </a:p>
        </p:txBody>
      </p:sp>
      <p:sp>
        <p:nvSpPr>
          <p:cNvPr id="83" name="Shape 81"/>
          <p:cNvSpPr/>
          <p:nvPr/>
        </p:nvSpPr>
        <p:spPr>
          <a:xfrm>
            <a:off x="5596128" y="3950208"/>
            <a:ext cx="1618488" cy="310896"/>
          </a:xfrm>
          <a:prstGeom prst="rect">
            <a:avLst/>
          </a:prstGeom>
          <a:solidFill>
            <a:srgbClr val="030E1A"/>
          </a:solidFill>
          <a:ln w="3175">
            <a:solidFill>
              <a:srgbClr val="3D6080"/>
            </a:solidFill>
            <a:prstDash val="solid"/>
          </a:ln>
        </p:spPr>
      </p:sp>
      <p:sp>
        <p:nvSpPr>
          <p:cNvPr id="84" name="Text 82"/>
          <p:cNvSpPr/>
          <p:nvPr/>
        </p:nvSpPr>
        <p:spPr>
          <a:xfrm>
            <a:off x="5669280" y="3950208"/>
            <a:ext cx="1499616"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Years</a:t>
            </a:r>
            <a:endParaRPr lang="en-US" sz="880" dirty="0"/>
          </a:p>
        </p:txBody>
      </p:sp>
      <p:sp>
        <p:nvSpPr>
          <p:cNvPr id="85" name="Shape 83"/>
          <p:cNvSpPr/>
          <p:nvPr/>
        </p:nvSpPr>
        <p:spPr>
          <a:xfrm>
            <a:off x="7296912" y="3950208"/>
            <a:ext cx="1673352" cy="310896"/>
          </a:xfrm>
          <a:prstGeom prst="rect">
            <a:avLst/>
          </a:prstGeom>
          <a:solidFill>
            <a:srgbClr val="030E1A"/>
          </a:solidFill>
          <a:ln w="3175">
            <a:solidFill>
              <a:srgbClr val="3D6080"/>
            </a:solidFill>
            <a:prstDash val="solid"/>
          </a:ln>
        </p:spPr>
      </p:sp>
      <p:sp>
        <p:nvSpPr>
          <p:cNvPr id="86" name="Text 84"/>
          <p:cNvSpPr/>
          <p:nvPr/>
        </p:nvSpPr>
        <p:spPr>
          <a:xfrm>
            <a:off x="7370064" y="3950208"/>
            <a:ext cx="1554480" cy="310896"/>
          </a:xfrm>
          <a:prstGeom prst="rect">
            <a:avLst/>
          </a:prstGeom>
          <a:noFill/>
          <a:ln/>
        </p:spPr>
        <p:txBody>
          <a:bodyPr wrap="square" lIns="0" tIns="0" rIns="0" bIns="0" rtlCol="0" anchor="ctr"/>
          <a:lstStyle/>
          <a:p>
            <a:pPr indent="0" marL="0">
              <a:buNone/>
            </a:pPr>
            <a:r>
              <a:rPr lang="en-US" sz="880" dirty="0">
                <a:solidFill>
                  <a:srgbClr val="FF2060"/>
                </a:solidFill>
                <a:latin typeface="Calibri" pitchFamily="34" charset="0"/>
                <a:ea typeface="Calibri" pitchFamily="34" charset="-122"/>
                <a:cs typeface="Calibri" pitchFamily="34" charset="-120"/>
              </a:rPr>
              <a:t>❌ Months</a:t>
            </a:r>
            <a:endParaRPr lang="en-US" sz="880" dirty="0"/>
          </a:p>
        </p:txBody>
      </p:sp>
      <p:sp>
        <p:nvSpPr>
          <p:cNvPr id="87" name="Shape 85"/>
          <p:cNvSpPr/>
          <p:nvPr/>
        </p:nvSpPr>
        <p:spPr>
          <a:xfrm>
            <a:off x="256032" y="4283964"/>
            <a:ext cx="2752344" cy="310896"/>
          </a:xfrm>
          <a:prstGeom prst="rect">
            <a:avLst/>
          </a:prstGeom>
          <a:solidFill>
            <a:srgbClr val="112030"/>
          </a:solidFill>
          <a:ln w="3175">
            <a:solidFill>
              <a:srgbClr val="3D6080"/>
            </a:solidFill>
            <a:prstDash val="solid"/>
          </a:ln>
        </p:spPr>
      </p:sp>
      <p:sp>
        <p:nvSpPr>
          <p:cNvPr id="88" name="Text 86"/>
          <p:cNvSpPr/>
          <p:nvPr/>
        </p:nvSpPr>
        <p:spPr>
          <a:xfrm>
            <a:off x="329184" y="4283964"/>
            <a:ext cx="2633472" cy="310896"/>
          </a:xfrm>
          <a:prstGeom prst="rect">
            <a:avLst/>
          </a:prstGeom>
          <a:noFill/>
          <a:ln/>
        </p:spPr>
        <p:txBody>
          <a:bodyPr wrap="square" lIns="0" tIns="0" rIns="0" bIns="0" rtlCol="0" anchor="ctr"/>
          <a:lstStyle/>
          <a:p>
            <a:pPr indent="0" marL="0">
              <a:buNone/>
            </a:pPr>
            <a:r>
              <a:rPr lang="en-US" sz="880" dirty="0">
                <a:solidFill>
                  <a:srgbClr val="EEF6FF"/>
                </a:solidFill>
                <a:latin typeface="Calibri" pitchFamily="34" charset="0"/>
                <a:ea typeface="Calibri" pitchFamily="34" charset="-122"/>
                <a:cs typeface="Calibri" pitchFamily="34" charset="-120"/>
              </a:rPr>
              <a:t>Monthly Cost</a:t>
            </a:r>
            <a:endParaRPr lang="en-US" sz="880" dirty="0"/>
          </a:p>
        </p:txBody>
      </p:sp>
      <p:sp>
        <p:nvSpPr>
          <p:cNvPr id="89" name="Shape 87"/>
          <p:cNvSpPr/>
          <p:nvPr/>
        </p:nvSpPr>
        <p:spPr>
          <a:xfrm>
            <a:off x="3090672" y="4283964"/>
            <a:ext cx="2423160" cy="310896"/>
          </a:xfrm>
          <a:prstGeom prst="rect">
            <a:avLst/>
          </a:prstGeom>
          <a:solidFill>
            <a:srgbClr val="02160A"/>
          </a:solidFill>
          <a:ln w="8890">
            <a:solidFill>
              <a:srgbClr val="00FF88"/>
            </a:solidFill>
            <a:prstDash val="solid"/>
          </a:ln>
        </p:spPr>
      </p:sp>
      <p:sp>
        <p:nvSpPr>
          <p:cNvPr id="90" name="Text 88"/>
          <p:cNvSpPr/>
          <p:nvPr/>
        </p:nvSpPr>
        <p:spPr>
          <a:xfrm>
            <a:off x="3163824" y="4283964"/>
            <a:ext cx="2304288" cy="310896"/>
          </a:xfrm>
          <a:prstGeom prst="rect">
            <a:avLst/>
          </a:prstGeom>
          <a:noFill/>
          <a:ln/>
        </p:spPr>
        <p:txBody>
          <a:bodyPr wrap="square" lIns="0" tIns="0" rIns="0" bIns="0" rtlCol="0" anchor="ctr"/>
          <a:lstStyle/>
          <a:p>
            <a:pPr indent="0" marL="0">
              <a:buNone/>
            </a:pPr>
            <a:r>
              <a:rPr lang="en-US" sz="880" b="1" dirty="0">
                <a:solidFill>
                  <a:srgbClr val="00FF88"/>
                </a:solidFill>
                <a:latin typeface="Calibri" pitchFamily="34" charset="0"/>
                <a:ea typeface="Calibri" pitchFamily="34" charset="-122"/>
                <a:cs typeface="Calibri" pitchFamily="34" charset="-120"/>
              </a:rPr>
              <a:t>✅ ₹0 FOREVER 🎉</a:t>
            </a:r>
            <a:endParaRPr lang="en-US" sz="880" dirty="0"/>
          </a:p>
        </p:txBody>
      </p:sp>
      <p:sp>
        <p:nvSpPr>
          <p:cNvPr id="91" name="Shape 89"/>
          <p:cNvSpPr/>
          <p:nvPr/>
        </p:nvSpPr>
        <p:spPr>
          <a:xfrm>
            <a:off x="5596128" y="4283964"/>
            <a:ext cx="1618488" cy="310896"/>
          </a:xfrm>
          <a:prstGeom prst="rect">
            <a:avLst/>
          </a:prstGeom>
          <a:solidFill>
            <a:srgbClr val="112030"/>
          </a:solidFill>
          <a:ln w="3175">
            <a:solidFill>
              <a:srgbClr val="3D6080"/>
            </a:solidFill>
            <a:prstDash val="solid"/>
          </a:ln>
        </p:spPr>
      </p:sp>
      <p:sp>
        <p:nvSpPr>
          <p:cNvPr id="92" name="Text 90"/>
          <p:cNvSpPr/>
          <p:nvPr/>
        </p:nvSpPr>
        <p:spPr>
          <a:xfrm>
            <a:off x="5669280" y="4283964"/>
            <a:ext cx="1499616" cy="310896"/>
          </a:xfrm>
          <a:prstGeom prst="rect">
            <a:avLst/>
          </a:prstGeom>
          <a:noFill/>
          <a:ln/>
        </p:spPr>
        <p:txBody>
          <a:bodyPr wrap="square" lIns="0" tIns="0" rIns="0" bIns="0" rtlCol="0" anchor="ctr"/>
          <a:lstStyle/>
          <a:p>
            <a:pPr indent="0" marL="0">
              <a:buNone/>
            </a:pPr>
            <a:r>
              <a:rPr lang="en-US" sz="880" dirty="0">
                <a:solidFill>
                  <a:srgbClr val="FFCC00"/>
                </a:solidFill>
                <a:latin typeface="Calibri" pitchFamily="34" charset="0"/>
                <a:ea typeface="Calibri" pitchFamily="34" charset="-122"/>
                <a:cs typeface="Calibri" pitchFamily="34" charset="-120"/>
              </a:rPr>
              <a:t>💸 ₹100Cr+</a:t>
            </a:r>
            <a:endParaRPr lang="en-US" sz="880" dirty="0"/>
          </a:p>
        </p:txBody>
      </p:sp>
      <p:sp>
        <p:nvSpPr>
          <p:cNvPr id="93" name="Shape 91"/>
          <p:cNvSpPr/>
          <p:nvPr/>
        </p:nvSpPr>
        <p:spPr>
          <a:xfrm>
            <a:off x="7296912" y="4283964"/>
            <a:ext cx="1673352" cy="310896"/>
          </a:xfrm>
          <a:prstGeom prst="rect">
            <a:avLst/>
          </a:prstGeom>
          <a:solidFill>
            <a:srgbClr val="112030"/>
          </a:solidFill>
          <a:ln w="3175">
            <a:solidFill>
              <a:srgbClr val="3D6080"/>
            </a:solidFill>
            <a:prstDash val="solid"/>
          </a:ln>
        </p:spPr>
      </p:sp>
      <p:sp>
        <p:nvSpPr>
          <p:cNvPr id="94" name="Text 92"/>
          <p:cNvSpPr/>
          <p:nvPr/>
        </p:nvSpPr>
        <p:spPr>
          <a:xfrm>
            <a:off x="7370064" y="4283964"/>
            <a:ext cx="1554480" cy="310896"/>
          </a:xfrm>
          <a:prstGeom prst="rect">
            <a:avLst/>
          </a:prstGeom>
          <a:noFill/>
          <a:ln/>
        </p:spPr>
        <p:txBody>
          <a:bodyPr wrap="square" lIns="0" tIns="0" rIns="0" bIns="0" rtlCol="0" anchor="ctr"/>
          <a:lstStyle/>
          <a:p>
            <a:pPr indent="0" marL="0">
              <a:buNone/>
            </a:pPr>
            <a:r>
              <a:rPr lang="en-US" sz="880" dirty="0">
                <a:solidFill>
                  <a:srgbClr val="FFCC00"/>
                </a:solidFill>
                <a:latin typeface="Calibri" pitchFamily="34" charset="0"/>
                <a:ea typeface="Calibri" pitchFamily="34" charset="-122"/>
                <a:cs typeface="Calibri" pitchFamily="34" charset="-120"/>
              </a:rPr>
              <a:t>💸 $$$</a:t>
            </a:r>
            <a:endParaRPr lang="en-US" sz="880" dirty="0"/>
          </a:p>
        </p:txBody>
      </p:sp>
      <p:sp>
        <p:nvSpPr>
          <p:cNvPr id="95" name="Shape 93"/>
          <p:cNvSpPr/>
          <p:nvPr/>
        </p:nvSpPr>
        <p:spPr>
          <a:xfrm>
            <a:off x="256032" y="4645152"/>
            <a:ext cx="8686800" cy="347472"/>
          </a:xfrm>
          <a:prstGeom prst="roundRect">
            <a:avLst>
              <a:gd name="adj" fmla="val 15789"/>
            </a:avLst>
          </a:prstGeom>
          <a:solidFill>
            <a:srgbClr val="00421F"/>
          </a:solidFill>
          <a:ln w="16510">
            <a:solidFill>
              <a:srgbClr val="00FF88"/>
            </a:solidFill>
            <a:prstDash val="solid"/>
          </a:ln>
          <a:effectLst>
            <a:outerShdw sx="100000" sy="100000" kx="0" ky="0" algn="bl" rotWithShape="0" blurRad="279400" dist="50800" dir="16200000">
              <a:srgbClr val="00FF88">
                <a:alpha val="35000"/>
              </a:srgbClr>
            </a:outerShdw>
          </a:effectLst>
        </p:spPr>
      </p:sp>
      <p:sp>
        <p:nvSpPr>
          <p:cNvPr id="96" name="Text 94"/>
          <p:cNvSpPr/>
          <p:nvPr/>
        </p:nvSpPr>
        <p:spPr>
          <a:xfrm>
            <a:off x="256032" y="4645152"/>
            <a:ext cx="8686800" cy="347472"/>
          </a:xfrm>
          <a:prstGeom prst="rect">
            <a:avLst/>
          </a:prstGeom>
          <a:noFill/>
          <a:ln/>
        </p:spPr>
        <p:txBody>
          <a:bodyPr wrap="square" rtlCol="0" anchor="ctr"/>
          <a:lstStyle/>
          <a:p>
            <a:pPr algn="ctr" indent="0" marL="0">
              <a:buNone/>
            </a:pPr>
            <a:r>
              <a:rPr lang="en-US" sz="1000" b="1" dirty="0">
                <a:solidFill>
                  <a:srgbClr val="00FF88"/>
                </a:solidFill>
                <a:latin typeface="Calibri" pitchFamily="34" charset="0"/>
                <a:ea typeface="Calibri" pitchFamily="34" charset="-122"/>
                <a:cs typeface="Calibri" pitchFamily="34" charset="-120"/>
              </a:rPr>
              <a:t>🏆  10/10 features — CivicEye WINS every row.  ₹0 vs ₹100Cr+.  30 minutes vs Years.  Why settle for less?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Text 3"/>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FFCC00"/>
                </a:solidFill>
                <a:latin typeface="Consolas" pitchFamily="34" charset="0"/>
                <a:ea typeface="Consolas" pitchFamily="34" charset="-122"/>
                <a:cs typeface="Consolas" pitchFamily="34" charset="-120"/>
              </a:rPr>
              <a:t>MARKET OPPORTUNITY + REVENUE</a:t>
            </a:r>
            <a:endParaRPr lang="en-US" sz="750" dirty="0"/>
          </a:p>
        </p:txBody>
      </p:sp>
      <p:sp>
        <p:nvSpPr>
          <p:cNvPr id="6" name="Text 4"/>
          <p:cNvSpPr/>
          <p:nvPr/>
        </p:nvSpPr>
        <p:spPr>
          <a:xfrm>
            <a:off x="365760" y="292608"/>
            <a:ext cx="8412480" cy="530352"/>
          </a:xfrm>
          <a:prstGeom prst="rect">
            <a:avLst/>
          </a:prstGeom>
          <a:noFill/>
          <a:ln/>
        </p:spPr>
        <p:txBody>
          <a:bodyPr wrap="square" rtlCol="0" anchor="ctr"/>
          <a:lstStyle/>
          <a:p>
            <a:pPr algn="ctr" indent="0" marL="0">
              <a:buNone/>
            </a:pPr>
            <a:r>
              <a:rPr lang="en-US" sz="2800" b="1" dirty="0">
                <a:solidFill>
                  <a:srgbClr val="EEF6FF"/>
                </a:solidFill>
                <a:latin typeface="Calibri" pitchFamily="34" charset="0"/>
                <a:ea typeface="Calibri" pitchFamily="34" charset="-122"/>
                <a:cs typeface="Calibri" pitchFamily="34" charset="-120"/>
              </a:rPr>
              <a:t>Massive Market  ·  Clear Revenue  ·  Ready to Scale</a:t>
            </a:r>
            <a:endParaRPr lang="en-US" sz="2800" dirty="0"/>
          </a:p>
        </p:txBody>
      </p:sp>
      <p:sp>
        <p:nvSpPr>
          <p:cNvPr id="7" name="Shape 5"/>
          <p:cNvSpPr/>
          <p:nvPr/>
        </p:nvSpPr>
        <p:spPr>
          <a:xfrm>
            <a:off x="256032" y="960120"/>
            <a:ext cx="2084832" cy="1188720"/>
          </a:xfrm>
          <a:prstGeom prst="roundRect">
            <a:avLst>
              <a:gd name="adj" fmla="val 6154"/>
            </a:avLst>
          </a:prstGeom>
          <a:solidFill>
            <a:srgbClr val="112030"/>
          </a:solidFill>
          <a:ln w="15240">
            <a:solidFill>
              <a:srgbClr val="00F5FF"/>
            </a:solidFill>
            <a:prstDash val="solid"/>
          </a:ln>
          <a:effectLst>
            <a:outerShdw sx="100000" sy="100000" kx="0" ky="0" algn="bl" rotWithShape="0" blurRad="279400" dist="50800" dir="16200000">
              <a:srgbClr val="00F5FF">
                <a:alpha val="30000"/>
              </a:srgbClr>
            </a:outerShdw>
          </a:effectLst>
        </p:spPr>
      </p:sp>
      <p:sp>
        <p:nvSpPr>
          <p:cNvPr id="8" name="Shape 6"/>
          <p:cNvSpPr/>
          <p:nvPr/>
        </p:nvSpPr>
        <p:spPr>
          <a:xfrm>
            <a:off x="256032" y="960120"/>
            <a:ext cx="2084832" cy="45720"/>
          </a:xfrm>
          <a:prstGeom prst="roundRect">
            <a:avLst>
              <a:gd name="adj" fmla="val 160000"/>
            </a:avLst>
          </a:prstGeom>
          <a:solidFill>
            <a:srgbClr val="00F5FF"/>
          </a:solidFill>
          <a:ln w="12700">
            <a:solidFill>
              <a:srgbClr val="000000"/>
            </a:solidFill>
            <a:prstDash val="solid"/>
          </a:ln>
        </p:spPr>
      </p:sp>
      <p:sp>
        <p:nvSpPr>
          <p:cNvPr id="9" name="Text 7"/>
          <p:cNvSpPr/>
          <p:nvPr/>
        </p:nvSpPr>
        <p:spPr>
          <a:xfrm>
            <a:off x="256032" y="1005840"/>
            <a:ext cx="2084832" cy="548640"/>
          </a:xfrm>
          <a:prstGeom prst="rect">
            <a:avLst/>
          </a:prstGeom>
          <a:noFill/>
          <a:ln/>
          <a:effectLst>
            <a:outerShdw sx="100000" sy="100000" kx="0" ky="0" algn="bl" rotWithShape="0" blurRad="279400" dist="50800" dir="16200000">
              <a:srgbClr val="00F5FF">
                <a:alpha val="30000"/>
              </a:srgbClr>
            </a:outerShdw>
          </a:effectLst>
        </p:spPr>
        <p:txBody>
          <a:bodyPr wrap="square" lIns="0" tIns="0" rIns="0" bIns="0" rtlCol="0" anchor="ctr"/>
          <a:lstStyle/>
          <a:p>
            <a:pPr algn="ctr" indent="0" marL="0">
              <a:buNone/>
            </a:pPr>
            <a:r>
              <a:rPr lang="en-US" sz="2800" b="1" dirty="0">
                <a:solidFill>
                  <a:srgbClr val="00F5FF"/>
                </a:solidFill>
                <a:latin typeface="Calibri" pitchFamily="34" charset="0"/>
                <a:ea typeface="Calibri" pitchFamily="34" charset="-122"/>
                <a:cs typeface="Calibri" pitchFamily="34" charset="-120"/>
              </a:rPr>
              <a:t>500M+</a:t>
            </a:r>
            <a:endParaRPr lang="en-US" sz="2800" dirty="0"/>
          </a:p>
        </p:txBody>
      </p:sp>
      <p:sp>
        <p:nvSpPr>
          <p:cNvPr id="10" name="Text 8"/>
          <p:cNvSpPr/>
          <p:nvPr/>
        </p:nvSpPr>
        <p:spPr>
          <a:xfrm>
            <a:off x="256032" y="1554480"/>
            <a:ext cx="2084832" cy="25603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Potential Users</a:t>
            </a:r>
            <a:endParaRPr lang="en-US" sz="1050" dirty="0"/>
          </a:p>
        </p:txBody>
      </p:sp>
      <p:sp>
        <p:nvSpPr>
          <p:cNvPr id="11" name="Text 9"/>
          <p:cNvSpPr/>
          <p:nvPr/>
        </p:nvSpPr>
        <p:spPr>
          <a:xfrm>
            <a:off x="256032" y="1810512"/>
            <a:ext cx="2084832" cy="201168"/>
          </a:xfrm>
          <a:prstGeom prst="rect">
            <a:avLst/>
          </a:prstGeom>
          <a:noFill/>
          <a:ln/>
        </p:spPr>
        <p:txBody>
          <a:bodyPr wrap="square" lIns="0" tIns="0" rIns="0" bIns="0" rtlCol="0" anchor="ctr"/>
          <a:lstStyle/>
          <a:p>
            <a:pPr algn="ctr" indent="0" marL="0">
              <a:buNone/>
            </a:pPr>
            <a:r>
              <a:rPr lang="en-US" sz="800" dirty="0">
                <a:solidFill>
                  <a:srgbClr val="3D6080"/>
                </a:solidFill>
                <a:latin typeface="Calibri" pitchFamily="34" charset="0"/>
                <a:ea typeface="Calibri" pitchFamily="34" charset="-122"/>
                <a:cs typeface="Calibri" pitchFamily="34" charset="-120"/>
              </a:rPr>
              <a:t>India + South Asia</a:t>
            </a:r>
            <a:endParaRPr lang="en-US" sz="800" dirty="0"/>
          </a:p>
        </p:txBody>
      </p:sp>
      <p:sp>
        <p:nvSpPr>
          <p:cNvPr id="12" name="Shape 10"/>
          <p:cNvSpPr/>
          <p:nvPr/>
        </p:nvSpPr>
        <p:spPr>
          <a:xfrm>
            <a:off x="2432304" y="960120"/>
            <a:ext cx="2084832" cy="1188720"/>
          </a:xfrm>
          <a:prstGeom prst="roundRect">
            <a:avLst>
              <a:gd name="adj" fmla="val 6154"/>
            </a:avLst>
          </a:prstGeom>
          <a:solidFill>
            <a:srgbClr val="112030"/>
          </a:solidFill>
          <a:ln w="15240">
            <a:solidFill>
              <a:srgbClr val="B040FF"/>
            </a:solidFill>
            <a:prstDash val="solid"/>
          </a:ln>
          <a:effectLst>
            <a:outerShdw sx="100000" sy="100000" kx="0" ky="0" algn="bl" rotWithShape="0" blurRad="279400" dist="50800" dir="16200000">
              <a:srgbClr val="B040FF">
                <a:alpha val="30000"/>
              </a:srgbClr>
            </a:outerShdw>
          </a:effectLst>
        </p:spPr>
      </p:sp>
      <p:sp>
        <p:nvSpPr>
          <p:cNvPr id="13" name="Shape 11"/>
          <p:cNvSpPr/>
          <p:nvPr/>
        </p:nvSpPr>
        <p:spPr>
          <a:xfrm>
            <a:off x="2432304" y="960120"/>
            <a:ext cx="2084832" cy="45720"/>
          </a:xfrm>
          <a:prstGeom prst="roundRect">
            <a:avLst>
              <a:gd name="adj" fmla="val 160000"/>
            </a:avLst>
          </a:prstGeom>
          <a:solidFill>
            <a:srgbClr val="B040FF"/>
          </a:solidFill>
          <a:ln w="12700">
            <a:solidFill>
              <a:srgbClr val="000000"/>
            </a:solidFill>
            <a:prstDash val="solid"/>
          </a:ln>
        </p:spPr>
      </p:sp>
      <p:sp>
        <p:nvSpPr>
          <p:cNvPr id="14" name="Text 12"/>
          <p:cNvSpPr/>
          <p:nvPr/>
        </p:nvSpPr>
        <p:spPr>
          <a:xfrm>
            <a:off x="2432304" y="1005840"/>
            <a:ext cx="2084832" cy="548640"/>
          </a:xfrm>
          <a:prstGeom prst="rect">
            <a:avLst/>
          </a:prstGeom>
          <a:noFill/>
          <a:ln/>
          <a:effectLst>
            <a:outerShdw sx="100000" sy="100000" kx="0" ky="0" algn="bl" rotWithShape="0" blurRad="279400" dist="50800" dir="16200000">
              <a:srgbClr val="B040FF">
                <a:alpha val="30000"/>
              </a:srgbClr>
            </a:outerShdw>
          </a:effectLst>
        </p:spPr>
        <p:txBody>
          <a:bodyPr wrap="square" lIns="0" tIns="0" rIns="0" bIns="0" rtlCol="0" anchor="ctr"/>
          <a:lstStyle/>
          <a:p>
            <a:pPr algn="ctr" indent="0" marL="0">
              <a:buNone/>
            </a:pPr>
            <a:r>
              <a:rPr lang="en-US" sz="2800" b="1" dirty="0">
                <a:solidFill>
                  <a:srgbClr val="B040FF"/>
                </a:solidFill>
                <a:latin typeface="Calibri" pitchFamily="34" charset="0"/>
                <a:ea typeface="Calibri" pitchFamily="34" charset="-122"/>
                <a:cs typeface="Calibri" pitchFamily="34" charset="-120"/>
              </a:rPr>
              <a:t>4,000+</a:t>
            </a:r>
            <a:endParaRPr lang="en-US" sz="2800" dirty="0"/>
          </a:p>
        </p:txBody>
      </p:sp>
      <p:sp>
        <p:nvSpPr>
          <p:cNvPr id="15" name="Text 13"/>
          <p:cNvSpPr/>
          <p:nvPr/>
        </p:nvSpPr>
        <p:spPr>
          <a:xfrm>
            <a:off x="2432304" y="1554480"/>
            <a:ext cx="2084832" cy="25603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Municipalities</a:t>
            </a:r>
            <a:endParaRPr lang="en-US" sz="1050" dirty="0"/>
          </a:p>
        </p:txBody>
      </p:sp>
      <p:sp>
        <p:nvSpPr>
          <p:cNvPr id="16" name="Text 14"/>
          <p:cNvSpPr/>
          <p:nvPr/>
        </p:nvSpPr>
        <p:spPr>
          <a:xfrm>
            <a:off x="2432304" y="1810512"/>
            <a:ext cx="2084832" cy="201168"/>
          </a:xfrm>
          <a:prstGeom prst="rect">
            <a:avLst/>
          </a:prstGeom>
          <a:noFill/>
          <a:ln/>
        </p:spPr>
        <p:txBody>
          <a:bodyPr wrap="square" lIns="0" tIns="0" rIns="0" bIns="0" rtlCol="0" anchor="ctr"/>
          <a:lstStyle/>
          <a:p>
            <a:pPr algn="ctr" indent="0" marL="0">
              <a:buNone/>
            </a:pPr>
            <a:r>
              <a:rPr lang="en-US" sz="800" dirty="0">
                <a:solidFill>
                  <a:srgbClr val="3D6080"/>
                </a:solidFill>
                <a:latin typeface="Calibri" pitchFamily="34" charset="0"/>
                <a:ea typeface="Calibri" pitchFamily="34" charset="-122"/>
                <a:cs typeface="Calibri" pitchFamily="34" charset="-120"/>
              </a:rPr>
              <a:t>All of India</a:t>
            </a:r>
            <a:endParaRPr lang="en-US" sz="800" dirty="0"/>
          </a:p>
        </p:txBody>
      </p:sp>
      <p:sp>
        <p:nvSpPr>
          <p:cNvPr id="17" name="Shape 15"/>
          <p:cNvSpPr/>
          <p:nvPr/>
        </p:nvSpPr>
        <p:spPr>
          <a:xfrm>
            <a:off x="4608576" y="960120"/>
            <a:ext cx="2084832" cy="1188720"/>
          </a:xfrm>
          <a:prstGeom prst="roundRect">
            <a:avLst>
              <a:gd name="adj" fmla="val 6154"/>
            </a:avLst>
          </a:prstGeom>
          <a:solidFill>
            <a:srgbClr val="112030"/>
          </a:solidFill>
          <a:ln w="15240">
            <a:solidFill>
              <a:srgbClr val="00FF88"/>
            </a:solidFill>
            <a:prstDash val="solid"/>
          </a:ln>
          <a:effectLst>
            <a:outerShdw sx="100000" sy="100000" kx="0" ky="0" algn="bl" rotWithShape="0" blurRad="279400" dist="50800" dir="16200000">
              <a:srgbClr val="00FF88">
                <a:alpha val="30000"/>
              </a:srgbClr>
            </a:outerShdw>
          </a:effectLst>
        </p:spPr>
      </p:sp>
      <p:sp>
        <p:nvSpPr>
          <p:cNvPr id="18" name="Shape 16"/>
          <p:cNvSpPr/>
          <p:nvPr/>
        </p:nvSpPr>
        <p:spPr>
          <a:xfrm>
            <a:off x="4608576" y="960120"/>
            <a:ext cx="2084832" cy="45720"/>
          </a:xfrm>
          <a:prstGeom prst="roundRect">
            <a:avLst>
              <a:gd name="adj" fmla="val 160000"/>
            </a:avLst>
          </a:prstGeom>
          <a:solidFill>
            <a:srgbClr val="00FF88"/>
          </a:solidFill>
          <a:ln w="12700">
            <a:solidFill>
              <a:srgbClr val="000000"/>
            </a:solidFill>
            <a:prstDash val="solid"/>
          </a:ln>
        </p:spPr>
      </p:sp>
      <p:sp>
        <p:nvSpPr>
          <p:cNvPr id="19" name="Text 17"/>
          <p:cNvSpPr/>
          <p:nvPr/>
        </p:nvSpPr>
        <p:spPr>
          <a:xfrm>
            <a:off x="4608576" y="1005840"/>
            <a:ext cx="2084832" cy="548640"/>
          </a:xfrm>
          <a:prstGeom prst="rect">
            <a:avLst/>
          </a:prstGeom>
          <a:noFill/>
          <a:ln/>
          <a:effectLst>
            <a:outerShdw sx="100000" sy="100000" kx="0" ky="0" algn="bl" rotWithShape="0" blurRad="279400" dist="50800" dir="16200000">
              <a:srgbClr val="00FF88">
                <a:alpha val="30000"/>
              </a:srgbClr>
            </a:outerShdw>
          </a:effectLst>
        </p:spPr>
        <p:txBody>
          <a:bodyPr wrap="square" lIns="0" tIns="0" rIns="0" bIns="0" rtlCol="0" anchor="ctr"/>
          <a:lstStyle/>
          <a:p>
            <a:pPr algn="ctr" indent="0" marL="0">
              <a:buNone/>
            </a:pPr>
            <a:r>
              <a:rPr lang="en-US" sz="2800" b="1" dirty="0">
                <a:solidFill>
                  <a:srgbClr val="00FF88"/>
                </a:solidFill>
                <a:latin typeface="Calibri" pitchFamily="34" charset="0"/>
                <a:ea typeface="Calibri" pitchFamily="34" charset="-122"/>
                <a:cs typeface="Calibri" pitchFamily="34" charset="-120"/>
              </a:rPr>
              <a:t>₹2,500Cr</a:t>
            </a:r>
            <a:endParaRPr lang="en-US" sz="2800" dirty="0"/>
          </a:p>
        </p:txBody>
      </p:sp>
      <p:sp>
        <p:nvSpPr>
          <p:cNvPr id="20" name="Text 18"/>
          <p:cNvSpPr/>
          <p:nvPr/>
        </p:nvSpPr>
        <p:spPr>
          <a:xfrm>
            <a:off x="4608576" y="1554480"/>
            <a:ext cx="2084832" cy="25603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GovTech 2026</a:t>
            </a:r>
            <a:endParaRPr lang="en-US" sz="1050" dirty="0"/>
          </a:p>
        </p:txBody>
      </p:sp>
      <p:sp>
        <p:nvSpPr>
          <p:cNvPr id="21" name="Text 19"/>
          <p:cNvSpPr/>
          <p:nvPr/>
        </p:nvSpPr>
        <p:spPr>
          <a:xfrm>
            <a:off x="4608576" y="1810512"/>
            <a:ext cx="2084832" cy="201168"/>
          </a:xfrm>
          <a:prstGeom prst="rect">
            <a:avLst/>
          </a:prstGeom>
          <a:noFill/>
          <a:ln/>
        </p:spPr>
        <p:txBody>
          <a:bodyPr wrap="square" lIns="0" tIns="0" rIns="0" bIns="0" rtlCol="0" anchor="ctr"/>
          <a:lstStyle/>
          <a:p>
            <a:pPr algn="ctr" indent="0" marL="0">
              <a:buNone/>
            </a:pPr>
            <a:r>
              <a:rPr lang="en-US" sz="800" dirty="0">
                <a:solidFill>
                  <a:srgbClr val="3D6080"/>
                </a:solidFill>
                <a:latin typeface="Calibri" pitchFamily="34" charset="0"/>
                <a:ea typeface="Calibri" pitchFamily="34" charset="-122"/>
                <a:cs typeface="Calibri" pitchFamily="34" charset="-120"/>
              </a:rPr>
              <a:t>40% YoY growth</a:t>
            </a:r>
            <a:endParaRPr lang="en-US" sz="800" dirty="0"/>
          </a:p>
        </p:txBody>
      </p:sp>
      <p:sp>
        <p:nvSpPr>
          <p:cNvPr id="22" name="Shape 20"/>
          <p:cNvSpPr/>
          <p:nvPr/>
        </p:nvSpPr>
        <p:spPr>
          <a:xfrm>
            <a:off x="6784848" y="960120"/>
            <a:ext cx="2084832" cy="1188720"/>
          </a:xfrm>
          <a:prstGeom prst="roundRect">
            <a:avLst>
              <a:gd name="adj" fmla="val 6154"/>
            </a:avLst>
          </a:prstGeom>
          <a:solidFill>
            <a:srgbClr val="112030"/>
          </a:solidFill>
          <a:ln w="15240">
            <a:solidFill>
              <a:srgbClr val="FFCC00"/>
            </a:solidFill>
            <a:prstDash val="solid"/>
          </a:ln>
          <a:effectLst>
            <a:outerShdw sx="100000" sy="100000" kx="0" ky="0" algn="bl" rotWithShape="0" blurRad="279400" dist="50800" dir="16200000">
              <a:srgbClr val="FFCC00">
                <a:alpha val="30000"/>
              </a:srgbClr>
            </a:outerShdw>
          </a:effectLst>
        </p:spPr>
      </p:sp>
      <p:sp>
        <p:nvSpPr>
          <p:cNvPr id="23" name="Shape 21"/>
          <p:cNvSpPr/>
          <p:nvPr/>
        </p:nvSpPr>
        <p:spPr>
          <a:xfrm>
            <a:off x="6784848" y="960120"/>
            <a:ext cx="2084832" cy="45720"/>
          </a:xfrm>
          <a:prstGeom prst="roundRect">
            <a:avLst>
              <a:gd name="adj" fmla="val 160000"/>
            </a:avLst>
          </a:prstGeom>
          <a:solidFill>
            <a:srgbClr val="FFCC00"/>
          </a:solidFill>
          <a:ln w="12700">
            <a:solidFill>
              <a:srgbClr val="000000"/>
            </a:solidFill>
            <a:prstDash val="solid"/>
          </a:ln>
        </p:spPr>
      </p:sp>
      <p:sp>
        <p:nvSpPr>
          <p:cNvPr id="24" name="Text 22"/>
          <p:cNvSpPr/>
          <p:nvPr/>
        </p:nvSpPr>
        <p:spPr>
          <a:xfrm>
            <a:off x="6784848" y="1005840"/>
            <a:ext cx="2084832" cy="548640"/>
          </a:xfrm>
          <a:prstGeom prst="rect">
            <a:avLst/>
          </a:prstGeom>
          <a:noFill/>
          <a:ln/>
          <a:effectLst>
            <a:outerShdw sx="100000" sy="100000" kx="0" ky="0" algn="bl" rotWithShape="0" blurRad="279400" dist="50800" dir="16200000">
              <a:srgbClr val="FFCC00">
                <a:alpha val="30000"/>
              </a:srgbClr>
            </a:outerShdw>
          </a:effectLst>
        </p:spPr>
        <p:txBody>
          <a:bodyPr wrap="square" lIns="0" tIns="0" rIns="0" bIns="0" rtlCol="0" anchor="ctr"/>
          <a:lstStyle/>
          <a:p>
            <a:pPr algn="ctr" indent="0" marL="0">
              <a:buNone/>
            </a:pPr>
            <a:r>
              <a:rPr lang="en-US" sz="2800" b="1" dirty="0">
                <a:solidFill>
                  <a:srgbClr val="FFCC00"/>
                </a:solidFill>
                <a:latin typeface="Calibri" pitchFamily="34" charset="0"/>
                <a:ea typeface="Calibri" pitchFamily="34" charset="-122"/>
                <a:cs typeface="Calibri" pitchFamily="34" charset="-120"/>
              </a:rPr>
              <a:t>₹0</a:t>
            </a:r>
            <a:endParaRPr lang="en-US" sz="2800" dirty="0"/>
          </a:p>
        </p:txBody>
      </p:sp>
      <p:sp>
        <p:nvSpPr>
          <p:cNvPr id="25" name="Text 23"/>
          <p:cNvSpPr/>
          <p:nvPr/>
        </p:nvSpPr>
        <p:spPr>
          <a:xfrm>
            <a:off x="6784848" y="1554480"/>
            <a:ext cx="2084832" cy="256032"/>
          </a:xfrm>
          <a:prstGeom prst="rect">
            <a:avLst/>
          </a:prstGeom>
          <a:noFill/>
          <a:ln/>
        </p:spPr>
        <p:txBody>
          <a:bodyPr wrap="square" lIns="0" tIns="0" rIns="0" bIns="0" rtlCol="0" anchor="ctr"/>
          <a:lstStyle/>
          <a:p>
            <a:pPr algn="ctr" indent="0" marL="0">
              <a:buNone/>
            </a:pPr>
            <a:r>
              <a:rPr lang="en-US" sz="1050" b="1" dirty="0">
                <a:solidFill>
                  <a:srgbClr val="EEF6FF"/>
                </a:solidFill>
                <a:latin typeface="Calibri" pitchFamily="34" charset="0"/>
                <a:ea typeface="Calibri" pitchFamily="34" charset="-122"/>
                <a:cs typeface="Calibri" pitchFamily="34" charset="-120"/>
              </a:rPr>
              <a:t>Deploy Cost</a:t>
            </a:r>
            <a:endParaRPr lang="en-US" sz="1050" dirty="0"/>
          </a:p>
        </p:txBody>
      </p:sp>
      <p:sp>
        <p:nvSpPr>
          <p:cNvPr id="26" name="Text 24"/>
          <p:cNvSpPr/>
          <p:nvPr/>
        </p:nvSpPr>
        <p:spPr>
          <a:xfrm>
            <a:off x="6784848" y="1810512"/>
            <a:ext cx="2084832" cy="201168"/>
          </a:xfrm>
          <a:prstGeom prst="rect">
            <a:avLst/>
          </a:prstGeom>
          <a:noFill/>
          <a:ln/>
        </p:spPr>
        <p:txBody>
          <a:bodyPr wrap="square" lIns="0" tIns="0" rIns="0" bIns="0" rtlCol="0" anchor="ctr"/>
          <a:lstStyle/>
          <a:p>
            <a:pPr algn="ctr" indent="0" marL="0">
              <a:buNone/>
            </a:pPr>
            <a:r>
              <a:rPr lang="en-US" sz="800" dirty="0">
                <a:solidFill>
                  <a:srgbClr val="3D6080"/>
                </a:solidFill>
                <a:latin typeface="Calibri" pitchFamily="34" charset="0"/>
                <a:ea typeface="Calibri" pitchFamily="34" charset="-122"/>
                <a:cs typeface="Calibri" pitchFamily="34" charset="-120"/>
              </a:rPr>
              <a:t>Free. Forever.</a:t>
            </a:r>
            <a:endParaRPr lang="en-US" sz="800" dirty="0"/>
          </a:p>
        </p:txBody>
      </p:sp>
      <p:sp>
        <p:nvSpPr>
          <p:cNvPr id="27" name="Text 25"/>
          <p:cNvSpPr/>
          <p:nvPr/>
        </p:nvSpPr>
        <p:spPr>
          <a:xfrm>
            <a:off x="256032" y="2267712"/>
            <a:ext cx="4160520" cy="219456"/>
          </a:xfrm>
          <a:prstGeom prst="rect">
            <a:avLst/>
          </a:prstGeom>
          <a:noFill/>
          <a:ln/>
        </p:spPr>
        <p:txBody>
          <a:bodyPr wrap="square" rtlCol="0" anchor="ctr"/>
          <a:lstStyle/>
          <a:p>
            <a:pPr indent="0" marL="0">
              <a:buNone/>
            </a:pPr>
            <a:r>
              <a:rPr lang="en-US" sz="850" b="1" spc="300" kern="0" dirty="0">
                <a:solidFill>
                  <a:srgbClr val="3D6080"/>
                </a:solidFill>
                <a:latin typeface="Consolas" pitchFamily="34" charset="0"/>
                <a:ea typeface="Consolas" pitchFamily="34" charset="-122"/>
                <a:cs typeface="Consolas" pitchFamily="34" charset="-120"/>
              </a:rPr>
              <a:t>REVENUE STREAMS</a:t>
            </a:r>
            <a:endParaRPr lang="en-US" sz="850" dirty="0"/>
          </a:p>
        </p:txBody>
      </p:sp>
      <p:sp>
        <p:nvSpPr>
          <p:cNvPr id="28" name="Shape 26"/>
          <p:cNvSpPr/>
          <p:nvPr/>
        </p:nvSpPr>
        <p:spPr>
          <a:xfrm>
            <a:off x="256032" y="2542032"/>
            <a:ext cx="4160520" cy="493776"/>
          </a:xfrm>
          <a:prstGeom prst="roundRect">
            <a:avLst>
              <a:gd name="adj" fmla="val 11111"/>
            </a:avLst>
          </a:prstGeom>
          <a:solidFill>
            <a:srgbClr val="112030"/>
          </a:solidFill>
          <a:ln w="12700">
            <a:solidFill>
              <a:srgbClr val="00F5FF"/>
            </a:solidFill>
            <a:prstDash val="solid"/>
          </a:ln>
          <a:effectLst>
            <a:outerShdw sx="100000" sy="100000" kx="0" ky="0" algn="bl" rotWithShape="0" blurRad="279400" dist="50800" dir="16200000">
              <a:srgbClr val="00F5FF">
                <a:alpha val="15000"/>
              </a:srgbClr>
            </a:outerShdw>
          </a:effectLst>
        </p:spPr>
      </p:sp>
      <p:sp>
        <p:nvSpPr>
          <p:cNvPr id="29" name="Shape 27"/>
          <p:cNvSpPr/>
          <p:nvPr/>
        </p:nvSpPr>
        <p:spPr>
          <a:xfrm>
            <a:off x="256032" y="2542032"/>
            <a:ext cx="493776" cy="493776"/>
          </a:xfrm>
          <a:prstGeom prst="roundRect">
            <a:avLst>
              <a:gd name="adj" fmla="val 11111"/>
            </a:avLst>
          </a:prstGeom>
          <a:solidFill>
            <a:srgbClr val="00F5FF">
              <a:alpha val="20000"/>
            </a:srgbClr>
          </a:solidFill>
          <a:ln w="12700">
            <a:solidFill>
              <a:srgbClr val="000000"/>
            </a:solidFill>
            <a:prstDash val="solid"/>
          </a:ln>
        </p:spPr>
      </p:sp>
      <p:sp>
        <p:nvSpPr>
          <p:cNvPr id="30" name="Shape 28"/>
          <p:cNvSpPr/>
          <p:nvPr/>
        </p:nvSpPr>
        <p:spPr>
          <a:xfrm>
            <a:off x="475488" y="2542032"/>
            <a:ext cx="274320" cy="493776"/>
          </a:xfrm>
          <a:prstGeom prst="rect">
            <a:avLst/>
          </a:prstGeom>
          <a:solidFill>
            <a:srgbClr val="00F5FF">
              <a:alpha val="20000"/>
            </a:srgbClr>
          </a:solidFill>
          <a:ln w="12700">
            <a:solidFill>
              <a:srgbClr val="000000"/>
            </a:solidFill>
            <a:prstDash val="solid"/>
          </a:ln>
        </p:spPr>
      </p:sp>
      <p:sp>
        <p:nvSpPr>
          <p:cNvPr id="31" name="Text 29"/>
          <p:cNvSpPr/>
          <p:nvPr/>
        </p:nvSpPr>
        <p:spPr>
          <a:xfrm>
            <a:off x="256032" y="2542032"/>
            <a:ext cx="493776" cy="493776"/>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Text 30"/>
          <p:cNvSpPr/>
          <p:nvPr/>
        </p:nvSpPr>
        <p:spPr>
          <a:xfrm>
            <a:off x="822960" y="2596896"/>
            <a:ext cx="2194560" cy="219456"/>
          </a:xfrm>
          <a:prstGeom prst="rect">
            <a:avLst/>
          </a:prstGeom>
          <a:noFill/>
          <a:ln/>
        </p:spPr>
        <p:txBody>
          <a:bodyPr wrap="square" lIns="0" tIns="0" rIns="0" bIns="0" rtlCol="0" anchor="ctr"/>
          <a:lstStyle/>
          <a:p>
            <a:pPr indent="0" marL="0">
              <a:buNone/>
            </a:pPr>
            <a:r>
              <a:rPr lang="en-US" sz="1050" b="1" dirty="0">
                <a:solidFill>
                  <a:srgbClr val="00F5FF"/>
                </a:solidFill>
                <a:latin typeface="Calibri" pitchFamily="34" charset="0"/>
                <a:ea typeface="Calibri" pitchFamily="34" charset="-122"/>
                <a:cs typeface="Calibri" pitchFamily="34" charset="-120"/>
              </a:rPr>
              <a:t>B2G SaaS License</a:t>
            </a:r>
            <a:endParaRPr lang="en-US" sz="1050" dirty="0"/>
          </a:p>
        </p:txBody>
      </p:sp>
      <p:sp>
        <p:nvSpPr>
          <p:cNvPr id="33" name="Text 31"/>
          <p:cNvSpPr/>
          <p:nvPr/>
        </p:nvSpPr>
        <p:spPr>
          <a:xfrm>
            <a:off x="822960" y="2816352"/>
            <a:ext cx="2194560" cy="164592"/>
          </a:xfrm>
          <a:prstGeom prst="rect">
            <a:avLst/>
          </a:prstGeom>
          <a:noFill/>
          <a:ln/>
        </p:spPr>
        <p:txBody>
          <a:bodyPr wrap="square" lIns="0" tIns="0" rIns="0" bIns="0" rtlCol="0" anchor="ctr"/>
          <a:lstStyle/>
          <a:p>
            <a:pPr indent="0" marL="0">
              <a:buNone/>
            </a:pPr>
            <a:r>
              <a:rPr lang="en-US" sz="850" dirty="0">
                <a:solidFill>
                  <a:srgbClr val="3D6080"/>
                </a:solidFill>
                <a:latin typeface="Calibri" pitchFamily="34" charset="0"/>
                <a:ea typeface="Calibri" pitchFamily="34" charset="-122"/>
                <a:cs typeface="Calibri" pitchFamily="34" charset="-120"/>
              </a:rPr>
              <a:t>Per municipality</a:t>
            </a:r>
            <a:endParaRPr lang="en-US" sz="850" dirty="0"/>
          </a:p>
        </p:txBody>
      </p:sp>
      <p:sp>
        <p:nvSpPr>
          <p:cNvPr id="34" name="Text 32"/>
          <p:cNvSpPr/>
          <p:nvPr/>
        </p:nvSpPr>
        <p:spPr>
          <a:xfrm>
            <a:off x="3063240" y="2542032"/>
            <a:ext cx="1298448" cy="493776"/>
          </a:xfrm>
          <a:prstGeom prst="rect">
            <a:avLst/>
          </a:prstGeom>
          <a:noFill/>
          <a:ln/>
        </p:spPr>
        <p:txBody>
          <a:bodyPr wrap="square" rtlCol="0" anchor="ctr"/>
          <a:lstStyle/>
          <a:p>
            <a:pPr algn="ctr" indent="0" marL="0">
              <a:buNone/>
            </a:pPr>
            <a:r>
              <a:rPr lang="en-US" sz="1150" b="1" dirty="0">
                <a:solidFill>
                  <a:srgbClr val="00F5FF"/>
                </a:solidFill>
                <a:latin typeface="Consolas" pitchFamily="34" charset="0"/>
                <a:ea typeface="Consolas" pitchFamily="34" charset="-122"/>
                <a:cs typeface="Consolas" pitchFamily="34" charset="-120"/>
              </a:rPr>
              <a:t>₹50K–5L/mo</a:t>
            </a:r>
            <a:endParaRPr lang="en-US" sz="1150" dirty="0"/>
          </a:p>
        </p:txBody>
      </p:sp>
      <p:sp>
        <p:nvSpPr>
          <p:cNvPr id="35" name="Shape 33"/>
          <p:cNvSpPr/>
          <p:nvPr/>
        </p:nvSpPr>
        <p:spPr>
          <a:xfrm>
            <a:off x="256032" y="3108960"/>
            <a:ext cx="4160520" cy="493776"/>
          </a:xfrm>
          <a:prstGeom prst="roundRect">
            <a:avLst>
              <a:gd name="adj" fmla="val 11111"/>
            </a:avLst>
          </a:prstGeom>
          <a:solidFill>
            <a:srgbClr val="112030"/>
          </a:solidFill>
          <a:ln w="12700">
            <a:solidFill>
              <a:srgbClr val="B040FF"/>
            </a:solidFill>
            <a:prstDash val="solid"/>
          </a:ln>
          <a:effectLst>
            <a:outerShdw sx="100000" sy="100000" kx="0" ky="0" algn="bl" rotWithShape="0" blurRad="279400" dist="50800" dir="16200000">
              <a:srgbClr val="B040FF">
                <a:alpha val="15000"/>
              </a:srgbClr>
            </a:outerShdw>
          </a:effectLst>
        </p:spPr>
      </p:sp>
      <p:sp>
        <p:nvSpPr>
          <p:cNvPr id="36" name="Shape 34"/>
          <p:cNvSpPr/>
          <p:nvPr/>
        </p:nvSpPr>
        <p:spPr>
          <a:xfrm>
            <a:off x="256032" y="3108960"/>
            <a:ext cx="493776" cy="493776"/>
          </a:xfrm>
          <a:prstGeom prst="roundRect">
            <a:avLst>
              <a:gd name="adj" fmla="val 11111"/>
            </a:avLst>
          </a:prstGeom>
          <a:solidFill>
            <a:srgbClr val="B040FF">
              <a:alpha val="20000"/>
            </a:srgbClr>
          </a:solidFill>
          <a:ln w="12700">
            <a:solidFill>
              <a:srgbClr val="000000"/>
            </a:solidFill>
            <a:prstDash val="solid"/>
          </a:ln>
        </p:spPr>
      </p:sp>
      <p:sp>
        <p:nvSpPr>
          <p:cNvPr id="37" name="Shape 35"/>
          <p:cNvSpPr/>
          <p:nvPr/>
        </p:nvSpPr>
        <p:spPr>
          <a:xfrm>
            <a:off x="475488" y="3108960"/>
            <a:ext cx="274320" cy="493776"/>
          </a:xfrm>
          <a:prstGeom prst="rect">
            <a:avLst/>
          </a:prstGeom>
          <a:solidFill>
            <a:srgbClr val="B040FF">
              <a:alpha val="20000"/>
            </a:srgbClr>
          </a:solidFill>
          <a:ln w="12700">
            <a:solidFill>
              <a:srgbClr val="000000"/>
            </a:solidFill>
            <a:prstDash val="solid"/>
          </a:ln>
        </p:spPr>
      </p:sp>
      <p:sp>
        <p:nvSpPr>
          <p:cNvPr id="38" name="Text 36"/>
          <p:cNvSpPr/>
          <p:nvPr/>
        </p:nvSpPr>
        <p:spPr>
          <a:xfrm>
            <a:off x="256032" y="3108960"/>
            <a:ext cx="493776" cy="493776"/>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Text 37"/>
          <p:cNvSpPr/>
          <p:nvPr/>
        </p:nvSpPr>
        <p:spPr>
          <a:xfrm>
            <a:off x="822960" y="3163824"/>
            <a:ext cx="2194560" cy="219456"/>
          </a:xfrm>
          <a:prstGeom prst="rect">
            <a:avLst/>
          </a:prstGeom>
          <a:noFill/>
          <a:ln/>
        </p:spPr>
        <p:txBody>
          <a:bodyPr wrap="square" lIns="0" tIns="0" rIns="0" bIns="0" rtlCol="0" anchor="ctr"/>
          <a:lstStyle/>
          <a:p>
            <a:pPr indent="0" marL="0">
              <a:buNone/>
            </a:pPr>
            <a:r>
              <a:rPr lang="en-US" sz="1050" b="1" dirty="0">
                <a:solidFill>
                  <a:srgbClr val="B040FF"/>
                </a:solidFill>
                <a:latin typeface="Calibri" pitchFamily="34" charset="0"/>
                <a:ea typeface="Calibri" pitchFamily="34" charset="-122"/>
                <a:cs typeface="Calibri" pitchFamily="34" charset="-120"/>
              </a:rPr>
              <a:t>Analytics Reports</a:t>
            </a:r>
            <a:endParaRPr lang="en-US" sz="1050" dirty="0"/>
          </a:p>
        </p:txBody>
      </p:sp>
      <p:sp>
        <p:nvSpPr>
          <p:cNvPr id="40" name="Text 38"/>
          <p:cNvSpPr/>
          <p:nvPr/>
        </p:nvSpPr>
        <p:spPr>
          <a:xfrm>
            <a:off x="822960" y="3383280"/>
            <a:ext cx="2194560" cy="164592"/>
          </a:xfrm>
          <a:prstGeom prst="rect">
            <a:avLst/>
          </a:prstGeom>
          <a:noFill/>
          <a:ln/>
        </p:spPr>
        <p:txBody>
          <a:bodyPr wrap="square" lIns="0" tIns="0" rIns="0" bIns="0" rtlCol="0" anchor="ctr"/>
          <a:lstStyle/>
          <a:p>
            <a:pPr indent="0" marL="0">
              <a:buNone/>
            </a:pPr>
            <a:r>
              <a:rPr lang="en-US" sz="850" dirty="0">
                <a:solidFill>
                  <a:srgbClr val="3D6080"/>
                </a:solidFill>
                <a:latin typeface="Calibri" pitchFamily="34" charset="0"/>
                <a:ea typeface="Calibri" pitchFamily="34" charset="-122"/>
                <a:cs typeface="Calibri" pitchFamily="34" charset="-120"/>
              </a:rPr>
              <a:t>Ward intelligence</a:t>
            </a:r>
            <a:endParaRPr lang="en-US" sz="850" dirty="0"/>
          </a:p>
        </p:txBody>
      </p:sp>
      <p:sp>
        <p:nvSpPr>
          <p:cNvPr id="41" name="Text 39"/>
          <p:cNvSpPr/>
          <p:nvPr/>
        </p:nvSpPr>
        <p:spPr>
          <a:xfrm>
            <a:off x="3063240" y="3108960"/>
            <a:ext cx="1298448" cy="493776"/>
          </a:xfrm>
          <a:prstGeom prst="rect">
            <a:avLst/>
          </a:prstGeom>
          <a:noFill/>
          <a:ln/>
        </p:spPr>
        <p:txBody>
          <a:bodyPr wrap="square" rtlCol="0" anchor="ctr"/>
          <a:lstStyle/>
          <a:p>
            <a:pPr algn="ctr" indent="0" marL="0">
              <a:buNone/>
            </a:pPr>
            <a:r>
              <a:rPr lang="en-US" sz="1150" b="1" dirty="0">
                <a:solidFill>
                  <a:srgbClr val="B040FF"/>
                </a:solidFill>
                <a:latin typeface="Consolas" pitchFamily="34" charset="0"/>
                <a:ea typeface="Consolas" pitchFamily="34" charset="-122"/>
                <a:cs typeface="Consolas" pitchFamily="34" charset="-120"/>
              </a:rPr>
              <a:t>₹2L/year</a:t>
            </a:r>
            <a:endParaRPr lang="en-US" sz="1150" dirty="0"/>
          </a:p>
        </p:txBody>
      </p:sp>
      <p:sp>
        <p:nvSpPr>
          <p:cNvPr id="42" name="Shape 40"/>
          <p:cNvSpPr/>
          <p:nvPr/>
        </p:nvSpPr>
        <p:spPr>
          <a:xfrm>
            <a:off x="256032" y="3675888"/>
            <a:ext cx="4160520" cy="493776"/>
          </a:xfrm>
          <a:prstGeom prst="roundRect">
            <a:avLst>
              <a:gd name="adj" fmla="val 11111"/>
            </a:avLst>
          </a:prstGeom>
          <a:solidFill>
            <a:srgbClr val="112030"/>
          </a:solidFill>
          <a:ln w="12700">
            <a:solidFill>
              <a:srgbClr val="FF2060"/>
            </a:solidFill>
            <a:prstDash val="solid"/>
          </a:ln>
          <a:effectLst>
            <a:outerShdw sx="100000" sy="100000" kx="0" ky="0" algn="bl" rotWithShape="0" blurRad="279400" dist="50800" dir="16200000">
              <a:srgbClr val="FF2060">
                <a:alpha val="15000"/>
              </a:srgbClr>
            </a:outerShdw>
          </a:effectLst>
        </p:spPr>
      </p:sp>
      <p:sp>
        <p:nvSpPr>
          <p:cNvPr id="43" name="Shape 41"/>
          <p:cNvSpPr/>
          <p:nvPr/>
        </p:nvSpPr>
        <p:spPr>
          <a:xfrm>
            <a:off x="256032" y="3675888"/>
            <a:ext cx="493776" cy="493776"/>
          </a:xfrm>
          <a:prstGeom prst="roundRect">
            <a:avLst>
              <a:gd name="adj" fmla="val 11111"/>
            </a:avLst>
          </a:prstGeom>
          <a:solidFill>
            <a:srgbClr val="FF2060">
              <a:alpha val="20000"/>
            </a:srgbClr>
          </a:solidFill>
          <a:ln w="12700">
            <a:solidFill>
              <a:srgbClr val="000000"/>
            </a:solidFill>
            <a:prstDash val="solid"/>
          </a:ln>
        </p:spPr>
      </p:sp>
      <p:sp>
        <p:nvSpPr>
          <p:cNvPr id="44" name="Shape 42"/>
          <p:cNvSpPr/>
          <p:nvPr/>
        </p:nvSpPr>
        <p:spPr>
          <a:xfrm>
            <a:off x="475488" y="3675888"/>
            <a:ext cx="274320" cy="493776"/>
          </a:xfrm>
          <a:prstGeom prst="rect">
            <a:avLst/>
          </a:prstGeom>
          <a:solidFill>
            <a:srgbClr val="FF2060">
              <a:alpha val="20000"/>
            </a:srgbClr>
          </a:solidFill>
          <a:ln w="12700">
            <a:solidFill>
              <a:srgbClr val="000000"/>
            </a:solidFill>
            <a:prstDash val="solid"/>
          </a:ln>
        </p:spPr>
      </p:sp>
      <p:sp>
        <p:nvSpPr>
          <p:cNvPr id="45" name="Text 43"/>
          <p:cNvSpPr/>
          <p:nvPr/>
        </p:nvSpPr>
        <p:spPr>
          <a:xfrm>
            <a:off x="256032" y="3675888"/>
            <a:ext cx="493776" cy="493776"/>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Text 44"/>
          <p:cNvSpPr/>
          <p:nvPr/>
        </p:nvSpPr>
        <p:spPr>
          <a:xfrm>
            <a:off x="822960" y="3730752"/>
            <a:ext cx="2194560" cy="219456"/>
          </a:xfrm>
          <a:prstGeom prst="rect">
            <a:avLst/>
          </a:prstGeom>
          <a:noFill/>
          <a:ln/>
        </p:spPr>
        <p:txBody>
          <a:bodyPr wrap="square" lIns="0" tIns="0" rIns="0" bIns="0" rtlCol="0" anchor="ctr"/>
          <a:lstStyle/>
          <a:p>
            <a:pPr indent="0" marL="0">
              <a:buNone/>
            </a:pPr>
            <a:r>
              <a:rPr lang="en-US" sz="1050" b="1" dirty="0">
                <a:solidFill>
                  <a:srgbClr val="FF2060"/>
                </a:solidFill>
                <a:latin typeface="Calibri" pitchFamily="34" charset="0"/>
                <a:ea typeface="Calibri" pitchFamily="34" charset="-122"/>
                <a:cs typeface="Calibri" pitchFamily="34" charset="-120"/>
              </a:rPr>
              <a:t>Blockchain Audit</a:t>
            </a:r>
            <a:endParaRPr lang="en-US" sz="1050" dirty="0"/>
          </a:p>
        </p:txBody>
      </p:sp>
      <p:sp>
        <p:nvSpPr>
          <p:cNvPr id="47" name="Text 45"/>
          <p:cNvSpPr/>
          <p:nvPr/>
        </p:nvSpPr>
        <p:spPr>
          <a:xfrm>
            <a:off x="822960" y="3950208"/>
            <a:ext cx="2194560" cy="164592"/>
          </a:xfrm>
          <a:prstGeom prst="rect">
            <a:avLst/>
          </a:prstGeom>
          <a:noFill/>
          <a:ln/>
        </p:spPr>
        <p:txBody>
          <a:bodyPr wrap="square" lIns="0" tIns="0" rIns="0" bIns="0" rtlCol="0" anchor="ctr"/>
          <a:lstStyle/>
          <a:p>
            <a:pPr indent="0" marL="0">
              <a:buNone/>
            </a:pPr>
            <a:r>
              <a:rPr lang="en-US" sz="850" dirty="0">
                <a:solidFill>
                  <a:srgbClr val="3D6080"/>
                </a:solidFill>
                <a:latin typeface="Calibri" pitchFamily="34" charset="0"/>
                <a:ea typeface="Calibri" pitchFamily="34" charset="-122"/>
                <a:cs typeface="Calibri" pitchFamily="34" charset="-120"/>
              </a:rPr>
              <a:t>RTI-grade certificates</a:t>
            </a:r>
            <a:endParaRPr lang="en-US" sz="850" dirty="0"/>
          </a:p>
        </p:txBody>
      </p:sp>
      <p:sp>
        <p:nvSpPr>
          <p:cNvPr id="48" name="Text 46"/>
          <p:cNvSpPr/>
          <p:nvPr/>
        </p:nvSpPr>
        <p:spPr>
          <a:xfrm>
            <a:off x="3063240" y="3675888"/>
            <a:ext cx="1298448" cy="493776"/>
          </a:xfrm>
          <a:prstGeom prst="rect">
            <a:avLst/>
          </a:prstGeom>
          <a:noFill/>
          <a:ln/>
        </p:spPr>
        <p:txBody>
          <a:bodyPr wrap="square" rtlCol="0" anchor="ctr"/>
          <a:lstStyle/>
          <a:p>
            <a:pPr algn="ctr" indent="0" marL="0">
              <a:buNone/>
            </a:pPr>
            <a:r>
              <a:rPr lang="en-US" sz="1150" b="1" dirty="0">
                <a:solidFill>
                  <a:srgbClr val="FF2060"/>
                </a:solidFill>
                <a:latin typeface="Consolas" pitchFamily="34" charset="0"/>
                <a:ea typeface="Consolas" pitchFamily="34" charset="-122"/>
                <a:cs typeface="Consolas" pitchFamily="34" charset="-120"/>
              </a:rPr>
              <a:t>₹5K/report</a:t>
            </a:r>
            <a:endParaRPr lang="en-US" sz="1150" dirty="0"/>
          </a:p>
        </p:txBody>
      </p:sp>
      <p:sp>
        <p:nvSpPr>
          <p:cNvPr id="49" name="Shape 47"/>
          <p:cNvSpPr/>
          <p:nvPr/>
        </p:nvSpPr>
        <p:spPr>
          <a:xfrm>
            <a:off x="256032" y="4242816"/>
            <a:ext cx="4160520" cy="493776"/>
          </a:xfrm>
          <a:prstGeom prst="roundRect">
            <a:avLst>
              <a:gd name="adj" fmla="val 11111"/>
            </a:avLst>
          </a:prstGeom>
          <a:solidFill>
            <a:srgbClr val="112030"/>
          </a:solidFill>
          <a:ln w="12700">
            <a:solidFill>
              <a:srgbClr val="00FF88"/>
            </a:solidFill>
            <a:prstDash val="solid"/>
          </a:ln>
          <a:effectLst>
            <a:outerShdw sx="100000" sy="100000" kx="0" ky="0" algn="bl" rotWithShape="0" blurRad="279400" dist="50800" dir="16200000">
              <a:srgbClr val="00FF88">
                <a:alpha val="15000"/>
              </a:srgbClr>
            </a:outerShdw>
          </a:effectLst>
        </p:spPr>
      </p:sp>
      <p:sp>
        <p:nvSpPr>
          <p:cNvPr id="50" name="Shape 48"/>
          <p:cNvSpPr/>
          <p:nvPr/>
        </p:nvSpPr>
        <p:spPr>
          <a:xfrm>
            <a:off x="256032" y="4242816"/>
            <a:ext cx="493776" cy="493776"/>
          </a:xfrm>
          <a:prstGeom prst="roundRect">
            <a:avLst>
              <a:gd name="adj" fmla="val 11111"/>
            </a:avLst>
          </a:prstGeom>
          <a:solidFill>
            <a:srgbClr val="00FF88">
              <a:alpha val="20000"/>
            </a:srgbClr>
          </a:solidFill>
          <a:ln w="12700">
            <a:solidFill>
              <a:srgbClr val="000000"/>
            </a:solidFill>
            <a:prstDash val="solid"/>
          </a:ln>
        </p:spPr>
      </p:sp>
      <p:sp>
        <p:nvSpPr>
          <p:cNvPr id="51" name="Shape 49"/>
          <p:cNvSpPr/>
          <p:nvPr/>
        </p:nvSpPr>
        <p:spPr>
          <a:xfrm>
            <a:off x="475488" y="4242816"/>
            <a:ext cx="274320" cy="493776"/>
          </a:xfrm>
          <a:prstGeom prst="rect">
            <a:avLst/>
          </a:prstGeom>
          <a:solidFill>
            <a:srgbClr val="00FF88">
              <a:alpha val="20000"/>
            </a:srgbClr>
          </a:solidFill>
          <a:ln w="12700">
            <a:solidFill>
              <a:srgbClr val="000000"/>
            </a:solidFill>
            <a:prstDash val="solid"/>
          </a:ln>
        </p:spPr>
      </p:sp>
      <p:sp>
        <p:nvSpPr>
          <p:cNvPr id="52" name="Text 50"/>
          <p:cNvSpPr/>
          <p:nvPr/>
        </p:nvSpPr>
        <p:spPr>
          <a:xfrm>
            <a:off x="256032" y="4242816"/>
            <a:ext cx="493776" cy="493776"/>
          </a:xfrm>
          <a:prstGeom prst="rect">
            <a:avLst/>
          </a:prstGeom>
          <a:no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3" name="Text 51"/>
          <p:cNvSpPr/>
          <p:nvPr/>
        </p:nvSpPr>
        <p:spPr>
          <a:xfrm>
            <a:off x="822960" y="4297680"/>
            <a:ext cx="2194560" cy="219456"/>
          </a:xfrm>
          <a:prstGeom prst="rect">
            <a:avLst/>
          </a:prstGeom>
          <a:noFill/>
          <a:ln/>
        </p:spPr>
        <p:txBody>
          <a:bodyPr wrap="square" lIns="0" tIns="0" rIns="0" bIns="0" rtlCol="0" anchor="ctr"/>
          <a:lstStyle/>
          <a:p>
            <a:pPr indent="0" marL="0">
              <a:buNone/>
            </a:pPr>
            <a:r>
              <a:rPr lang="en-US" sz="1050" b="1" dirty="0">
                <a:solidFill>
                  <a:srgbClr val="00FF88"/>
                </a:solidFill>
                <a:latin typeface="Calibri" pitchFamily="34" charset="0"/>
                <a:ea typeface="Calibri" pitchFamily="34" charset="-122"/>
                <a:cs typeface="Calibri" pitchFamily="34" charset="-120"/>
              </a:rPr>
              <a:t>WhatsApp Platform</a:t>
            </a:r>
            <a:endParaRPr lang="en-US" sz="1050" dirty="0"/>
          </a:p>
        </p:txBody>
      </p:sp>
      <p:sp>
        <p:nvSpPr>
          <p:cNvPr id="54" name="Text 52"/>
          <p:cNvSpPr/>
          <p:nvPr/>
        </p:nvSpPr>
        <p:spPr>
          <a:xfrm>
            <a:off x="822960" y="4517136"/>
            <a:ext cx="2194560" cy="164592"/>
          </a:xfrm>
          <a:prstGeom prst="rect">
            <a:avLst/>
          </a:prstGeom>
          <a:noFill/>
          <a:ln/>
        </p:spPr>
        <p:txBody>
          <a:bodyPr wrap="square" lIns="0" tIns="0" rIns="0" bIns="0" rtlCol="0" anchor="ctr"/>
          <a:lstStyle/>
          <a:p>
            <a:pPr indent="0" marL="0">
              <a:buNone/>
            </a:pPr>
            <a:r>
              <a:rPr lang="en-US" sz="850" dirty="0">
                <a:solidFill>
                  <a:srgbClr val="3D6080"/>
                </a:solidFill>
                <a:latin typeface="Calibri" pitchFamily="34" charset="0"/>
                <a:ea typeface="Calibri" pitchFamily="34" charset="-122"/>
                <a:cs typeface="Calibri" pitchFamily="34" charset="-120"/>
              </a:rPr>
              <a:t>White-label alerts</a:t>
            </a:r>
            <a:endParaRPr lang="en-US" sz="850" dirty="0"/>
          </a:p>
        </p:txBody>
      </p:sp>
      <p:sp>
        <p:nvSpPr>
          <p:cNvPr id="55" name="Text 53"/>
          <p:cNvSpPr/>
          <p:nvPr/>
        </p:nvSpPr>
        <p:spPr>
          <a:xfrm>
            <a:off x="3063240" y="4242816"/>
            <a:ext cx="1298448" cy="493776"/>
          </a:xfrm>
          <a:prstGeom prst="rect">
            <a:avLst/>
          </a:prstGeom>
          <a:noFill/>
          <a:ln/>
        </p:spPr>
        <p:txBody>
          <a:bodyPr wrap="square" rtlCol="0" anchor="ctr"/>
          <a:lstStyle/>
          <a:p>
            <a:pPr algn="ctr" indent="0" marL="0">
              <a:buNone/>
            </a:pPr>
            <a:r>
              <a:rPr lang="en-US" sz="1150" b="1" dirty="0">
                <a:solidFill>
                  <a:srgbClr val="00FF88"/>
                </a:solidFill>
                <a:latin typeface="Consolas" pitchFamily="34" charset="0"/>
                <a:ea typeface="Consolas" pitchFamily="34" charset="-122"/>
                <a:cs typeface="Consolas" pitchFamily="34" charset="-120"/>
              </a:rPr>
              <a:t>Rev share</a:t>
            </a:r>
            <a:endParaRPr lang="en-US" sz="1150" dirty="0"/>
          </a:p>
        </p:txBody>
      </p:sp>
      <p:sp>
        <p:nvSpPr>
          <p:cNvPr id="56" name="Text 54"/>
          <p:cNvSpPr/>
          <p:nvPr/>
        </p:nvSpPr>
        <p:spPr>
          <a:xfrm>
            <a:off x="4681728" y="2267712"/>
            <a:ext cx="4206240" cy="219456"/>
          </a:xfrm>
          <a:prstGeom prst="rect">
            <a:avLst/>
          </a:prstGeom>
          <a:noFill/>
          <a:ln/>
        </p:spPr>
        <p:txBody>
          <a:bodyPr wrap="square" rtlCol="0" anchor="ctr"/>
          <a:lstStyle/>
          <a:p>
            <a:pPr indent="0" marL="0">
              <a:buNone/>
            </a:pPr>
            <a:r>
              <a:rPr lang="en-US" sz="850" b="1" spc="300" kern="0" dirty="0">
                <a:solidFill>
                  <a:srgbClr val="3D6080"/>
                </a:solidFill>
                <a:latin typeface="Consolas" pitchFamily="34" charset="0"/>
                <a:ea typeface="Consolas" pitchFamily="34" charset="-122"/>
                <a:cs typeface="Consolas" pitchFamily="34" charset="-120"/>
              </a:rPr>
              <a:t>GROWTH ROADMAP</a:t>
            </a:r>
            <a:endParaRPr lang="en-US" sz="850" dirty="0"/>
          </a:p>
        </p:txBody>
      </p:sp>
      <p:sp>
        <p:nvSpPr>
          <p:cNvPr id="57" name="Shape 55"/>
          <p:cNvSpPr/>
          <p:nvPr/>
        </p:nvSpPr>
        <p:spPr>
          <a:xfrm>
            <a:off x="4681728" y="2542032"/>
            <a:ext cx="4206240" cy="493776"/>
          </a:xfrm>
          <a:prstGeom prst="roundRect">
            <a:avLst>
              <a:gd name="adj" fmla="val 11111"/>
            </a:avLst>
          </a:prstGeom>
          <a:solidFill>
            <a:srgbClr val="112030"/>
          </a:solidFill>
          <a:ln w="12700">
            <a:solidFill>
              <a:srgbClr val="3D8EFF"/>
            </a:solidFill>
            <a:prstDash val="solid"/>
          </a:ln>
          <a:effectLst>
            <a:outerShdw sx="100000" sy="100000" kx="0" ky="0" algn="bl" rotWithShape="0" blurRad="279400" dist="50800" dir="16200000">
              <a:srgbClr val="3D8EFF">
                <a:alpha val="15000"/>
              </a:srgbClr>
            </a:outerShdw>
          </a:effectLst>
        </p:spPr>
      </p:sp>
      <p:sp>
        <p:nvSpPr>
          <p:cNvPr id="58" name="Shape 56"/>
          <p:cNvSpPr/>
          <p:nvPr/>
        </p:nvSpPr>
        <p:spPr>
          <a:xfrm>
            <a:off x="4681728" y="2542032"/>
            <a:ext cx="804672" cy="493776"/>
          </a:xfrm>
          <a:prstGeom prst="roundRect">
            <a:avLst>
              <a:gd name="adj" fmla="val 11111"/>
            </a:avLst>
          </a:prstGeom>
          <a:solidFill>
            <a:srgbClr val="3D8EFF">
              <a:alpha val="20000"/>
            </a:srgbClr>
          </a:solidFill>
          <a:ln w="12700">
            <a:solidFill>
              <a:srgbClr val="000000"/>
            </a:solidFill>
            <a:prstDash val="solid"/>
          </a:ln>
        </p:spPr>
      </p:sp>
      <p:sp>
        <p:nvSpPr>
          <p:cNvPr id="59" name="Shape 57"/>
          <p:cNvSpPr/>
          <p:nvPr/>
        </p:nvSpPr>
        <p:spPr>
          <a:xfrm>
            <a:off x="5212080" y="2542032"/>
            <a:ext cx="274320" cy="493776"/>
          </a:xfrm>
          <a:prstGeom prst="rect">
            <a:avLst/>
          </a:prstGeom>
          <a:solidFill>
            <a:srgbClr val="3D8EFF">
              <a:alpha val="20000"/>
            </a:srgbClr>
          </a:solidFill>
          <a:ln w="12700">
            <a:solidFill>
              <a:srgbClr val="000000"/>
            </a:solidFill>
            <a:prstDash val="solid"/>
          </a:ln>
        </p:spPr>
      </p:sp>
      <p:sp>
        <p:nvSpPr>
          <p:cNvPr id="60" name="Text 58"/>
          <p:cNvSpPr/>
          <p:nvPr/>
        </p:nvSpPr>
        <p:spPr>
          <a:xfrm>
            <a:off x="4681728" y="2542032"/>
            <a:ext cx="804672" cy="493776"/>
          </a:xfrm>
          <a:prstGeom prst="rect">
            <a:avLst/>
          </a:prstGeom>
          <a:noFill/>
          <a:ln/>
        </p:spPr>
        <p:txBody>
          <a:bodyPr wrap="square" lIns="0" tIns="0" rIns="0" bIns="0" rtlCol="0" anchor="ctr"/>
          <a:lstStyle/>
          <a:p>
            <a:pPr algn="ctr" indent="0" marL="0">
              <a:buNone/>
            </a:pPr>
            <a:r>
              <a:rPr lang="en-US" sz="750" b="1" dirty="0">
                <a:solidFill>
                  <a:srgbClr val="3D8EFF"/>
                </a:solidFill>
                <a:latin typeface="Consolas" pitchFamily="34" charset="0"/>
                <a:ea typeface="Consolas" pitchFamily="34" charset="-122"/>
                <a:cs typeface="Consolas" pitchFamily="34" charset="-120"/>
              </a:rPr>
              <a:t>0–3 months</a:t>
            </a:r>
            <a:endParaRPr lang="en-US" sz="750" dirty="0"/>
          </a:p>
        </p:txBody>
      </p:sp>
      <p:sp>
        <p:nvSpPr>
          <p:cNvPr id="61" name="Text 59"/>
          <p:cNvSpPr/>
          <p:nvPr/>
        </p:nvSpPr>
        <p:spPr>
          <a:xfrm>
            <a:off x="5541264" y="2596896"/>
            <a:ext cx="2176272" cy="384048"/>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SMS OTP · FastAPI · 2 pilot cities</a:t>
            </a:r>
            <a:endParaRPr lang="en-US" sz="900" dirty="0"/>
          </a:p>
        </p:txBody>
      </p:sp>
      <p:sp>
        <p:nvSpPr>
          <p:cNvPr id="62" name="Text 60"/>
          <p:cNvSpPr/>
          <p:nvPr/>
        </p:nvSpPr>
        <p:spPr>
          <a:xfrm>
            <a:off x="7735824" y="2542032"/>
            <a:ext cx="1097280" cy="493776"/>
          </a:xfrm>
          <a:prstGeom prst="rect">
            <a:avLst/>
          </a:prstGeom>
          <a:noFill/>
          <a:ln/>
        </p:spPr>
        <p:txBody>
          <a:bodyPr wrap="square" rtlCol="0" anchor="ctr"/>
          <a:lstStyle/>
          <a:p>
            <a:pPr algn="ctr" indent="0" marL="0">
              <a:buNone/>
            </a:pPr>
            <a:r>
              <a:rPr lang="en-US" sz="1100" b="1" dirty="0">
                <a:solidFill>
                  <a:srgbClr val="3D8EFF"/>
                </a:solidFill>
                <a:latin typeface="Consolas" pitchFamily="34" charset="0"/>
                <a:ea typeface="Consolas" pitchFamily="34" charset="-122"/>
                <a:cs typeface="Consolas" pitchFamily="34" charset="-120"/>
              </a:rPr>
              <a:t>₹0 → POC</a:t>
            </a:r>
            <a:endParaRPr lang="en-US" sz="1100" dirty="0"/>
          </a:p>
        </p:txBody>
      </p:sp>
      <p:sp>
        <p:nvSpPr>
          <p:cNvPr id="63" name="Shape 61"/>
          <p:cNvSpPr/>
          <p:nvPr/>
        </p:nvSpPr>
        <p:spPr>
          <a:xfrm>
            <a:off x="4681728" y="3108960"/>
            <a:ext cx="4206240" cy="493776"/>
          </a:xfrm>
          <a:prstGeom prst="roundRect">
            <a:avLst>
              <a:gd name="adj" fmla="val 11111"/>
            </a:avLst>
          </a:prstGeom>
          <a:solidFill>
            <a:srgbClr val="112030"/>
          </a:solidFill>
          <a:ln w="12700">
            <a:solidFill>
              <a:srgbClr val="B040FF"/>
            </a:solidFill>
            <a:prstDash val="solid"/>
          </a:ln>
          <a:effectLst>
            <a:outerShdw sx="100000" sy="100000" kx="0" ky="0" algn="bl" rotWithShape="0" blurRad="279400" dist="50800" dir="16200000">
              <a:srgbClr val="B040FF">
                <a:alpha val="15000"/>
              </a:srgbClr>
            </a:outerShdw>
          </a:effectLst>
        </p:spPr>
      </p:sp>
      <p:sp>
        <p:nvSpPr>
          <p:cNvPr id="64" name="Shape 62"/>
          <p:cNvSpPr/>
          <p:nvPr/>
        </p:nvSpPr>
        <p:spPr>
          <a:xfrm>
            <a:off x="4681728" y="3108960"/>
            <a:ext cx="804672" cy="493776"/>
          </a:xfrm>
          <a:prstGeom prst="roundRect">
            <a:avLst>
              <a:gd name="adj" fmla="val 11111"/>
            </a:avLst>
          </a:prstGeom>
          <a:solidFill>
            <a:srgbClr val="B040FF">
              <a:alpha val="20000"/>
            </a:srgbClr>
          </a:solidFill>
          <a:ln w="12700">
            <a:solidFill>
              <a:srgbClr val="000000"/>
            </a:solidFill>
            <a:prstDash val="solid"/>
          </a:ln>
        </p:spPr>
      </p:sp>
      <p:sp>
        <p:nvSpPr>
          <p:cNvPr id="65" name="Shape 63"/>
          <p:cNvSpPr/>
          <p:nvPr/>
        </p:nvSpPr>
        <p:spPr>
          <a:xfrm>
            <a:off x="5212080" y="3108960"/>
            <a:ext cx="274320" cy="493776"/>
          </a:xfrm>
          <a:prstGeom prst="rect">
            <a:avLst/>
          </a:prstGeom>
          <a:solidFill>
            <a:srgbClr val="B040FF">
              <a:alpha val="20000"/>
            </a:srgbClr>
          </a:solidFill>
          <a:ln w="12700">
            <a:solidFill>
              <a:srgbClr val="000000"/>
            </a:solidFill>
            <a:prstDash val="solid"/>
          </a:ln>
        </p:spPr>
      </p:sp>
      <p:sp>
        <p:nvSpPr>
          <p:cNvPr id="66" name="Text 64"/>
          <p:cNvSpPr/>
          <p:nvPr/>
        </p:nvSpPr>
        <p:spPr>
          <a:xfrm>
            <a:off x="4681728" y="3108960"/>
            <a:ext cx="804672" cy="493776"/>
          </a:xfrm>
          <a:prstGeom prst="rect">
            <a:avLst/>
          </a:prstGeom>
          <a:noFill/>
          <a:ln/>
        </p:spPr>
        <p:txBody>
          <a:bodyPr wrap="square" lIns="0" tIns="0" rIns="0" bIns="0" rtlCol="0" anchor="ctr"/>
          <a:lstStyle/>
          <a:p>
            <a:pPr algn="ctr" indent="0" marL="0">
              <a:buNone/>
            </a:pPr>
            <a:r>
              <a:rPr lang="en-US" sz="750" b="1" dirty="0">
                <a:solidFill>
                  <a:srgbClr val="B040FF"/>
                </a:solidFill>
                <a:latin typeface="Consolas" pitchFamily="34" charset="0"/>
                <a:ea typeface="Consolas" pitchFamily="34" charset="-122"/>
                <a:cs typeface="Consolas" pitchFamily="34" charset="-120"/>
              </a:rPr>
              <a:t>3–6 months</a:t>
            </a:r>
            <a:endParaRPr lang="en-US" sz="750" dirty="0"/>
          </a:p>
        </p:txBody>
      </p:sp>
      <p:sp>
        <p:nvSpPr>
          <p:cNvPr id="67" name="Text 65"/>
          <p:cNvSpPr/>
          <p:nvPr/>
        </p:nvSpPr>
        <p:spPr>
          <a:xfrm>
            <a:off x="5541264" y="3163824"/>
            <a:ext cx="2176272" cy="384048"/>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Claude AI · Google Maps · 10 cities</a:t>
            </a:r>
            <a:endParaRPr lang="en-US" sz="900" dirty="0"/>
          </a:p>
        </p:txBody>
      </p:sp>
      <p:sp>
        <p:nvSpPr>
          <p:cNvPr id="68" name="Text 66"/>
          <p:cNvSpPr/>
          <p:nvPr/>
        </p:nvSpPr>
        <p:spPr>
          <a:xfrm>
            <a:off x="7735824" y="3108960"/>
            <a:ext cx="1097280" cy="493776"/>
          </a:xfrm>
          <a:prstGeom prst="rect">
            <a:avLst/>
          </a:prstGeom>
          <a:noFill/>
          <a:ln/>
        </p:spPr>
        <p:txBody>
          <a:bodyPr wrap="square" rtlCol="0" anchor="ctr"/>
          <a:lstStyle/>
          <a:p>
            <a:pPr algn="ctr" indent="0" marL="0">
              <a:buNone/>
            </a:pPr>
            <a:r>
              <a:rPr lang="en-US" sz="1100" b="1" dirty="0">
                <a:solidFill>
                  <a:srgbClr val="B040FF"/>
                </a:solidFill>
                <a:latin typeface="Consolas" pitchFamily="34" charset="0"/>
                <a:ea typeface="Consolas" pitchFamily="34" charset="-122"/>
                <a:cs typeface="Consolas" pitchFamily="34" charset="-120"/>
              </a:rPr>
              <a:t>₹10L ARR</a:t>
            </a:r>
            <a:endParaRPr lang="en-US" sz="1100" dirty="0"/>
          </a:p>
        </p:txBody>
      </p:sp>
      <p:sp>
        <p:nvSpPr>
          <p:cNvPr id="69" name="Shape 67"/>
          <p:cNvSpPr/>
          <p:nvPr/>
        </p:nvSpPr>
        <p:spPr>
          <a:xfrm>
            <a:off x="4681728" y="3675888"/>
            <a:ext cx="4206240" cy="493776"/>
          </a:xfrm>
          <a:prstGeom prst="roundRect">
            <a:avLst>
              <a:gd name="adj" fmla="val 11111"/>
            </a:avLst>
          </a:prstGeom>
          <a:solidFill>
            <a:srgbClr val="112030"/>
          </a:solidFill>
          <a:ln w="12700">
            <a:solidFill>
              <a:srgbClr val="00F5FF"/>
            </a:solidFill>
            <a:prstDash val="solid"/>
          </a:ln>
          <a:effectLst>
            <a:outerShdw sx="100000" sy="100000" kx="0" ky="0" algn="bl" rotWithShape="0" blurRad="279400" dist="50800" dir="16200000">
              <a:srgbClr val="00F5FF">
                <a:alpha val="15000"/>
              </a:srgbClr>
            </a:outerShdw>
          </a:effectLst>
        </p:spPr>
      </p:sp>
      <p:sp>
        <p:nvSpPr>
          <p:cNvPr id="70" name="Shape 68"/>
          <p:cNvSpPr/>
          <p:nvPr/>
        </p:nvSpPr>
        <p:spPr>
          <a:xfrm>
            <a:off x="4681728" y="3675888"/>
            <a:ext cx="804672" cy="493776"/>
          </a:xfrm>
          <a:prstGeom prst="roundRect">
            <a:avLst>
              <a:gd name="adj" fmla="val 11111"/>
            </a:avLst>
          </a:prstGeom>
          <a:solidFill>
            <a:srgbClr val="00F5FF">
              <a:alpha val="20000"/>
            </a:srgbClr>
          </a:solidFill>
          <a:ln w="12700">
            <a:solidFill>
              <a:srgbClr val="000000"/>
            </a:solidFill>
            <a:prstDash val="solid"/>
          </a:ln>
        </p:spPr>
      </p:sp>
      <p:sp>
        <p:nvSpPr>
          <p:cNvPr id="71" name="Shape 69"/>
          <p:cNvSpPr/>
          <p:nvPr/>
        </p:nvSpPr>
        <p:spPr>
          <a:xfrm>
            <a:off x="5212080" y="3675888"/>
            <a:ext cx="274320" cy="493776"/>
          </a:xfrm>
          <a:prstGeom prst="rect">
            <a:avLst/>
          </a:prstGeom>
          <a:solidFill>
            <a:srgbClr val="00F5FF">
              <a:alpha val="20000"/>
            </a:srgbClr>
          </a:solidFill>
          <a:ln w="12700">
            <a:solidFill>
              <a:srgbClr val="000000"/>
            </a:solidFill>
            <a:prstDash val="solid"/>
          </a:ln>
        </p:spPr>
      </p:sp>
      <p:sp>
        <p:nvSpPr>
          <p:cNvPr id="72" name="Text 70"/>
          <p:cNvSpPr/>
          <p:nvPr/>
        </p:nvSpPr>
        <p:spPr>
          <a:xfrm>
            <a:off x="4681728" y="3675888"/>
            <a:ext cx="804672" cy="493776"/>
          </a:xfrm>
          <a:prstGeom prst="rect">
            <a:avLst/>
          </a:prstGeom>
          <a:noFill/>
          <a:ln/>
        </p:spPr>
        <p:txBody>
          <a:bodyPr wrap="square" lIns="0" tIns="0" rIns="0" bIns="0" rtlCol="0" anchor="ctr"/>
          <a:lstStyle/>
          <a:p>
            <a:pPr algn="ctr" indent="0" marL="0">
              <a:buNone/>
            </a:pPr>
            <a:r>
              <a:rPr lang="en-US" sz="750" b="1" dirty="0">
                <a:solidFill>
                  <a:srgbClr val="00F5FF"/>
                </a:solidFill>
                <a:latin typeface="Consolas" pitchFamily="34" charset="0"/>
                <a:ea typeface="Consolas" pitchFamily="34" charset="-122"/>
                <a:cs typeface="Consolas" pitchFamily="34" charset="-120"/>
              </a:rPr>
              <a:t>6–12 months</a:t>
            </a:r>
            <a:endParaRPr lang="en-US" sz="750" dirty="0"/>
          </a:p>
        </p:txBody>
      </p:sp>
      <p:sp>
        <p:nvSpPr>
          <p:cNvPr id="73" name="Text 71"/>
          <p:cNvSpPr/>
          <p:nvPr/>
        </p:nvSpPr>
        <p:spPr>
          <a:xfrm>
            <a:off x="5541264" y="3730752"/>
            <a:ext cx="2176272" cy="384048"/>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22 languages · Mobile app · 100 cities</a:t>
            </a:r>
            <a:endParaRPr lang="en-US" sz="900" dirty="0"/>
          </a:p>
        </p:txBody>
      </p:sp>
      <p:sp>
        <p:nvSpPr>
          <p:cNvPr id="74" name="Text 72"/>
          <p:cNvSpPr/>
          <p:nvPr/>
        </p:nvSpPr>
        <p:spPr>
          <a:xfrm>
            <a:off x="7735824" y="3675888"/>
            <a:ext cx="1097280" cy="493776"/>
          </a:xfrm>
          <a:prstGeom prst="rect">
            <a:avLst/>
          </a:prstGeom>
          <a:noFill/>
          <a:ln/>
        </p:spPr>
        <p:txBody>
          <a:bodyPr wrap="square" rtlCol="0" anchor="ctr"/>
          <a:lstStyle/>
          <a:p>
            <a:pPr algn="ctr" indent="0" marL="0">
              <a:buNone/>
            </a:pPr>
            <a:r>
              <a:rPr lang="en-US" sz="1100" b="1" dirty="0">
                <a:solidFill>
                  <a:srgbClr val="00F5FF"/>
                </a:solidFill>
                <a:latin typeface="Consolas" pitchFamily="34" charset="0"/>
                <a:ea typeface="Consolas" pitchFamily="34" charset="-122"/>
                <a:cs typeface="Consolas" pitchFamily="34" charset="-120"/>
              </a:rPr>
              <a:t>₹1Cr ARR</a:t>
            </a:r>
            <a:endParaRPr lang="en-US" sz="1100" dirty="0"/>
          </a:p>
        </p:txBody>
      </p:sp>
      <p:sp>
        <p:nvSpPr>
          <p:cNvPr id="75" name="Shape 73"/>
          <p:cNvSpPr/>
          <p:nvPr/>
        </p:nvSpPr>
        <p:spPr>
          <a:xfrm>
            <a:off x="4681728" y="4242816"/>
            <a:ext cx="4206240" cy="493776"/>
          </a:xfrm>
          <a:prstGeom prst="roundRect">
            <a:avLst>
              <a:gd name="adj" fmla="val 11111"/>
            </a:avLst>
          </a:prstGeom>
          <a:solidFill>
            <a:srgbClr val="112030"/>
          </a:solidFill>
          <a:ln w="12700">
            <a:solidFill>
              <a:srgbClr val="00FF88"/>
            </a:solidFill>
            <a:prstDash val="solid"/>
          </a:ln>
          <a:effectLst>
            <a:outerShdw sx="100000" sy="100000" kx="0" ky="0" algn="bl" rotWithShape="0" blurRad="279400" dist="50800" dir="16200000">
              <a:srgbClr val="00FF88">
                <a:alpha val="15000"/>
              </a:srgbClr>
            </a:outerShdw>
          </a:effectLst>
        </p:spPr>
      </p:sp>
      <p:sp>
        <p:nvSpPr>
          <p:cNvPr id="76" name="Shape 74"/>
          <p:cNvSpPr/>
          <p:nvPr/>
        </p:nvSpPr>
        <p:spPr>
          <a:xfrm>
            <a:off x="4681728" y="4242816"/>
            <a:ext cx="804672" cy="493776"/>
          </a:xfrm>
          <a:prstGeom prst="roundRect">
            <a:avLst>
              <a:gd name="adj" fmla="val 11111"/>
            </a:avLst>
          </a:prstGeom>
          <a:solidFill>
            <a:srgbClr val="00FF88">
              <a:alpha val="20000"/>
            </a:srgbClr>
          </a:solidFill>
          <a:ln w="12700">
            <a:solidFill>
              <a:srgbClr val="000000"/>
            </a:solidFill>
            <a:prstDash val="solid"/>
          </a:ln>
        </p:spPr>
      </p:sp>
      <p:sp>
        <p:nvSpPr>
          <p:cNvPr id="77" name="Shape 75"/>
          <p:cNvSpPr/>
          <p:nvPr/>
        </p:nvSpPr>
        <p:spPr>
          <a:xfrm>
            <a:off x="5212080" y="4242816"/>
            <a:ext cx="274320" cy="493776"/>
          </a:xfrm>
          <a:prstGeom prst="rect">
            <a:avLst/>
          </a:prstGeom>
          <a:solidFill>
            <a:srgbClr val="00FF88">
              <a:alpha val="20000"/>
            </a:srgbClr>
          </a:solidFill>
          <a:ln w="12700">
            <a:solidFill>
              <a:srgbClr val="000000"/>
            </a:solidFill>
            <a:prstDash val="solid"/>
          </a:ln>
        </p:spPr>
      </p:sp>
      <p:sp>
        <p:nvSpPr>
          <p:cNvPr id="78" name="Text 76"/>
          <p:cNvSpPr/>
          <p:nvPr/>
        </p:nvSpPr>
        <p:spPr>
          <a:xfrm>
            <a:off x="4681728" y="4242816"/>
            <a:ext cx="804672" cy="493776"/>
          </a:xfrm>
          <a:prstGeom prst="rect">
            <a:avLst/>
          </a:prstGeom>
          <a:noFill/>
          <a:ln/>
        </p:spPr>
        <p:txBody>
          <a:bodyPr wrap="square" lIns="0" tIns="0" rIns="0" bIns="0" rtlCol="0" anchor="ctr"/>
          <a:lstStyle/>
          <a:p>
            <a:pPr algn="ctr" indent="0" marL="0">
              <a:buNone/>
            </a:pPr>
            <a:r>
              <a:rPr lang="en-US" sz="750" b="1" dirty="0">
                <a:solidFill>
                  <a:srgbClr val="00FF88"/>
                </a:solidFill>
                <a:latin typeface="Consolas" pitchFamily="34" charset="0"/>
                <a:ea typeface="Consolas" pitchFamily="34" charset="-122"/>
                <a:cs typeface="Consolas" pitchFamily="34" charset="-120"/>
              </a:rPr>
              <a:t>Year 2+</a:t>
            </a:r>
            <a:endParaRPr lang="en-US" sz="750" dirty="0"/>
          </a:p>
        </p:txBody>
      </p:sp>
      <p:sp>
        <p:nvSpPr>
          <p:cNvPr id="79" name="Text 77"/>
          <p:cNvSpPr/>
          <p:nvPr/>
        </p:nvSpPr>
        <p:spPr>
          <a:xfrm>
            <a:off x="5541264" y="4297680"/>
            <a:ext cx="2176272" cy="384048"/>
          </a:xfrm>
          <a:prstGeom prst="rect">
            <a:avLst/>
          </a:prstGeom>
          <a:noFill/>
          <a:ln/>
        </p:spPr>
        <p:txBody>
          <a:bodyPr wrap="square" lIns="0" tIns="0" rIns="0" bIns="0" rtlCol="0" anchor="ctr"/>
          <a:lstStyle/>
          <a:p>
            <a:pPr indent="0" marL="0">
              <a:buNone/>
            </a:pPr>
            <a:r>
              <a:rPr lang="en-US" sz="900" dirty="0">
                <a:solidFill>
                  <a:srgbClr val="3D6080"/>
                </a:solidFill>
                <a:latin typeface="Calibri" pitchFamily="34" charset="0"/>
                <a:ea typeface="Calibri" pitchFamily="34" charset="-122"/>
                <a:cs typeface="Calibri" pitchFamily="34" charset="-120"/>
              </a:rPr>
              <a:t>All states · Export model · SaaS scale</a:t>
            </a:r>
            <a:endParaRPr lang="en-US" sz="900" dirty="0"/>
          </a:p>
        </p:txBody>
      </p:sp>
      <p:sp>
        <p:nvSpPr>
          <p:cNvPr id="80" name="Text 78"/>
          <p:cNvSpPr/>
          <p:nvPr/>
        </p:nvSpPr>
        <p:spPr>
          <a:xfrm>
            <a:off x="7735824" y="4242816"/>
            <a:ext cx="1097280" cy="493776"/>
          </a:xfrm>
          <a:prstGeom prst="rect">
            <a:avLst/>
          </a:prstGeom>
          <a:noFill/>
          <a:ln/>
        </p:spPr>
        <p:txBody>
          <a:bodyPr wrap="square" rtlCol="0" anchor="ctr"/>
          <a:lstStyle/>
          <a:p>
            <a:pPr algn="ctr" indent="0" marL="0">
              <a:buNone/>
            </a:pPr>
            <a:r>
              <a:rPr lang="en-US" sz="1100" b="1" dirty="0">
                <a:solidFill>
                  <a:srgbClr val="00FF88"/>
                </a:solidFill>
                <a:latin typeface="Consolas" pitchFamily="34" charset="0"/>
                <a:ea typeface="Consolas" pitchFamily="34" charset="-122"/>
                <a:cs typeface="Consolas" pitchFamily="34" charset="-120"/>
              </a:rPr>
              <a:t>₹10Cr+ ARR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Shape 3"/>
          <p:cNvSpPr/>
          <p:nvPr/>
        </p:nvSpPr>
        <p:spPr>
          <a:xfrm>
            <a:off x="0" y="0"/>
            <a:ext cx="9144000" cy="11887"/>
          </a:xfrm>
          <a:prstGeom prst="rect">
            <a:avLst/>
          </a:prstGeom>
          <a:solidFill>
            <a:srgbClr val="B040FF">
              <a:alpha val="3000"/>
            </a:srgbClr>
          </a:solidFill>
          <a:ln w="12700">
            <a:solidFill>
              <a:srgbClr val="000000"/>
            </a:solidFill>
            <a:prstDash val="solid"/>
          </a:ln>
        </p:spPr>
      </p:sp>
      <p:sp>
        <p:nvSpPr>
          <p:cNvPr id="6" name="Shape 4"/>
          <p:cNvSpPr/>
          <p:nvPr/>
        </p:nvSpPr>
        <p:spPr>
          <a:xfrm>
            <a:off x="0" y="642938"/>
            <a:ext cx="9144000" cy="11887"/>
          </a:xfrm>
          <a:prstGeom prst="rect">
            <a:avLst/>
          </a:prstGeom>
          <a:solidFill>
            <a:srgbClr val="B040FF">
              <a:alpha val="3000"/>
            </a:srgbClr>
          </a:solidFill>
          <a:ln w="12700">
            <a:solidFill>
              <a:srgbClr val="000000"/>
            </a:solidFill>
            <a:prstDash val="solid"/>
          </a:ln>
        </p:spPr>
      </p:sp>
      <p:sp>
        <p:nvSpPr>
          <p:cNvPr id="7" name="Shape 5"/>
          <p:cNvSpPr/>
          <p:nvPr/>
        </p:nvSpPr>
        <p:spPr>
          <a:xfrm>
            <a:off x="0" y="1285875"/>
            <a:ext cx="9144000" cy="11887"/>
          </a:xfrm>
          <a:prstGeom prst="rect">
            <a:avLst/>
          </a:prstGeom>
          <a:solidFill>
            <a:srgbClr val="B040FF">
              <a:alpha val="3000"/>
            </a:srgbClr>
          </a:solidFill>
          <a:ln w="12700">
            <a:solidFill>
              <a:srgbClr val="000000"/>
            </a:solidFill>
            <a:prstDash val="solid"/>
          </a:ln>
        </p:spPr>
      </p:sp>
      <p:sp>
        <p:nvSpPr>
          <p:cNvPr id="8" name="Shape 6"/>
          <p:cNvSpPr/>
          <p:nvPr/>
        </p:nvSpPr>
        <p:spPr>
          <a:xfrm>
            <a:off x="0" y="1928813"/>
            <a:ext cx="9144000" cy="11887"/>
          </a:xfrm>
          <a:prstGeom prst="rect">
            <a:avLst/>
          </a:prstGeom>
          <a:solidFill>
            <a:srgbClr val="B040FF">
              <a:alpha val="3000"/>
            </a:srgbClr>
          </a:solidFill>
          <a:ln w="12700">
            <a:solidFill>
              <a:srgbClr val="000000"/>
            </a:solidFill>
            <a:prstDash val="solid"/>
          </a:ln>
        </p:spPr>
      </p:sp>
      <p:sp>
        <p:nvSpPr>
          <p:cNvPr id="9" name="Shape 7"/>
          <p:cNvSpPr/>
          <p:nvPr/>
        </p:nvSpPr>
        <p:spPr>
          <a:xfrm>
            <a:off x="0" y="2571750"/>
            <a:ext cx="9144000" cy="11887"/>
          </a:xfrm>
          <a:prstGeom prst="rect">
            <a:avLst/>
          </a:prstGeom>
          <a:solidFill>
            <a:srgbClr val="B040FF">
              <a:alpha val="3000"/>
            </a:srgbClr>
          </a:solidFill>
          <a:ln w="12700">
            <a:solidFill>
              <a:srgbClr val="000000"/>
            </a:solidFill>
            <a:prstDash val="solid"/>
          </a:ln>
        </p:spPr>
      </p:sp>
      <p:sp>
        <p:nvSpPr>
          <p:cNvPr id="10" name="Shape 8"/>
          <p:cNvSpPr/>
          <p:nvPr/>
        </p:nvSpPr>
        <p:spPr>
          <a:xfrm>
            <a:off x="0" y="3214688"/>
            <a:ext cx="9144000" cy="11887"/>
          </a:xfrm>
          <a:prstGeom prst="rect">
            <a:avLst/>
          </a:prstGeom>
          <a:solidFill>
            <a:srgbClr val="B040FF">
              <a:alpha val="3000"/>
            </a:srgbClr>
          </a:solidFill>
          <a:ln w="12700">
            <a:solidFill>
              <a:srgbClr val="000000"/>
            </a:solidFill>
            <a:prstDash val="solid"/>
          </a:ln>
        </p:spPr>
      </p:sp>
      <p:sp>
        <p:nvSpPr>
          <p:cNvPr id="11" name="Shape 9"/>
          <p:cNvSpPr/>
          <p:nvPr/>
        </p:nvSpPr>
        <p:spPr>
          <a:xfrm>
            <a:off x="0" y="3857625"/>
            <a:ext cx="9144000" cy="11887"/>
          </a:xfrm>
          <a:prstGeom prst="rect">
            <a:avLst/>
          </a:prstGeom>
          <a:solidFill>
            <a:srgbClr val="B040FF">
              <a:alpha val="3000"/>
            </a:srgbClr>
          </a:solidFill>
          <a:ln w="12700">
            <a:solidFill>
              <a:srgbClr val="000000"/>
            </a:solidFill>
            <a:prstDash val="solid"/>
          </a:ln>
        </p:spPr>
      </p:sp>
      <p:sp>
        <p:nvSpPr>
          <p:cNvPr id="12" name="Shape 10"/>
          <p:cNvSpPr/>
          <p:nvPr/>
        </p:nvSpPr>
        <p:spPr>
          <a:xfrm>
            <a:off x="0" y="4500563"/>
            <a:ext cx="9144000" cy="11887"/>
          </a:xfrm>
          <a:prstGeom prst="rect">
            <a:avLst/>
          </a:prstGeom>
          <a:solidFill>
            <a:srgbClr val="B040FF">
              <a:alpha val="3000"/>
            </a:srgbClr>
          </a:solidFill>
          <a:ln w="12700">
            <a:solidFill>
              <a:srgbClr val="000000"/>
            </a:solidFill>
            <a:prstDash val="solid"/>
          </a:ln>
        </p:spPr>
      </p:sp>
      <p:sp>
        <p:nvSpPr>
          <p:cNvPr id="13" name="Text 11"/>
          <p:cNvSpPr/>
          <p:nvPr/>
        </p:nvSpPr>
        <p:spPr>
          <a:xfrm>
            <a:off x="365760" y="91440"/>
            <a:ext cx="8412480" cy="201168"/>
          </a:xfrm>
          <a:prstGeom prst="rect">
            <a:avLst/>
          </a:prstGeom>
          <a:noFill/>
          <a:ln/>
        </p:spPr>
        <p:txBody>
          <a:bodyPr wrap="square" rtlCol="0" anchor="ctr"/>
          <a:lstStyle/>
          <a:p>
            <a:pPr algn="ctr" indent="0" marL="0">
              <a:buNone/>
            </a:pPr>
            <a:r>
              <a:rPr lang="en-US" sz="750" spc="500" kern="0" dirty="0">
                <a:solidFill>
                  <a:srgbClr val="00F5FF"/>
                </a:solidFill>
                <a:latin typeface="Consolas" pitchFamily="34" charset="0"/>
                <a:ea typeface="Consolas" pitchFamily="34" charset="-122"/>
                <a:cs typeface="Consolas" pitchFamily="34" charset="-120"/>
              </a:rPr>
              <a:t>THE TEAM</a:t>
            </a:r>
            <a:endParaRPr lang="en-US" sz="750" dirty="0"/>
          </a:p>
        </p:txBody>
      </p:sp>
      <p:sp>
        <p:nvSpPr>
          <p:cNvPr id="14" name="Text 12"/>
          <p:cNvSpPr/>
          <p:nvPr/>
        </p:nvSpPr>
        <p:spPr>
          <a:xfrm>
            <a:off x="365760" y="292608"/>
            <a:ext cx="8412480" cy="566928"/>
          </a:xfrm>
          <a:prstGeom prst="rect">
            <a:avLst/>
          </a:prstGeom>
          <a:noFill/>
          <a:ln/>
        </p:spPr>
        <p:txBody>
          <a:bodyPr wrap="square" rtlCol="0" anchor="ctr"/>
          <a:lstStyle/>
          <a:p>
            <a:pPr algn="ctr" indent="0" marL="0">
              <a:buNone/>
            </a:pPr>
            <a:r>
              <a:rPr lang="en-US" sz="3400" b="1" dirty="0">
                <a:solidFill>
                  <a:srgbClr val="EEF6FF"/>
                </a:solidFill>
                <a:latin typeface="Calibri" pitchFamily="34" charset="0"/>
                <a:ea typeface="Calibri" pitchFamily="34" charset="-122"/>
                <a:cs typeface="Calibri" pitchFamily="34" charset="-120"/>
              </a:rPr>
              <a:t>Built in Days. Deployed Globally. 🔥</a:t>
            </a:r>
            <a:endParaRPr lang="en-US" sz="3400" dirty="0"/>
          </a:p>
        </p:txBody>
      </p:sp>
      <p:sp>
        <p:nvSpPr>
          <p:cNvPr id="15" name="Shape 13"/>
          <p:cNvSpPr/>
          <p:nvPr/>
        </p:nvSpPr>
        <p:spPr>
          <a:xfrm>
            <a:off x="228600" y="987552"/>
            <a:ext cx="2121408" cy="4160520"/>
          </a:xfrm>
          <a:prstGeom prst="roundRect">
            <a:avLst>
              <a:gd name="adj" fmla="val 4310"/>
            </a:avLst>
          </a:prstGeom>
          <a:solidFill>
            <a:srgbClr val="112030"/>
          </a:solidFill>
          <a:ln w="16510">
            <a:solidFill>
              <a:srgbClr val="00F5FF"/>
            </a:solidFill>
            <a:prstDash val="solid"/>
          </a:ln>
          <a:effectLst>
            <a:outerShdw sx="100000" sy="100000" kx="0" ky="0" algn="bl" rotWithShape="0" blurRad="279400" dist="50800" dir="16200000">
              <a:srgbClr val="00F5FF">
                <a:alpha val="30000"/>
              </a:srgbClr>
            </a:outerShdw>
          </a:effectLst>
        </p:spPr>
      </p:sp>
      <p:sp>
        <p:nvSpPr>
          <p:cNvPr id="16" name="Shape 14"/>
          <p:cNvSpPr/>
          <p:nvPr/>
        </p:nvSpPr>
        <p:spPr>
          <a:xfrm>
            <a:off x="228600" y="987552"/>
            <a:ext cx="2121408" cy="1325880"/>
          </a:xfrm>
          <a:prstGeom prst="roundRect">
            <a:avLst>
              <a:gd name="adj" fmla="val 6897"/>
            </a:avLst>
          </a:prstGeom>
          <a:solidFill>
            <a:srgbClr val="00F5FF">
              <a:alpha val="14000"/>
            </a:srgbClr>
          </a:solidFill>
          <a:ln w="12700">
            <a:solidFill>
              <a:srgbClr val="000000"/>
            </a:solidFill>
            <a:prstDash val="solid"/>
          </a:ln>
        </p:spPr>
      </p:sp>
      <p:sp>
        <p:nvSpPr>
          <p:cNvPr id="17" name="Shape 15"/>
          <p:cNvSpPr/>
          <p:nvPr/>
        </p:nvSpPr>
        <p:spPr>
          <a:xfrm>
            <a:off x="228600" y="1920240"/>
            <a:ext cx="2121408" cy="393192"/>
          </a:xfrm>
          <a:prstGeom prst="rect">
            <a:avLst/>
          </a:prstGeom>
          <a:solidFill>
            <a:srgbClr val="00F5FF">
              <a:alpha val="14000"/>
            </a:srgbClr>
          </a:solidFill>
          <a:ln w="12700">
            <a:solidFill>
              <a:srgbClr val="000000"/>
            </a:solidFill>
            <a:prstDash val="solid"/>
          </a:ln>
        </p:spPr>
      </p:sp>
      <p:sp>
        <p:nvSpPr>
          <p:cNvPr id="18" name="Shape 16"/>
          <p:cNvSpPr/>
          <p:nvPr/>
        </p:nvSpPr>
        <p:spPr>
          <a:xfrm>
            <a:off x="740664" y="1051560"/>
            <a:ext cx="1097280" cy="1097280"/>
          </a:xfrm>
          <a:prstGeom prst="ellipse">
            <a:avLst/>
          </a:prstGeom>
          <a:solidFill>
            <a:srgbClr val="020C18"/>
          </a:solidFill>
          <a:ln w="22860">
            <a:solidFill>
              <a:srgbClr val="00F5FF"/>
            </a:solidFill>
            <a:prstDash val="solid"/>
          </a:ln>
          <a:effectLst>
            <a:outerShdw sx="100000" sy="100000" kx="0" ky="0" algn="bl" rotWithShape="0" blurRad="279400" dist="50800" dir="16200000">
              <a:srgbClr val="00F5FF">
                <a:alpha val="50000"/>
              </a:srgbClr>
            </a:outerShdw>
          </a:effectLst>
        </p:spPr>
      </p:sp>
      <p:sp>
        <p:nvSpPr>
          <p:cNvPr id="19" name="Text 17"/>
          <p:cNvSpPr/>
          <p:nvPr/>
        </p:nvSpPr>
        <p:spPr>
          <a:xfrm>
            <a:off x="740664" y="1051560"/>
            <a:ext cx="1097280" cy="1097280"/>
          </a:xfrm>
          <a:prstGeom prst="rect">
            <a:avLst/>
          </a:prstGeom>
          <a:noFill/>
          <a:ln/>
        </p:spPr>
        <p:txBody>
          <a:bodyPr wrap="square" lIns="0" tIns="0" rIns="0" bIns="0" rtlCol="0" anchor="ctr"/>
          <a:lstStyle/>
          <a:p>
            <a:pPr algn="ctr" indent="0" marL="0">
              <a:buNone/>
            </a:pPr>
            <a:r>
              <a:rPr lang="en-US" sz="3800" dirty="0">
                <a:solidFill>
                  <a:srgbClr val="000000"/>
                </a:solidFill>
              </a:rPr>
              <a:t>👩‍💻</a:t>
            </a:r>
            <a:endParaRPr lang="en-US" sz="3800" dirty="0"/>
          </a:p>
        </p:txBody>
      </p:sp>
      <p:sp>
        <p:nvSpPr>
          <p:cNvPr id="20" name="Text 18"/>
          <p:cNvSpPr/>
          <p:nvPr/>
        </p:nvSpPr>
        <p:spPr>
          <a:xfrm>
            <a:off x="228600" y="2231136"/>
            <a:ext cx="2121408" cy="274320"/>
          </a:xfrm>
          <a:prstGeom prst="rect">
            <a:avLst/>
          </a:prstGeom>
          <a:noFill/>
          <a:ln/>
        </p:spPr>
        <p:txBody>
          <a:bodyPr wrap="square" lIns="0" tIns="0" rIns="0" bIns="0" rtlCol="0" anchor="ctr"/>
          <a:lstStyle/>
          <a:p>
            <a:pPr algn="ctr" indent="0" marL="0">
              <a:buNone/>
            </a:pPr>
            <a:r>
              <a:rPr lang="en-US" sz="1150" b="1" dirty="0">
                <a:solidFill>
                  <a:srgbClr val="00F5FF"/>
                </a:solidFill>
                <a:latin typeface="Calibri" pitchFamily="34" charset="0"/>
                <a:ea typeface="Calibri" pitchFamily="34" charset="-122"/>
                <a:cs typeface="Calibri" pitchFamily="34" charset="-120"/>
              </a:rPr>
              <a:t>Riya Thakur</a:t>
            </a:r>
            <a:endParaRPr lang="en-US" sz="1150" dirty="0"/>
          </a:p>
        </p:txBody>
      </p:sp>
      <p:sp>
        <p:nvSpPr>
          <p:cNvPr id="21" name="Text 19"/>
          <p:cNvSpPr/>
          <p:nvPr/>
        </p:nvSpPr>
        <p:spPr>
          <a:xfrm>
            <a:off x="228600" y="2505456"/>
            <a:ext cx="2121408" cy="201168"/>
          </a:xfrm>
          <a:prstGeom prst="rect">
            <a:avLst/>
          </a:prstGeom>
          <a:noFill/>
          <a:ln/>
        </p:spPr>
        <p:txBody>
          <a:bodyPr wrap="square" lIns="0" tIns="0" rIns="0" bIns="0" rtlCol="0" anchor="ctr"/>
          <a:lstStyle/>
          <a:p>
            <a:pPr algn="ctr" indent="0" marL="0">
              <a:buNone/>
            </a:pPr>
            <a:r>
              <a:rPr lang="en-US" sz="880" dirty="0">
                <a:solidFill>
                  <a:srgbClr val="3D6080"/>
                </a:solidFill>
                <a:latin typeface="Consolas" pitchFamily="34" charset="0"/>
                <a:ea typeface="Consolas" pitchFamily="34" charset="-122"/>
                <a:cs typeface="Consolas" pitchFamily="34" charset="-120"/>
              </a:rPr>
              <a:t>Full Stack Lead</a:t>
            </a:r>
            <a:endParaRPr lang="en-US" sz="880" dirty="0"/>
          </a:p>
        </p:txBody>
      </p:sp>
      <p:sp>
        <p:nvSpPr>
          <p:cNvPr id="22" name="Shape 20"/>
          <p:cNvSpPr/>
          <p:nvPr/>
        </p:nvSpPr>
        <p:spPr>
          <a:xfrm>
            <a:off x="338328" y="2743200"/>
            <a:ext cx="1901952" cy="22860"/>
          </a:xfrm>
          <a:prstGeom prst="rect">
            <a:avLst/>
          </a:prstGeom>
          <a:solidFill>
            <a:srgbClr val="00F5FF">
              <a:alpha val="30000"/>
            </a:srgbClr>
          </a:solidFill>
          <a:ln w="12700">
            <a:solidFill>
              <a:srgbClr val="000000"/>
            </a:solidFill>
            <a:prstDash val="solid"/>
          </a:ln>
        </p:spPr>
      </p:sp>
      <p:sp>
        <p:nvSpPr>
          <p:cNvPr id="23" name="Shape 21"/>
          <p:cNvSpPr/>
          <p:nvPr/>
        </p:nvSpPr>
        <p:spPr>
          <a:xfrm>
            <a:off x="356616" y="2825496"/>
            <a:ext cx="91440" cy="91440"/>
          </a:xfrm>
          <a:prstGeom prst="ellipse">
            <a:avLst/>
          </a:prstGeom>
          <a:solidFill>
            <a:srgbClr val="00F5FF"/>
          </a:solidFill>
          <a:ln w="12700">
            <a:solidFill>
              <a:srgbClr val="000000"/>
            </a:solidFill>
            <a:prstDash val="solid"/>
          </a:ln>
        </p:spPr>
      </p:sp>
      <p:sp>
        <p:nvSpPr>
          <p:cNvPr id="24" name="Text 22"/>
          <p:cNvSpPr/>
          <p:nvPr/>
        </p:nvSpPr>
        <p:spPr>
          <a:xfrm>
            <a:off x="502920" y="2798064"/>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Full CivicEye v6 frontend</a:t>
            </a:r>
            <a:endParaRPr lang="en-US" sz="820" dirty="0"/>
          </a:p>
        </p:txBody>
      </p:sp>
      <p:sp>
        <p:nvSpPr>
          <p:cNvPr id="25" name="Shape 23"/>
          <p:cNvSpPr/>
          <p:nvPr/>
        </p:nvSpPr>
        <p:spPr>
          <a:xfrm>
            <a:off x="356616" y="3154680"/>
            <a:ext cx="91440" cy="91440"/>
          </a:xfrm>
          <a:prstGeom prst="ellipse">
            <a:avLst/>
          </a:prstGeom>
          <a:solidFill>
            <a:srgbClr val="00F5FF"/>
          </a:solidFill>
          <a:ln w="12700">
            <a:solidFill>
              <a:srgbClr val="000000"/>
            </a:solidFill>
            <a:prstDash val="solid"/>
          </a:ln>
        </p:spPr>
      </p:sp>
      <p:sp>
        <p:nvSpPr>
          <p:cNvPr id="26" name="Text 24"/>
          <p:cNvSpPr/>
          <p:nvPr/>
        </p:nvSpPr>
        <p:spPr>
          <a:xfrm>
            <a:off x="502920" y="3127248"/>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AI Classifier (8 cats)</a:t>
            </a:r>
            <a:endParaRPr lang="en-US" sz="820" dirty="0"/>
          </a:p>
        </p:txBody>
      </p:sp>
      <p:sp>
        <p:nvSpPr>
          <p:cNvPr id="27" name="Shape 25"/>
          <p:cNvSpPr/>
          <p:nvPr/>
        </p:nvSpPr>
        <p:spPr>
          <a:xfrm>
            <a:off x="356616" y="3483864"/>
            <a:ext cx="91440" cy="91440"/>
          </a:xfrm>
          <a:prstGeom prst="ellipse">
            <a:avLst/>
          </a:prstGeom>
          <a:solidFill>
            <a:srgbClr val="00F5FF"/>
          </a:solidFill>
          <a:ln w="12700">
            <a:solidFill>
              <a:srgbClr val="000000"/>
            </a:solidFill>
            <a:prstDash val="solid"/>
          </a:ln>
        </p:spPr>
      </p:sp>
      <p:sp>
        <p:nvSpPr>
          <p:cNvPr id="28" name="Text 26"/>
          <p:cNvSpPr/>
          <p:nvPr/>
        </p:nvSpPr>
        <p:spPr>
          <a:xfrm>
            <a:off x="502920" y="3456432"/>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JS Blockchain + hashing</a:t>
            </a:r>
            <a:endParaRPr lang="en-US" sz="820" dirty="0"/>
          </a:p>
        </p:txBody>
      </p:sp>
      <p:sp>
        <p:nvSpPr>
          <p:cNvPr id="29" name="Shape 27"/>
          <p:cNvSpPr/>
          <p:nvPr/>
        </p:nvSpPr>
        <p:spPr>
          <a:xfrm>
            <a:off x="356616" y="3813048"/>
            <a:ext cx="91440" cy="91440"/>
          </a:xfrm>
          <a:prstGeom prst="ellipse">
            <a:avLst/>
          </a:prstGeom>
          <a:solidFill>
            <a:srgbClr val="00F5FF"/>
          </a:solidFill>
          <a:ln w="12700">
            <a:solidFill>
              <a:srgbClr val="000000"/>
            </a:solidFill>
            <a:prstDash val="solid"/>
          </a:ln>
        </p:spPr>
      </p:sp>
      <p:sp>
        <p:nvSpPr>
          <p:cNvPr id="30" name="Text 28"/>
          <p:cNvSpPr/>
          <p:nvPr/>
        </p:nvSpPr>
        <p:spPr>
          <a:xfrm>
            <a:off x="502920" y="3785616"/>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Real Auth + OTP engine</a:t>
            </a:r>
            <a:endParaRPr lang="en-US" sz="820" dirty="0"/>
          </a:p>
        </p:txBody>
      </p:sp>
      <p:sp>
        <p:nvSpPr>
          <p:cNvPr id="31" name="Shape 29"/>
          <p:cNvSpPr/>
          <p:nvPr/>
        </p:nvSpPr>
        <p:spPr>
          <a:xfrm>
            <a:off x="356616" y="4142232"/>
            <a:ext cx="91440" cy="91440"/>
          </a:xfrm>
          <a:prstGeom prst="ellipse">
            <a:avLst/>
          </a:prstGeom>
          <a:solidFill>
            <a:srgbClr val="00F5FF"/>
          </a:solidFill>
          <a:ln w="12700">
            <a:solidFill>
              <a:srgbClr val="000000"/>
            </a:solidFill>
            <a:prstDash val="solid"/>
          </a:ln>
        </p:spPr>
      </p:sp>
      <p:sp>
        <p:nvSpPr>
          <p:cNvPr id="32" name="Text 30"/>
          <p:cNvSpPr/>
          <p:nvPr/>
        </p:nvSpPr>
        <p:spPr>
          <a:xfrm>
            <a:off x="502920" y="4114800"/>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Vercel + Render deploy</a:t>
            </a:r>
            <a:endParaRPr lang="en-US" sz="820" dirty="0"/>
          </a:p>
        </p:txBody>
      </p:sp>
      <p:sp>
        <p:nvSpPr>
          <p:cNvPr id="33" name="Shape 31"/>
          <p:cNvSpPr/>
          <p:nvPr/>
        </p:nvSpPr>
        <p:spPr>
          <a:xfrm>
            <a:off x="274320" y="4553712"/>
            <a:ext cx="2029968" cy="502920"/>
          </a:xfrm>
          <a:prstGeom prst="roundRect">
            <a:avLst>
              <a:gd name="adj" fmla="val 10909"/>
            </a:avLst>
          </a:prstGeom>
          <a:solidFill>
            <a:srgbClr val="00F5FF">
              <a:alpha val="12000"/>
            </a:srgbClr>
          </a:solidFill>
          <a:ln w="11430">
            <a:solidFill>
              <a:srgbClr val="00F5FF"/>
            </a:solidFill>
            <a:prstDash val="solid"/>
          </a:ln>
        </p:spPr>
      </p:sp>
      <p:sp>
        <p:nvSpPr>
          <p:cNvPr id="34" name="Text 32"/>
          <p:cNvSpPr/>
          <p:nvPr/>
        </p:nvSpPr>
        <p:spPr>
          <a:xfrm>
            <a:off x="274320" y="4553712"/>
            <a:ext cx="2029968" cy="502920"/>
          </a:xfrm>
          <a:prstGeom prst="rect">
            <a:avLst/>
          </a:prstGeom>
          <a:noFill/>
          <a:ln/>
        </p:spPr>
        <p:txBody>
          <a:bodyPr wrap="square" rtlCol="0" anchor="ctr"/>
          <a:lstStyle/>
          <a:p>
            <a:pPr algn="ctr" indent="0" marL="0">
              <a:buNone/>
            </a:pPr>
            <a:r>
              <a:rPr lang="en-US" sz="800" b="1" dirty="0">
                <a:solidFill>
                  <a:srgbClr val="00F5FF"/>
                </a:solidFill>
                <a:latin typeface="Consolas" pitchFamily="34" charset="0"/>
                <a:ea typeface="Consolas" pitchFamily="34" charset="-122"/>
                <a:cs typeface="Consolas" pitchFamily="34" charset="-120"/>
              </a:rPr>
              <a:t>React · FastAPI · Git · Deploy</a:t>
            </a:r>
            <a:endParaRPr lang="en-US" sz="800" dirty="0"/>
          </a:p>
        </p:txBody>
      </p:sp>
      <p:sp>
        <p:nvSpPr>
          <p:cNvPr id="35" name="Shape 33"/>
          <p:cNvSpPr/>
          <p:nvPr/>
        </p:nvSpPr>
        <p:spPr>
          <a:xfrm>
            <a:off x="2441448" y="987552"/>
            <a:ext cx="2121408" cy="4160520"/>
          </a:xfrm>
          <a:prstGeom prst="roundRect">
            <a:avLst>
              <a:gd name="adj" fmla="val 4310"/>
            </a:avLst>
          </a:prstGeom>
          <a:solidFill>
            <a:srgbClr val="112030"/>
          </a:solidFill>
          <a:ln w="16510">
            <a:solidFill>
              <a:srgbClr val="B040FF"/>
            </a:solidFill>
            <a:prstDash val="solid"/>
          </a:ln>
          <a:effectLst>
            <a:outerShdw sx="100000" sy="100000" kx="0" ky="0" algn="bl" rotWithShape="0" blurRad="279400" dist="50800" dir="16200000">
              <a:srgbClr val="B040FF">
                <a:alpha val="30000"/>
              </a:srgbClr>
            </a:outerShdw>
          </a:effectLst>
        </p:spPr>
      </p:sp>
      <p:sp>
        <p:nvSpPr>
          <p:cNvPr id="36" name="Shape 34"/>
          <p:cNvSpPr/>
          <p:nvPr/>
        </p:nvSpPr>
        <p:spPr>
          <a:xfrm>
            <a:off x="2441448" y="987552"/>
            <a:ext cx="2121408" cy="1325880"/>
          </a:xfrm>
          <a:prstGeom prst="roundRect">
            <a:avLst>
              <a:gd name="adj" fmla="val 6897"/>
            </a:avLst>
          </a:prstGeom>
          <a:solidFill>
            <a:srgbClr val="B040FF">
              <a:alpha val="14000"/>
            </a:srgbClr>
          </a:solidFill>
          <a:ln w="12700">
            <a:solidFill>
              <a:srgbClr val="000000"/>
            </a:solidFill>
            <a:prstDash val="solid"/>
          </a:ln>
        </p:spPr>
      </p:sp>
      <p:sp>
        <p:nvSpPr>
          <p:cNvPr id="37" name="Shape 35"/>
          <p:cNvSpPr/>
          <p:nvPr/>
        </p:nvSpPr>
        <p:spPr>
          <a:xfrm>
            <a:off x="2441448" y="1920240"/>
            <a:ext cx="2121408" cy="393192"/>
          </a:xfrm>
          <a:prstGeom prst="rect">
            <a:avLst/>
          </a:prstGeom>
          <a:solidFill>
            <a:srgbClr val="B040FF">
              <a:alpha val="14000"/>
            </a:srgbClr>
          </a:solidFill>
          <a:ln w="12700">
            <a:solidFill>
              <a:srgbClr val="000000"/>
            </a:solidFill>
            <a:prstDash val="solid"/>
          </a:ln>
        </p:spPr>
      </p:sp>
      <p:sp>
        <p:nvSpPr>
          <p:cNvPr id="38" name="Shape 36"/>
          <p:cNvSpPr/>
          <p:nvPr/>
        </p:nvSpPr>
        <p:spPr>
          <a:xfrm>
            <a:off x="2953512" y="1051560"/>
            <a:ext cx="1097280" cy="1097280"/>
          </a:xfrm>
          <a:prstGeom prst="ellipse">
            <a:avLst/>
          </a:prstGeom>
          <a:solidFill>
            <a:srgbClr val="020C18"/>
          </a:solidFill>
          <a:ln w="22860">
            <a:solidFill>
              <a:srgbClr val="B040FF"/>
            </a:solidFill>
            <a:prstDash val="solid"/>
          </a:ln>
          <a:effectLst>
            <a:outerShdw sx="100000" sy="100000" kx="0" ky="0" algn="bl" rotWithShape="0" blurRad="279400" dist="50800" dir="16200000">
              <a:srgbClr val="B040FF">
                <a:alpha val="50000"/>
              </a:srgbClr>
            </a:outerShdw>
          </a:effectLst>
        </p:spPr>
      </p:sp>
      <p:sp>
        <p:nvSpPr>
          <p:cNvPr id="39" name="Text 37"/>
          <p:cNvSpPr/>
          <p:nvPr/>
        </p:nvSpPr>
        <p:spPr>
          <a:xfrm>
            <a:off x="2953512" y="1051560"/>
            <a:ext cx="1097280" cy="1097280"/>
          </a:xfrm>
          <a:prstGeom prst="rect">
            <a:avLst/>
          </a:prstGeom>
          <a:noFill/>
          <a:ln/>
        </p:spPr>
        <p:txBody>
          <a:bodyPr wrap="square" lIns="0" tIns="0" rIns="0" bIns="0" rtlCol="0" anchor="ctr"/>
          <a:lstStyle/>
          <a:p>
            <a:pPr algn="ctr" indent="0" marL="0">
              <a:buNone/>
            </a:pPr>
            <a:r>
              <a:rPr lang="en-US" sz="3800" dirty="0">
                <a:solidFill>
                  <a:srgbClr val="000000"/>
                </a:solidFill>
              </a:rPr>
              <a:t>🧠</a:t>
            </a:r>
            <a:endParaRPr lang="en-US" sz="3800" dirty="0"/>
          </a:p>
        </p:txBody>
      </p:sp>
      <p:sp>
        <p:nvSpPr>
          <p:cNvPr id="40" name="Text 38"/>
          <p:cNvSpPr/>
          <p:nvPr/>
        </p:nvSpPr>
        <p:spPr>
          <a:xfrm>
            <a:off x="2441448" y="2231136"/>
            <a:ext cx="2121408" cy="274320"/>
          </a:xfrm>
          <a:prstGeom prst="rect">
            <a:avLst/>
          </a:prstGeom>
          <a:noFill/>
          <a:ln/>
        </p:spPr>
        <p:txBody>
          <a:bodyPr wrap="square" lIns="0" tIns="0" rIns="0" bIns="0" rtlCol="0" anchor="ctr"/>
          <a:lstStyle/>
          <a:p>
            <a:pPr algn="ctr" indent="0" marL="0">
              <a:buNone/>
            </a:pPr>
            <a:r>
              <a:rPr lang="en-US" sz="1150" b="1" dirty="0">
                <a:solidFill>
                  <a:srgbClr val="B040FF"/>
                </a:solidFill>
                <a:latin typeface="Calibri" pitchFamily="34" charset="0"/>
                <a:ea typeface="Calibri" pitchFamily="34" charset="-122"/>
                <a:cs typeface="Calibri" pitchFamily="34" charset="-120"/>
              </a:rPr>
              <a:t>Anjali Prajapat</a:t>
            </a:r>
            <a:endParaRPr lang="en-US" sz="1150" dirty="0"/>
          </a:p>
        </p:txBody>
      </p:sp>
      <p:sp>
        <p:nvSpPr>
          <p:cNvPr id="41" name="Text 39"/>
          <p:cNvSpPr/>
          <p:nvPr/>
        </p:nvSpPr>
        <p:spPr>
          <a:xfrm>
            <a:off x="2441448" y="2505456"/>
            <a:ext cx="2121408" cy="201168"/>
          </a:xfrm>
          <a:prstGeom prst="rect">
            <a:avLst/>
          </a:prstGeom>
          <a:noFill/>
          <a:ln/>
        </p:spPr>
        <p:txBody>
          <a:bodyPr wrap="square" lIns="0" tIns="0" rIns="0" bIns="0" rtlCol="0" anchor="ctr"/>
          <a:lstStyle/>
          <a:p>
            <a:pPr algn="ctr" indent="0" marL="0">
              <a:buNone/>
            </a:pPr>
            <a:r>
              <a:rPr lang="en-US" sz="880" dirty="0">
                <a:solidFill>
                  <a:srgbClr val="3D6080"/>
                </a:solidFill>
                <a:latin typeface="Consolas" pitchFamily="34" charset="0"/>
                <a:ea typeface="Consolas" pitchFamily="34" charset="-122"/>
                <a:cs typeface="Consolas" pitchFamily="34" charset="-120"/>
              </a:rPr>
              <a:t>AI &amp; Research</a:t>
            </a:r>
            <a:endParaRPr lang="en-US" sz="880" dirty="0"/>
          </a:p>
        </p:txBody>
      </p:sp>
      <p:sp>
        <p:nvSpPr>
          <p:cNvPr id="42" name="Shape 40"/>
          <p:cNvSpPr/>
          <p:nvPr/>
        </p:nvSpPr>
        <p:spPr>
          <a:xfrm>
            <a:off x="2551176" y="2743200"/>
            <a:ext cx="1901952" cy="22860"/>
          </a:xfrm>
          <a:prstGeom prst="rect">
            <a:avLst/>
          </a:prstGeom>
          <a:solidFill>
            <a:srgbClr val="B040FF">
              <a:alpha val="30000"/>
            </a:srgbClr>
          </a:solidFill>
          <a:ln w="12700">
            <a:solidFill>
              <a:srgbClr val="000000"/>
            </a:solidFill>
            <a:prstDash val="solid"/>
          </a:ln>
        </p:spPr>
      </p:sp>
      <p:sp>
        <p:nvSpPr>
          <p:cNvPr id="43" name="Shape 41"/>
          <p:cNvSpPr/>
          <p:nvPr/>
        </p:nvSpPr>
        <p:spPr>
          <a:xfrm>
            <a:off x="2569464" y="2825496"/>
            <a:ext cx="91440" cy="91440"/>
          </a:xfrm>
          <a:prstGeom prst="ellipse">
            <a:avLst/>
          </a:prstGeom>
          <a:solidFill>
            <a:srgbClr val="B040FF"/>
          </a:solidFill>
          <a:ln w="12700">
            <a:solidFill>
              <a:srgbClr val="000000"/>
            </a:solidFill>
            <a:prstDash val="solid"/>
          </a:ln>
        </p:spPr>
      </p:sp>
      <p:sp>
        <p:nvSpPr>
          <p:cNvPr id="44" name="Text 42"/>
          <p:cNvSpPr/>
          <p:nvPr/>
        </p:nvSpPr>
        <p:spPr>
          <a:xfrm>
            <a:off x="2715768" y="2798064"/>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AI automation logic</a:t>
            </a:r>
            <a:endParaRPr lang="en-US" sz="820" dirty="0"/>
          </a:p>
        </p:txBody>
      </p:sp>
      <p:sp>
        <p:nvSpPr>
          <p:cNvPr id="45" name="Shape 43"/>
          <p:cNvSpPr/>
          <p:nvPr/>
        </p:nvSpPr>
        <p:spPr>
          <a:xfrm>
            <a:off x="2569464" y="3154680"/>
            <a:ext cx="91440" cy="91440"/>
          </a:xfrm>
          <a:prstGeom prst="ellipse">
            <a:avLst/>
          </a:prstGeom>
          <a:solidFill>
            <a:srgbClr val="B040FF"/>
          </a:solidFill>
          <a:ln w="12700">
            <a:solidFill>
              <a:srgbClr val="000000"/>
            </a:solidFill>
            <a:prstDash val="solid"/>
          </a:ln>
        </p:spPr>
      </p:sp>
      <p:sp>
        <p:nvSpPr>
          <p:cNvPr id="46" name="Text 44"/>
          <p:cNvSpPr/>
          <p:nvPr/>
        </p:nvSpPr>
        <p:spPr>
          <a:xfrm>
            <a:off x="2715768" y="3127248"/>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Use case + user research</a:t>
            </a:r>
            <a:endParaRPr lang="en-US" sz="820" dirty="0"/>
          </a:p>
        </p:txBody>
      </p:sp>
      <p:sp>
        <p:nvSpPr>
          <p:cNvPr id="47" name="Shape 45"/>
          <p:cNvSpPr/>
          <p:nvPr/>
        </p:nvSpPr>
        <p:spPr>
          <a:xfrm>
            <a:off x="2569464" y="3483864"/>
            <a:ext cx="91440" cy="91440"/>
          </a:xfrm>
          <a:prstGeom prst="ellipse">
            <a:avLst/>
          </a:prstGeom>
          <a:solidFill>
            <a:srgbClr val="B040FF"/>
          </a:solidFill>
          <a:ln w="12700">
            <a:solidFill>
              <a:srgbClr val="000000"/>
            </a:solidFill>
            <a:prstDash val="solid"/>
          </a:ln>
        </p:spPr>
      </p:sp>
      <p:sp>
        <p:nvSpPr>
          <p:cNvPr id="48" name="Text 46"/>
          <p:cNvSpPr/>
          <p:nvPr/>
        </p:nvSpPr>
        <p:spPr>
          <a:xfrm>
            <a:off x="2715768" y="3456432"/>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Corruption detection model</a:t>
            </a:r>
            <a:endParaRPr lang="en-US" sz="820" dirty="0"/>
          </a:p>
        </p:txBody>
      </p:sp>
      <p:sp>
        <p:nvSpPr>
          <p:cNvPr id="49" name="Shape 47"/>
          <p:cNvSpPr/>
          <p:nvPr/>
        </p:nvSpPr>
        <p:spPr>
          <a:xfrm>
            <a:off x="2569464" y="3813048"/>
            <a:ext cx="91440" cy="91440"/>
          </a:xfrm>
          <a:prstGeom prst="ellipse">
            <a:avLst/>
          </a:prstGeom>
          <a:solidFill>
            <a:srgbClr val="B040FF"/>
          </a:solidFill>
          <a:ln w="12700">
            <a:solidFill>
              <a:srgbClr val="000000"/>
            </a:solidFill>
            <a:prstDash val="solid"/>
          </a:ln>
        </p:spPr>
      </p:sp>
      <p:sp>
        <p:nvSpPr>
          <p:cNvPr id="50" name="Text 48"/>
          <p:cNvSpPr/>
          <p:nvPr/>
        </p:nvSpPr>
        <p:spPr>
          <a:xfrm>
            <a:off x="2715768" y="3785616"/>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SLA framework design</a:t>
            </a:r>
            <a:endParaRPr lang="en-US" sz="820" dirty="0"/>
          </a:p>
        </p:txBody>
      </p:sp>
      <p:sp>
        <p:nvSpPr>
          <p:cNvPr id="51" name="Shape 49"/>
          <p:cNvSpPr/>
          <p:nvPr/>
        </p:nvSpPr>
        <p:spPr>
          <a:xfrm>
            <a:off x="2569464" y="4142232"/>
            <a:ext cx="91440" cy="91440"/>
          </a:xfrm>
          <a:prstGeom prst="ellipse">
            <a:avLst/>
          </a:prstGeom>
          <a:solidFill>
            <a:srgbClr val="B040FF"/>
          </a:solidFill>
          <a:ln w="12700">
            <a:solidFill>
              <a:srgbClr val="000000"/>
            </a:solidFill>
            <a:prstDash val="solid"/>
          </a:ln>
        </p:spPr>
      </p:sp>
      <p:sp>
        <p:nvSpPr>
          <p:cNvPr id="52" name="Text 50"/>
          <p:cNvSpPr/>
          <p:nvPr/>
        </p:nvSpPr>
        <p:spPr>
          <a:xfrm>
            <a:off x="2715768" y="4114800"/>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Market research &amp; sizing</a:t>
            </a:r>
            <a:endParaRPr lang="en-US" sz="820" dirty="0"/>
          </a:p>
        </p:txBody>
      </p:sp>
      <p:sp>
        <p:nvSpPr>
          <p:cNvPr id="53" name="Shape 51"/>
          <p:cNvSpPr/>
          <p:nvPr/>
        </p:nvSpPr>
        <p:spPr>
          <a:xfrm>
            <a:off x="2487168" y="4553712"/>
            <a:ext cx="2029968" cy="502920"/>
          </a:xfrm>
          <a:prstGeom prst="roundRect">
            <a:avLst>
              <a:gd name="adj" fmla="val 10909"/>
            </a:avLst>
          </a:prstGeom>
          <a:solidFill>
            <a:srgbClr val="B040FF">
              <a:alpha val="12000"/>
            </a:srgbClr>
          </a:solidFill>
          <a:ln w="11430">
            <a:solidFill>
              <a:srgbClr val="B040FF"/>
            </a:solidFill>
            <a:prstDash val="solid"/>
          </a:ln>
        </p:spPr>
      </p:sp>
      <p:sp>
        <p:nvSpPr>
          <p:cNvPr id="54" name="Text 52"/>
          <p:cNvSpPr/>
          <p:nvPr/>
        </p:nvSpPr>
        <p:spPr>
          <a:xfrm>
            <a:off x="2487168" y="4553712"/>
            <a:ext cx="2029968" cy="502920"/>
          </a:xfrm>
          <a:prstGeom prst="rect">
            <a:avLst/>
          </a:prstGeom>
          <a:noFill/>
          <a:ln/>
        </p:spPr>
        <p:txBody>
          <a:bodyPr wrap="square" rtlCol="0" anchor="ctr"/>
          <a:lstStyle/>
          <a:p>
            <a:pPr algn="ctr" indent="0" marL="0">
              <a:buNone/>
            </a:pPr>
            <a:r>
              <a:rPr lang="en-US" sz="800" b="1" dirty="0">
                <a:solidFill>
                  <a:srgbClr val="B040FF"/>
                </a:solidFill>
                <a:latin typeface="Consolas" pitchFamily="34" charset="0"/>
                <a:ea typeface="Consolas" pitchFamily="34" charset="-122"/>
                <a:cs typeface="Consolas" pitchFamily="34" charset="-120"/>
              </a:rPr>
              <a:t>AI · Research · Strategy</a:t>
            </a:r>
            <a:endParaRPr lang="en-US" sz="800" dirty="0"/>
          </a:p>
        </p:txBody>
      </p:sp>
      <p:sp>
        <p:nvSpPr>
          <p:cNvPr id="55" name="Shape 53"/>
          <p:cNvSpPr/>
          <p:nvPr/>
        </p:nvSpPr>
        <p:spPr>
          <a:xfrm>
            <a:off x="4654296" y="987552"/>
            <a:ext cx="2121408" cy="4160520"/>
          </a:xfrm>
          <a:prstGeom prst="roundRect">
            <a:avLst>
              <a:gd name="adj" fmla="val 4310"/>
            </a:avLst>
          </a:prstGeom>
          <a:solidFill>
            <a:srgbClr val="112030"/>
          </a:solidFill>
          <a:ln w="16510">
            <a:solidFill>
              <a:srgbClr val="00FF88"/>
            </a:solidFill>
            <a:prstDash val="solid"/>
          </a:ln>
          <a:effectLst>
            <a:outerShdw sx="100000" sy="100000" kx="0" ky="0" algn="bl" rotWithShape="0" blurRad="279400" dist="50800" dir="16200000">
              <a:srgbClr val="00FF88">
                <a:alpha val="30000"/>
              </a:srgbClr>
            </a:outerShdw>
          </a:effectLst>
        </p:spPr>
      </p:sp>
      <p:sp>
        <p:nvSpPr>
          <p:cNvPr id="56" name="Shape 54"/>
          <p:cNvSpPr/>
          <p:nvPr/>
        </p:nvSpPr>
        <p:spPr>
          <a:xfrm>
            <a:off x="4654296" y="987552"/>
            <a:ext cx="2121408" cy="1325880"/>
          </a:xfrm>
          <a:prstGeom prst="roundRect">
            <a:avLst>
              <a:gd name="adj" fmla="val 6897"/>
            </a:avLst>
          </a:prstGeom>
          <a:solidFill>
            <a:srgbClr val="00FF88">
              <a:alpha val="14000"/>
            </a:srgbClr>
          </a:solidFill>
          <a:ln w="12700">
            <a:solidFill>
              <a:srgbClr val="000000"/>
            </a:solidFill>
            <a:prstDash val="solid"/>
          </a:ln>
        </p:spPr>
      </p:sp>
      <p:sp>
        <p:nvSpPr>
          <p:cNvPr id="57" name="Shape 55"/>
          <p:cNvSpPr/>
          <p:nvPr/>
        </p:nvSpPr>
        <p:spPr>
          <a:xfrm>
            <a:off x="4654296" y="1920240"/>
            <a:ext cx="2121408" cy="393192"/>
          </a:xfrm>
          <a:prstGeom prst="rect">
            <a:avLst/>
          </a:prstGeom>
          <a:solidFill>
            <a:srgbClr val="00FF88">
              <a:alpha val="14000"/>
            </a:srgbClr>
          </a:solidFill>
          <a:ln w="12700">
            <a:solidFill>
              <a:srgbClr val="000000"/>
            </a:solidFill>
            <a:prstDash val="solid"/>
          </a:ln>
        </p:spPr>
      </p:sp>
      <p:sp>
        <p:nvSpPr>
          <p:cNvPr id="58" name="Shape 56"/>
          <p:cNvSpPr/>
          <p:nvPr/>
        </p:nvSpPr>
        <p:spPr>
          <a:xfrm>
            <a:off x="5166360" y="1051560"/>
            <a:ext cx="1097280" cy="1097280"/>
          </a:xfrm>
          <a:prstGeom prst="ellipse">
            <a:avLst/>
          </a:prstGeom>
          <a:solidFill>
            <a:srgbClr val="020C18"/>
          </a:solidFill>
          <a:ln w="22860">
            <a:solidFill>
              <a:srgbClr val="00FF88"/>
            </a:solidFill>
            <a:prstDash val="solid"/>
          </a:ln>
          <a:effectLst>
            <a:outerShdw sx="100000" sy="100000" kx="0" ky="0" algn="bl" rotWithShape="0" blurRad="279400" dist="50800" dir="16200000">
              <a:srgbClr val="00FF88">
                <a:alpha val="50000"/>
              </a:srgbClr>
            </a:outerShdw>
          </a:effectLst>
        </p:spPr>
      </p:sp>
      <p:sp>
        <p:nvSpPr>
          <p:cNvPr id="59" name="Text 57"/>
          <p:cNvSpPr/>
          <p:nvPr/>
        </p:nvSpPr>
        <p:spPr>
          <a:xfrm>
            <a:off x="5166360" y="1051560"/>
            <a:ext cx="1097280" cy="1097280"/>
          </a:xfrm>
          <a:prstGeom prst="rect">
            <a:avLst/>
          </a:prstGeom>
          <a:noFill/>
          <a:ln/>
        </p:spPr>
        <p:txBody>
          <a:bodyPr wrap="square" lIns="0" tIns="0" rIns="0" bIns="0" rtlCol="0" anchor="ctr"/>
          <a:lstStyle/>
          <a:p>
            <a:pPr algn="ctr" indent="0" marL="0">
              <a:buNone/>
            </a:pPr>
            <a:r>
              <a:rPr lang="en-US" sz="3800" dirty="0">
                <a:solidFill>
                  <a:srgbClr val="000000"/>
                </a:solidFill>
              </a:rPr>
              <a:t>🎨</a:t>
            </a:r>
            <a:endParaRPr lang="en-US" sz="3800" dirty="0"/>
          </a:p>
        </p:txBody>
      </p:sp>
      <p:sp>
        <p:nvSpPr>
          <p:cNvPr id="60" name="Text 58"/>
          <p:cNvSpPr/>
          <p:nvPr/>
        </p:nvSpPr>
        <p:spPr>
          <a:xfrm>
            <a:off x="4654296" y="2231136"/>
            <a:ext cx="2121408" cy="274320"/>
          </a:xfrm>
          <a:prstGeom prst="rect">
            <a:avLst/>
          </a:prstGeom>
          <a:noFill/>
          <a:ln/>
        </p:spPr>
        <p:txBody>
          <a:bodyPr wrap="square" lIns="0" tIns="0" rIns="0" bIns="0" rtlCol="0" anchor="ctr"/>
          <a:lstStyle/>
          <a:p>
            <a:pPr algn="ctr" indent="0" marL="0">
              <a:buNone/>
            </a:pPr>
            <a:r>
              <a:rPr lang="en-US" sz="1150" b="1" dirty="0">
                <a:solidFill>
                  <a:srgbClr val="00FF88"/>
                </a:solidFill>
                <a:latin typeface="Calibri" pitchFamily="34" charset="0"/>
                <a:ea typeface="Calibri" pitchFamily="34" charset="-122"/>
                <a:cs typeface="Calibri" pitchFamily="34" charset="-120"/>
              </a:rPr>
              <a:t>Ritik Joshi</a:t>
            </a:r>
            <a:endParaRPr lang="en-US" sz="1150" dirty="0"/>
          </a:p>
        </p:txBody>
      </p:sp>
      <p:sp>
        <p:nvSpPr>
          <p:cNvPr id="61" name="Text 59"/>
          <p:cNvSpPr/>
          <p:nvPr/>
        </p:nvSpPr>
        <p:spPr>
          <a:xfrm>
            <a:off x="4654296" y="2505456"/>
            <a:ext cx="2121408" cy="201168"/>
          </a:xfrm>
          <a:prstGeom prst="rect">
            <a:avLst/>
          </a:prstGeom>
          <a:noFill/>
          <a:ln/>
        </p:spPr>
        <p:txBody>
          <a:bodyPr wrap="square" lIns="0" tIns="0" rIns="0" bIns="0" rtlCol="0" anchor="ctr"/>
          <a:lstStyle/>
          <a:p>
            <a:pPr algn="ctr" indent="0" marL="0">
              <a:buNone/>
            </a:pPr>
            <a:r>
              <a:rPr lang="en-US" sz="880" dirty="0">
                <a:solidFill>
                  <a:srgbClr val="3D6080"/>
                </a:solidFill>
                <a:latin typeface="Consolas" pitchFamily="34" charset="0"/>
                <a:ea typeface="Consolas" pitchFamily="34" charset="-122"/>
                <a:cs typeface="Consolas" pitchFamily="34" charset="-120"/>
              </a:rPr>
              <a:t>UI/UX Designer</a:t>
            </a:r>
            <a:endParaRPr lang="en-US" sz="880" dirty="0"/>
          </a:p>
        </p:txBody>
      </p:sp>
      <p:sp>
        <p:nvSpPr>
          <p:cNvPr id="62" name="Shape 60"/>
          <p:cNvSpPr/>
          <p:nvPr/>
        </p:nvSpPr>
        <p:spPr>
          <a:xfrm>
            <a:off x="4764024" y="2743200"/>
            <a:ext cx="1901952" cy="22860"/>
          </a:xfrm>
          <a:prstGeom prst="rect">
            <a:avLst/>
          </a:prstGeom>
          <a:solidFill>
            <a:srgbClr val="00FF88">
              <a:alpha val="30000"/>
            </a:srgbClr>
          </a:solidFill>
          <a:ln w="12700">
            <a:solidFill>
              <a:srgbClr val="000000"/>
            </a:solidFill>
            <a:prstDash val="solid"/>
          </a:ln>
        </p:spPr>
      </p:sp>
      <p:sp>
        <p:nvSpPr>
          <p:cNvPr id="63" name="Shape 61"/>
          <p:cNvSpPr/>
          <p:nvPr/>
        </p:nvSpPr>
        <p:spPr>
          <a:xfrm>
            <a:off x="4782312" y="2825496"/>
            <a:ext cx="91440" cy="91440"/>
          </a:xfrm>
          <a:prstGeom prst="ellipse">
            <a:avLst/>
          </a:prstGeom>
          <a:solidFill>
            <a:srgbClr val="00FF88"/>
          </a:solidFill>
          <a:ln w="12700">
            <a:solidFill>
              <a:srgbClr val="000000"/>
            </a:solidFill>
            <a:prstDash val="solid"/>
          </a:ln>
        </p:spPr>
      </p:sp>
      <p:sp>
        <p:nvSpPr>
          <p:cNvPr id="64" name="Text 62"/>
          <p:cNvSpPr/>
          <p:nvPr/>
        </p:nvSpPr>
        <p:spPr>
          <a:xfrm>
            <a:off x="4928616" y="2798064"/>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Holographic design system</a:t>
            </a:r>
            <a:endParaRPr lang="en-US" sz="820" dirty="0"/>
          </a:p>
        </p:txBody>
      </p:sp>
      <p:sp>
        <p:nvSpPr>
          <p:cNvPr id="65" name="Shape 63"/>
          <p:cNvSpPr/>
          <p:nvPr/>
        </p:nvSpPr>
        <p:spPr>
          <a:xfrm>
            <a:off x="4782312" y="3154680"/>
            <a:ext cx="91440" cy="91440"/>
          </a:xfrm>
          <a:prstGeom prst="ellipse">
            <a:avLst/>
          </a:prstGeom>
          <a:solidFill>
            <a:srgbClr val="00FF88"/>
          </a:solidFill>
          <a:ln w="12700">
            <a:solidFill>
              <a:srgbClr val="000000"/>
            </a:solidFill>
            <a:prstDash val="solid"/>
          </a:ln>
        </p:spPr>
      </p:sp>
      <p:sp>
        <p:nvSpPr>
          <p:cNvPr id="66" name="Text 64"/>
          <p:cNvSpPr/>
          <p:nvPr/>
        </p:nvSpPr>
        <p:spPr>
          <a:xfrm>
            <a:off x="4928616" y="3127248"/>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Color + font selection</a:t>
            </a:r>
            <a:endParaRPr lang="en-US" sz="820" dirty="0"/>
          </a:p>
        </p:txBody>
      </p:sp>
      <p:sp>
        <p:nvSpPr>
          <p:cNvPr id="67" name="Shape 65"/>
          <p:cNvSpPr/>
          <p:nvPr/>
        </p:nvSpPr>
        <p:spPr>
          <a:xfrm>
            <a:off x="4782312" y="3483864"/>
            <a:ext cx="91440" cy="91440"/>
          </a:xfrm>
          <a:prstGeom prst="ellipse">
            <a:avLst/>
          </a:prstGeom>
          <a:solidFill>
            <a:srgbClr val="00FF88"/>
          </a:solidFill>
          <a:ln w="12700">
            <a:solidFill>
              <a:srgbClr val="000000"/>
            </a:solidFill>
            <a:prstDash val="solid"/>
          </a:ln>
        </p:spPr>
      </p:sp>
      <p:sp>
        <p:nvSpPr>
          <p:cNvPr id="68" name="Text 66"/>
          <p:cNvSpPr/>
          <p:nvPr/>
        </p:nvSpPr>
        <p:spPr>
          <a:xfrm>
            <a:off x="4928616" y="3456432"/>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User flow wireframes</a:t>
            </a:r>
            <a:endParaRPr lang="en-US" sz="820" dirty="0"/>
          </a:p>
        </p:txBody>
      </p:sp>
      <p:sp>
        <p:nvSpPr>
          <p:cNvPr id="69" name="Shape 67"/>
          <p:cNvSpPr/>
          <p:nvPr/>
        </p:nvSpPr>
        <p:spPr>
          <a:xfrm>
            <a:off x="4782312" y="3813048"/>
            <a:ext cx="91440" cy="91440"/>
          </a:xfrm>
          <a:prstGeom prst="ellipse">
            <a:avLst/>
          </a:prstGeom>
          <a:solidFill>
            <a:srgbClr val="00FF88"/>
          </a:solidFill>
          <a:ln w="12700">
            <a:solidFill>
              <a:srgbClr val="000000"/>
            </a:solidFill>
            <a:prstDash val="solid"/>
          </a:ln>
        </p:spPr>
      </p:sp>
      <p:sp>
        <p:nvSpPr>
          <p:cNvPr id="70" name="Text 68"/>
          <p:cNvSpPr/>
          <p:nvPr/>
        </p:nvSpPr>
        <p:spPr>
          <a:xfrm>
            <a:off x="4928616" y="3785616"/>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Accessibility review</a:t>
            </a:r>
            <a:endParaRPr lang="en-US" sz="820" dirty="0"/>
          </a:p>
        </p:txBody>
      </p:sp>
      <p:sp>
        <p:nvSpPr>
          <p:cNvPr id="71" name="Shape 69"/>
          <p:cNvSpPr/>
          <p:nvPr/>
        </p:nvSpPr>
        <p:spPr>
          <a:xfrm>
            <a:off x="4782312" y="4142232"/>
            <a:ext cx="91440" cy="91440"/>
          </a:xfrm>
          <a:prstGeom prst="ellipse">
            <a:avLst/>
          </a:prstGeom>
          <a:solidFill>
            <a:srgbClr val="00FF88"/>
          </a:solidFill>
          <a:ln w="12700">
            <a:solidFill>
              <a:srgbClr val="000000"/>
            </a:solidFill>
            <a:prstDash val="solid"/>
          </a:ln>
        </p:spPr>
      </p:sp>
      <p:sp>
        <p:nvSpPr>
          <p:cNvPr id="72" name="Text 70"/>
          <p:cNvSpPr/>
          <p:nvPr/>
        </p:nvSpPr>
        <p:spPr>
          <a:xfrm>
            <a:off x="4928616" y="4114800"/>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Animation &amp; motion design</a:t>
            </a:r>
            <a:endParaRPr lang="en-US" sz="820" dirty="0"/>
          </a:p>
        </p:txBody>
      </p:sp>
      <p:sp>
        <p:nvSpPr>
          <p:cNvPr id="73" name="Shape 71"/>
          <p:cNvSpPr/>
          <p:nvPr/>
        </p:nvSpPr>
        <p:spPr>
          <a:xfrm>
            <a:off x="4700016" y="4553712"/>
            <a:ext cx="2029968" cy="502920"/>
          </a:xfrm>
          <a:prstGeom prst="roundRect">
            <a:avLst>
              <a:gd name="adj" fmla="val 10909"/>
            </a:avLst>
          </a:prstGeom>
          <a:solidFill>
            <a:srgbClr val="00FF88">
              <a:alpha val="12000"/>
            </a:srgbClr>
          </a:solidFill>
          <a:ln w="11430">
            <a:solidFill>
              <a:srgbClr val="00FF88"/>
            </a:solidFill>
            <a:prstDash val="solid"/>
          </a:ln>
        </p:spPr>
      </p:sp>
      <p:sp>
        <p:nvSpPr>
          <p:cNvPr id="74" name="Text 72"/>
          <p:cNvSpPr/>
          <p:nvPr/>
        </p:nvSpPr>
        <p:spPr>
          <a:xfrm>
            <a:off x="4700016" y="4553712"/>
            <a:ext cx="2029968" cy="502920"/>
          </a:xfrm>
          <a:prstGeom prst="rect">
            <a:avLst/>
          </a:prstGeom>
          <a:noFill/>
          <a:ln/>
        </p:spPr>
        <p:txBody>
          <a:bodyPr wrap="square" rtlCol="0" anchor="ctr"/>
          <a:lstStyle/>
          <a:p>
            <a:pPr algn="ctr" indent="0" marL="0">
              <a:buNone/>
            </a:pPr>
            <a:r>
              <a:rPr lang="en-US" sz="800" b="1" dirty="0">
                <a:solidFill>
                  <a:srgbClr val="00FF88"/>
                </a:solidFill>
                <a:latin typeface="Consolas" pitchFamily="34" charset="0"/>
                <a:ea typeface="Consolas" pitchFamily="34" charset="-122"/>
                <a:cs typeface="Consolas" pitchFamily="34" charset="-120"/>
              </a:rPr>
              <a:t>Figma · CSS · UX · Visual</a:t>
            </a:r>
            <a:endParaRPr lang="en-US" sz="800" dirty="0"/>
          </a:p>
        </p:txBody>
      </p:sp>
      <p:sp>
        <p:nvSpPr>
          <p:cNvPr id="75" name="Shape 73"/>
          <p:cNvSpPr/>
          <p:nvPr/>
        </p:nvSpPr>
        <p:spPr>
          <a:xfrm>
            <a:off x="6867144" y="987552"/>
            <a:ext cx="2121408" cy="4160520"/>
          </a:xfrm>
          <a:prstGeom prst="roundRect">
            <a:avLst>
              <a:gd name="adj" fmla="val 4310"/>
            </a:avLst>
          </a:prstGeom>
          <a:solidFill>
            <a:srgbClr val="112030"/>
          </a:solidFill>
          <a:ln w="16510">
            <a:solidFill>
              <a:srgbClr val="FFCC00"/>
            </a:solidFill>
            <a:prstDash val="solid"/>
          </a:ln>
          <a:effectLst>
            <a:outerShdw sx="100000" sy="100000" kx="0" ky="0" algn="bl" rotWithShape="0" blurRad="279400" dist="50800" dir="16200000">
              <a:srgbClr val="FFCC00">
                <a:alpha val="30000"/>
              </a:srgbClr>
            </a:outerShdw>
          </a:effectLst>
        </p:spPr>
      </p:sp>
      <p:sp>
        <p:nvSpPr>
          <p:cNvPr id="76" name="Shape 74"/>
          <p:cNvSpPr/>
          <p:nvPr/>
        </p:nvSpPr>
        <p:spPr>
          <a:xfrm>
            <a:off x="6867144" y="987552"/>
            <a:ext cx="2121408" cy="1325880"/>
          </a:xfrm>
          <a:prstGeom prst="roundRect">
            <a:avLst>
              <a:gd name="adj" fmla="val 6897"/>
            </a:avLst>
          </a:prstGeom>
          <a:solidFill>
            <a:srgbClr val="FFCC00">
              <a:alpha val="14000"/>
            </a:srgbClr>
          </a:solidFill>
          <a:ln w="12700">
            <a:solidFill>
              <a:srgbClr val="000000"/>
            </a:solidFill>
            <a:prstDash val="solid"/>
          </a:ln>
        </p:spPr>
      </p:sp>
      <p:sp>
        <p:nvSpPr>
          <p:cNvPr id="77" name="Shape 75"/>
          <p:cNvSpPr/>
          <p:nvPr/>
        </p:nvSpPr>
        <p:spPr>
          <a:xfrm>
            <a:off x="6867144" y="1920240"/>
            <a:ext cx="2121408" cy="393192"/>
          </a:xfrm>
          <a:prstGeom prst="rect">
            <a:avLst/>
          </a:prstGeom>
          <a:solidFill>
            <a:srgbClr val="FFCC00">
              <a:alpha val="14000"/>
            </a:srgbClr>
          </a:solidFill>
          <a:ln w="12700">
            <a:solidFill>
              <a:srgbClr val="000000"/>
            </a:solidFill>
            <a:prstDash val="solid"/>
          </a:ln>
        </p:spPr>
      </p:sp>
      <p:sp>
        <p:nvSpPr>
          <p:cNvPr id="78" name="Shape 76"/>
          <p:cNvSpPr/>
          <p:nvPr/>
        </p:nvSpPr>
        <p:spPr>
          <a:xfrm>
            <a:off x="7379208" y="1051560"/>
            <a:ext cx="1097280" cy="1097280"/>
          </a:xfrm>
          <a:prstGeom prst="ellipse">
            <a:avLst/>
          </a:prstGeom>
          <a:solidFill>
            <a:srgbClr val="020C18"/>
          </a:solidFill>
          <a:ln w="22860">
            <a:solidFill>
              <a:srgbClr val="FFCC00"/>
            </a:solidFill>
            <a:prstDash val="solid"/>
          </a:ln>
          <a:effectLst>
            <a:outerShdw sx="100000" sy="100000" kx="0" ky="0" algn="bl" rotWithShape="0" blurRad="279400" dist="50800" dir="16200000">
              <a:srgbClr val="FFCC00">
                <a:alpha val="50000"/>
              </a:srgbClr>
            </a:outerShdw>
          </a:effectLst>
        </p:spPr>
      </p:sp>
      <p:sp>
        <p:nvSpPr>
          <p:cNvPr id="79" name="Text 77"/>
          <p:cNvSpPr/>
          <p:nvPr/>
        </p:nvSpPr>
        <p:spPr>
          <a:xfrm>
            <a:off x="7379208" y="1051560"/>
            <a:ext cx="1097280" cy="1097280"/>
          </a:xfrm>
          <a:prstGeom prst="rect">
            <a:avLst/>
          </a:prstGeom>
          <a:noFill/>
          <a:ln/>
        </p:spPr>
        <p:txBody>
          <a:bodyPr wrap="square" lIns="0" tIns="0" rIns="0" bIns="0" rtlCol="0" anchor="ctr"/>
          <a:lstStyle/>
          <a:p>
            <a:pPr algn="ctr" indent="0" marL="0">
              <a:buNone/>
            </a:pPr>
            <a:r>
              <a:rPr lang="en-US" sz="3800" dirty="0">
                <a:solidFill>
                  <a:srgbClr val="000000"/>
                </a:solidFill>
              </a:rPr>
              <a:t>📊</a:t>
            </a:r>
            <a:endParaRPr lang="en-US" sz="3800" dirty="0"/>
          </a:p>
        </p:txBody>
      </p:sp>
      <p:sp>
        <p:nvSpPr>
          <p:cNvPr id="80" name="Text 78"/>
          <p:cNvSpPr/>
          <p:nvPr/>
        </p:nvSpPr>
        <p:spPr>
          <a:xfrm>
            <a:off x="6867144" y="2231136"/>
            <a:ext cx="2121408" cy="274320"/>
          </a:xfrm>
          <a:prstGeom prst="rect">
            <a:avLst/>
          </a:prstGeom>
          <a:noFill/>
          <a:ln/>
        </p:spPr>
        <p:txBody>
          <a:bodyPr wrap="square" lIns="0" tIns="0" rIns="0" bIns="0" rtlCol="0" anchor="ctr"/>
          <a:lstStyle/>
          <a:p>
            <a:pPr algn="ctr" indent="0" marL="0">
              <a:buNone/>
            </a:pPr>
            <a:r>
              <a:rPr lang="en-US" sz="1150" b="1" dirty="0">
                <a:solidFill>
                  <a:srgbClr val="FFCC00"/>
                </a:solidFill>
                <a:latin typeface="Calibri" pitchFamily="34" charset="0"/>
                <a:ea typeface="Calibri" pitchFamily="34" charset="-122"/>
                <a:cs typeface="Calibri" pitchFamily="34" charset="-120"/>
              </a:rPr>
              <a:t>Sandeep Chauhan</a:t>
            </a:r>
            <a:endParaRPr lang="en-US" sz="1150" dirty="0"/>
          </a:p>
        </p:txBody>
      </p:sp>
      <p:sp>
        <p:nvSpPr>
          <p:cNvPr id="81" name="Text 79"/>
          <p:cNvSpPr/>
          <p:nvPr/>
        </p:nvSpPr>
        <p:spPr>
          <a:xfrm>
            <a:off x="6867144" y="2505456"/>
            <a:ext cx="2121408" cy="201168"/>
          </a:xfrm>
          <a:prstGeom prst="rect">
            <a:avLst/>
          </a:prstGeom>
          <a:noFill/>
          <a:ln/>
        </p:spPr>
        <p:txBody>
          <a:bodyPr wrap="square" lIns="0" tIns="0" rIns="0" bIns="0" rtlCol="0" anchor="ctr"/>
          <a:lstStyle/>
          <a:p>
            <a:pPr algn="ctr" indent="0" marL="0">
              <a:buNone/>
            </a:pPr>
            <a:r>
              <a:rPr lang="en-US" sz="880" dirty="0">
                <a:solidFill>
                  <a:srgbClr val="3D6080"/>
                </a:solidFill>
                <a:latin typeface="Consolas" pitchFamily="34" charset="0"/>
                <a:ea typeface="Consolas" pitchFamily="34" charset="-122"/>
                <a:cs typeface="Consolas" pitchFamily="34" charset="-120"/>
              </a:rPr>
              <a:t>Business &amp; Pitch</a:t>
            </a:r>
            <a:endParaRPr lang="en-US" sz="880" dirty="0"/>
          </a:p>
        </p:txBody>
      </p:sp>
      <p:sp>
        <p:nvSpPr>
          <p:cNvPr id="82" name="Shape 80"/>
          <p:cNvSpPr/>
          <p:nvPr/>
        </p:nvSpPr>
        <p:spPr>
          <a:xfrm>
            <a:off x="6976872" y="2743200"/>
            <a:ext cx="1901952" cy="22860"/>
          </a:xfrm>
          <a:prstGeom prst="rect">
            <a:avLst/>
          </a:prstGeom>
          <a:solidFill>
            <a:srgbClr val="FFCC00">
              <a:alpha val="30000"/>
            </a:srgbClr>
          </a:solidFill>
          <a:ln w="12700">
            <a:solidFill>
              <a:srgbClr val="000000"/>
            </a:solidFill>
            <a:prstDash val="solid"/>
          </a:ln>
        </p:spPr>
      </p:sp>
      <p:sp>
        <p:nvSpPr>
          <p:cNvPr id="83" name="Shape 81"/>
          <p:cNvSpPr/>
          <p:nvPr/>
        </p:nvSpPr>
        <p:spPr>
          <a:xfrm>
            <a:off x="6995160" y="2825496"/>
            <a:ext cx="91440" cy="91440"/>
          </a:xfrm>
          <a:prstGeom prst="ellipse">
            <a:avLst/>
          </a:prstGeom>
          <a:solidFill>
            <a:srgbClr val="FFCC00"/>
          </a:solidFill>
          <a:ln w="12700">
            <a:solidFill>
              <a:srgbClr val="000000"/>
            </a:solidFill>
            <a:prstDash val="solid"/>
          </a:ln>
        </p:spPr>
      </p:sp>
      <p:sp>
        <p:nvSpPr>
          <p:cNvPr id="84" name="Text 82"/>
          <p:cNvSpPr/>
          <p:nvPr/>
        </p:nvSpPr>
        <p:spPr>
          <a:xfrm>
            <a:off x="7141464" y="2798064"/>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Revenue model design</a:t>
            </a:r>
            <a:endParaRPr lang="en-US" sz="820" dirty="0"/>
          </a:p>
        </p:txBody>
      </p:sp>
      <p:sp>
        <p:nvSpPr>
          <p:cNvPr id="85" name="Shape 83"/>
          <p:cNvSpPr/>
          <p:nvPr/>
        </p:nvSpPr>
        <p:spPr>
          <a:xfrm>
            <a:off x="6995160" y="3154680"/>
            <a:ext cx="91440" cy="91440"/>
          </a:xfrm>
          <a:prstGeom prst="ellipse">
            <a:avLst/>
          </a:prstGeom>
          <a:solidFill>
            <a:srgbClr val="FFCC00"/>
          </a:solidFill>
          <a:ln w="12700">
            <a:solidFill>
              <a:srgbClr val="000000"/>
            </a:solidFill>
            <a:prstDash val="solid"/>
          </a:ln>
        </p:spPr>
      </p:sp>
      <p:sp>
        <p:nvSpPr>
          <p:cNvPr id="86" name="Text 84"/>
          <p:cNvSpPr/>
          <p:nvPr/>
        </p:nvSpPr>
        <p:spPr>
          <a:xfrm>
            <a:off x="7141464" y="3127248"/>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Competitive analysis</a:t>
            </a:r>
            <a:endParaRPr lang="en-US" sz="820" dirty="0"/>
          </a:p>
        </p:txBody>
      </p:sp>
      <p:sp>
        <p:nvSpPr>
          <p:cNvPr id="87" name="Shape 85"/>
          <p:cNvSpPr/>
          <p:nvPr/>
        </p:nvSpPr>
        <p:spPr>
          <a:xfrm>
            <a:off x="6995160" y="3483864"/>
            <a:ext cx="91440" cy="91440"/>
          </a:xfrm>
          <a:prstGeom prst="ellipse">
            <a:avLst/>
          </a:prstGeom>
          <a:solidFill>
            <a:srgbClr val="FFCC00"/>
          </a:solidFill>
          <a:ln w="12700">
            <a:solidFill>
              <a:srgbClr val="000000"/>
            </a:solidFill>
            <a:prstDash val="solid"/>
          </a:ln>
        </p:spPr>
      </p:sp>
      <p:sp>
        <p:nvSpPr>
          <p:cNvPr id="88" name="Text 86"/>
          <p:cNvSpPr/>
          <p:nvPr/>
        </p:nvSpPr>
        <p:spPr>
          <a:xfrm>
            <a:off x="7141464" y="3456432"/>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This presentation</a:t>
            </a:r>
            <a:endParaRPr lang="en-US" sz="820" dirty="0"/>
          </a:p>
        </p:txBody>
      </p:sp>
      <p:sp>
        <p:nvSpPr>
          <p:cNvPr id="89" name="Shape 87"/>
          <p:cNvSpPr/>
          <p:nvPr/>
        </p:nvSpPr>
        <p:spPr>
          <a:xfrm>
            <a:off x="6995160" y="3813048"/>
            <a:ext cx="91440" cy="91440"/>
          </a:xfrm>
          <a:prstGeom prst="ellipse">
            <a:avLst/>
          </a:prstGeom>
          <a:solidFill>
            <a:srgbClr val="FFCC00"/>
          </a:solidFill>
          <a:ln w="12700">
            <a:solidFill>
              <a:srgbClr val="000000"/>
            </a:solidFill>
            <a:prstDash val="solid"/>
          </a:ln>
        </p:spPr>
      </p:sp>
      <p:sp>
        <p:nvSpPr>
          <p:cNvPr id="90" name="Text 88"/>
          <p:cNvSpPr/>
          <p:nvPr/>
        </p:nvSpPr>
        <p:spPr>
          <a:xfrm>
            <a:off x="7141464" y="3785616"/>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Market opportunity sizing</a:t>
            </a:r>
            <a:endParaRPr lang="en-US" sz="820" dirty="0"/>
          </a:p>
        </p:txBody>
      </p:sp>
      <p:sp>
        <p:nvSpPr>
          <p:cNvPr id="91" name="Shape 89"/>
          <p:cNvSpPr/>
          <p:nvPr/>
        </p:nvSpPr>
        <p:spPr>
          <a:xfrm>
            <a:off x="6995160" y="4142232"/>
            <a:ext cx="91440" cy="91440"/>
          </a:xfrm>
          <a:prstGeom prst="ellipse">
            <a:avLst/>
          </a:prstGeom>
          <a:solidFill>
            <a:srgbClr val="FFCC00"/>
          </a:solidFill>
          <a:ln w="12700">
            <a:solidFill>
              <a:srgbClr val="000000"/>
            </a:solidFill>
            <a:prstDash val="solid"/>
          </a:ln>
        </p:spPr>
      </p:sp>
      <p:sp>
        <p:nvSpPr>
          <p:cNvPr id="92" name="Text 90"/>
          <p:cNvSpPr/>
          <p:nvPr/>
        </p:nvSpPr>
        <p:spPr>
          <a:xfrm>
            <a:off x="7141464" y="4114800"/>
            <a:ext cx="1773936" cy="274320"/>
          </a:xfrm>
          <a:prstGeom prst="rect">
            <a:avLst/>
          </a:prstGeom>
          <a:noFill/>
          <a:ln/>
        </p:spPr>
        <p:txBody>
          <a:bodyPr wrap="square" lIns="0" tIns="0" rIns="0" bIns="0" rtlCol="0" anchor="ctr"/>
          <a:lstStyle/>
          <a:p>
            <a:pPr indent="0" marL="0">
              <a:buNone/>
            </a:pPr>
            <a:r>
              <a:rPr lang="en-US" sz="820" dirty="0">
                <a:solidFill>
                  <a:srgbClr val="3D6080"/>
                </a:solidFill>
                <a:latin typeface="Calibri" pitchFamily="34" charset="0"/>
                <a:ea typeface="Calibri" pitchFamily="34" charset="-122"/>
                <a:cs typeface="Calibri" pitchFamily="34" charset="-120"/>
              </a:rPr>
              <a:t>Pitch script + demo prep</a:t>
            </a:r>
            <a:endParaRPr lang="en-US" sz="820" dirty="0"/>
          </a:p>
        </p:txBody>
      </p:sp>
      <p:sp>
        <p:nvSpPr>
          <p:cNvPr id="93" name="Shape 91"/>
          <p:cNvSpPr/>
          <p:nvPr/>
        </p:nvSpPr>
        <p:spPr>
          <a:xfrm>
            <a:off x="6912864" y="4553712"/>
            <a:ext cx="2029968" cy="502920"/>
          </a:xfrm>
          <a:prstGeom prst="roundRect">
            <a:avLst>
              <a:gd name="adj" fmla="val 10909"/>
            </a:avLst>
          </a:prstGeom>
          <a:solidFill>
            <a:srgbClr val="FFCC00">
              <a:alpha val="12000"/>
            </a:srgbClr>
          </a:solidFill>
          <a:ln w="11430">
            <a:solidFill>
              <a:srgbClr val="FFCC00"/>
            </a:solidFill>
            <a:prstDash val="solid"/>
          </a:ln>
        </p:spPr>
      </p:sp>
      <p:sp>
        <p:nvSpPr>
          <p:cNvPr id="94" name="Text 92"/>
          <p:cNvSpPr/>
          <p:nvPr/>
        </p:nvSpPr>
        <p:spPr>
          <a:xfrm>
            <a:off x="6912864" y="4553712"/>
            <a:ext cx="2029968" cy="502920"/>
          </a:xfrm>
          <a:prstGeom prst="rect">
            <a:avLst/>
          </a:prstGeom>
          <a:noFill/>
          <a:ln/>
        </p:spPr>
        <p:txBody>
          <a:bodyPr wrap="square" rtlCol="0" anchor="ctr"/>
          <a:lstStyle/>
          <a:p>
            <a:pPr algn="ctr" indent="0" marL="0">
              <a:buNone/>
            </a:pPr>
            <a:r>
              <a:rPr lang="en-US" sz="800" b="1" dirty="0">
                <a:solidFill>
                  <a:srgbClr val="FFCC00"/>
                </a:solidFill>
                <a:latin typeface="Consolas" pitchFamily="34" charset="0"/>
                <a:ea typeface="Consolas" pitchFamily="34" charset="-122"/>
                <a:cs typeface="Consolas" pitchFamily="34" charset="-120"/>
              </a:rPr>
              <a:t>Business · Excel · Pitch</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20C18"/>
        </a:solidFill>
      </p:bgPr>
    </p:bg>
    <p:spTree>
      <p:nvGrpSpPr>
        <p:cNvPr id="1" name=""/>
        <p:cNvGrpSpPr/>
        <p:nvPr/>
      </p:nvGrpSpPr>
      <p:grpSpPr>
        <a:xfrm>
          <a:off x="0" y="0"/>
          <a:ext cx="0" cy="0"/>
          <a:chOff x="0" y="0"/>
          <a:chExt cx="0" cy="0"/>
        </a:xfrm>
      </p:grpSpPr>
      <p:sp>
        <p:nvSpPr>
          <p:cNvPr id="2" name="Shape 0"/>
          <p:cNvSpPr/>
          <p:nvPr/>
        </p:nvSpPr>
        <p:spPr>
          <a:xfrm>
            <a:off x="-1828800" y="-914400"/>
            <a:ext cx="6400800" cy="5486400"/>
          </a:xfrm>
          <a:prstGeom prst="ellipse">
            <a:avLst/>
          </a:prstGeom>
          <a:solidFill>
            <a:srgbClr val="B040FF">
              <a:alpha val="4000"/>
            </a:srgbClr>
          </a:solidFill>
          <a:ln w="12700">
            <a:solidFill>
              <a:srgbClr val="000000"/>
            </a:solidFill>
            <a:prstDash val="solid"/>
          </a:ln>
        </p:spPr>
      </p:sp>
      <p:sp>
        <p:nvSpPr>
          <p:cNvPr id="3" name="Shape 1"/>
          <p:cNvSpPr/>
          <p:nvPr/>
        </p:nvSpPr>
        <p:spPr>
          <a:xfrm>
            <a:off x="5943600" y="2743200"/>
            <a:ext cx="5486400" cy="4572000"/>
          </a:xfrm>
          <a:prstGeom prst="ellipse">
            <a:avLst/>
          </a:prstGeom>
          <a:solidFill>
            <a:srgbClr val="00F5FF">
              <a:alpha val="4000"/>
            </a:srgbClr>
          </a:solidFill>
          <a:ln w="12700">
            <a:solidFill>
              <a:srgbClr val="000000"/>
            </a:solidFill>
            <a:prstDash val="solid"/>
          </a:ln>
        </p:spPr>
      </p:sp>
      <p:sp>
        <p:nvSpPr>
          <p:cNvPr id="4" name="Shape 2"/>
          <p:cNvSpPr/>
          <p:nvPr/>
        </p:nvSpPr>
        <p:spPr>
          <a:xfrm>
            <a:off x="2743200" y="3657600"/>
            <a:ext cx="4572000" cy="3657600"/>
          </a:xfrm>
          <a:prstGeom prst="ellipse">
            <a:avLst/>
          </a:prstGeom>
          <a:solidFill>
            <a:srgbClr val="3D8EFF">
              <a:alpha val="3000"/>
            </a:srgbClr>
          </a:solidFill>
          <a:ln w="12700">
            <a:solidFill>
              <a:srgbClr val="000000"/>
            </a:solidFill>
            <a:prstDash val="solid"/>
          </a:ln>
        </p:spPr>
      </p:sp>
      <p:sp>
        <p:nvSpPr>
          <p:cNvPr id="5" name="Shape 3"/>
          <p:cNvSpPr/>
          <p:nvPr/>
        </p:nvSpPr>
        <p:spPr>
          <a:xfrm>
            <a:off x="457200" y="-1371600"/>
            <a:ext cx="6400800" cy="6400800"/>
          </a:xfrm>
          <a:prstGeom prst="ellipse">
            <a:avLst/>
          </a:prstGeom>
          <a:solidFill>
            <a:srgbClr val="00F5FF">
              <a:alpha val="5000"/>
            </a:srgbClr>
          </a:solidFill>
          <a:ln w="12700">
            <a:solidFill>
              <a:srgbClr val="000000"/>
            </a:solidFill>
            <a:prstDash val="solid"/>
          </a:ln>
        </p:spPr>
      </p:sp>
      <p:sp>
        <p:nvSpPr>
          <p:cNvPr id="6" name="Shape 4"/>
          <p:cNvSpPr/>
          <p:nvPr/>
        </p:nvSpPr>
        <p:spPr>
          <a:xfrm>
            <a:off x="3657600" y="1371600"/>
            <a:ext cx="6400800" cy="6400800"/>
          </a:xfrm>
          <a:prstGeom prst="ellipse">
            <a:avLst/>
          </a:prstGeom>
          <a:solidFill>
            <a:srgbClr val="B040FF">
              <a:alpha val="6000"/>
            </a:srgbClr>
          </a:solidFill>
          <a:ln w="12700">
            <a:solidFill>
              <a:srgbClr val="000000"/>
            </a:solidFill>
            <a:prstDash val="solid"/>
          </a:ln>
        </p:spPr>
      </p:sp>
      <p:sp>
        <p:nvSpPr>
          <p:cNvPr id="7" name="Shape 5"/>
          <p:cNvSpPr/>
          <p:nvPr/>
        </p:nvSpPr>
        <p:spPr>
          <a:xfrm>
            <a:off x="0" y="0"/>
            <a:ext cx="9144000" cy="11887"/>
          </a:xfrm>
          <a:prstGeom prst="rect">
            <a:avLst/>
          </a:prstGeom>
          <a:solidFill>
            <a:srgbClr val="00F5FF">
              <a:alpha val="4000"/>
            </a:srgbClr>
          </a:solidFill>
          <a:ln w="12700">
            <a:solidFill>
              <a:srgbClr val="000000"/>
            </a:solidFill>
            <a:prstDash val="solid"/>
          </a:ln>
        </p:spPr>
      </p:sp>
      <p:sp>
        <p:nvSpPr>
          <p:cNvPr id="8" name="Shape 6"/>
          <p:cNvSpPr/>
          <p:nvPr/>
        </p:nvSpPr>
        <p:spPr>
          <a:xfrm>
            <a:off x="0" y="233795"/>
            <a:ext cx="9144000" cy="11887"/>
          </a:xfrm>
          <a:prstGeom prst="rect">
            <a:avLst/>
          </a:prstGeom>
          <a:solidFill>
            <a:srgbClr val="00F5FF">
              <a:alpha val="4000"/>
            </a:srgbClr>
          </a:solidFill>
          <a:ln w="12700">
            <a:solidFill>
              <a:srgbClr val="000000"/>
            </a:solidFill>
            <a:prstDash val="solid"/>
          </a:ln>
        </p:spPr>
      </p:sp>
      <p:sp>
        <p:nvSpPr>
          <p:cNvPr id="9" name="Shape 7"/>
          <p:cNvSpPr/>
          <p:nvPr/>
        </p:nvSpPr>
        <p:spPr>
          <a:xfrm>
            <a:off x="0" y="467591"/>
            <a:ext cx="9144000" cy="11887"/>
          </a:xfrm>
          <a:prstGeom prst="rect">
            <a:avLst/>
          </a:prstGeom>
          <a:solidFill>
            <a:srgbClr val="00F5FF">
              <a:alpha val="4000"/>
            </a:srgbClr>
          </a:solidFill>
          <a:ln w="12700">
            <a:solidFill>
              <a:srgbClr val="000000"/>
            </a:solidFill>
            <a:prstDash val="solid"/>
          </a:ln>
        </p:spPr>
      </p:sp>
      <p:sp>
        <p:nvSpPr>
          <p:cNvPr id="10" name="Shape 8"/>
          <p:cNvSpPr/>
          <p:nvPr/>
        </p:nvSpPr>
        <p:spPr>
          <a:xfrm>
            <a:off x="0" y="701386"/>
            <a:ext cx="9144000" cy="11887"/>
          </a:xfrm>
          <a:prstGeom prst="rect">
            <a:avLst/>
          </a:prstGeom>
          <a:solidFill>
            <a:srgbClr val="00F5FF">
              <a:alpha val="4000"/>
            </a:srgbClr>
          </a:solidFill>
          <a:ln w="12700">
            <a:solidFill>
              <a:srgbClr val="000000"/>
            </a:solidFill>
            <a:prstDash val="solid"/>
          </a:ln>
        </p:spPr>
      </p:sp>
      <p:sp>
        <p:nvSpPr>
          <p:cNvPr id="11" name="Shape 9"/>
          <p:cNvSpPr/>
          <p:nvPr/>
        </p:nvSpPr>
        <p:spPr>
          <a:xfrm>
            <a:off x="0" y="935182"/>
            <a:ext cx="9144000" cy="11887"/>
          </a:xfrm>
          <a:prstGeom prst="rect">
            <a:avLst/>
          </a:prstGeom>
          <a:solidFill>
            <a:srgbClr val="00F5FF">
              <a:alpha val="4000"/>
            </a:srgbClr>
          </a:solidFill>
          <a:ln w="12700">
            <a:solidFill>
              <a:srgbClr val="000000"/>
            </a:solidFill>
            <a:prstDash val="solid"/>
          </a:ln>
        </p:spPr>
      </p:sp>
      <p:sp>
        <p:nvSpPr>
          <p:cNvPr id="12" name="Shape 10"/>
          <p:cNvSpPr/>
          <p:nvPr/>
        </p:nvSpPr>
        <p:spPr>
          <a:xfrm>
            <a:off x="0" y="1168977"/>
            <a:ext cx="9144000" cy="11887"/>
          </a:xfrm>
          <a:prstGeom prst="rect">
            <a:avLst/>
          </a:prstGeom>
          <a:solidFill>
            <a:srgbClr val="00F5FF">
              <a:alpha val="4000"/>
            </a:srgbClr>
          </a:solidFill>
          <a:ln w="12700">
            <a:solidFill>
              <a:srgbClr val="000000"/>
            </a:solidFill>
            <a:prstDash val="solid"/>
          </a:ln>
        </p:spPr>
      </p:sp>
      <p:sp>
        <p:nvSpPr>
          <p:cNvPr id="13" name="Shape 11"/>
          <p:cNvSpPr/>
          <p:nvPr/>
        </p:nvSpPr>
        <p:spPr>
          <a:xfrm>
            <a:off x="0" y="1402773"/>
            <a:ext cx="9144000" cy="11887"/>
          </a:xfrm>
          <a:prstGeom prst="rect">
            <a:avLst/>
          </a:prstGeom>
          <a:solidFill>
            <a:srgbClr val="00F5FF">
              <a:alpha val="4000"/>
            </a:srgbClr>
          </a:solidFill>
          <a:ln w="12700">
            <a:solidFill>
              <a:srgbClr val="000000"/>
            </a:solidFill>
            <a:prstDash val="solid"/>
          </a:ln>
        </p:spPr>
      </p:sp>
      <p:sp>
        <p:nvSpPr>
          <p:cNvPr id="14" name="Shape 12"/>
          <p:cNvSpPr/>
          <p:nvPr/>
        </p:nvSpPr>
        <p:spPr>
          <a:xfrm>
            <a:off x="0" y="1636568"/>
            <a:ext cx="9144000" cy="11887"/>
          </a:xfrm>
          <a:prstGeom prst="rect">
            <a:avLst/>
          </a:prstGeom>
          <a:solidFill>
            <a:srgbClr val="00F5FF">
              <a:alpha val="4000"/>
            </a:srgbClr>
          </a:solidFill>
          <a:ln w="12700">
            <a:solidFill>
              <a:srgbClr val="000000"/>
            </a:solidFill>
            <a:prstDash val="solid"/>
          </a:ln>
        </p:spPr>
      </p:sp>
      <p:sp>
        <p:nvSpPr>
          <p:cNvPr id="15" name="Shape 13"/>
          <p:cNvSpPr/>
          <p:nvPr/>
        </p:nvSpPr>
        <p:spPr>
          <a:xfrm>
            <a:off x="0" y="1870364"/>
            <a:ext cx="9144000" cy="11887"/>
          </a:xfrm>
          <a:prstGeom prst="rect">
            <a:avLst/>
          </a:prstGeom>
          <a:solidFill>
            <a:srgbClr val="00F5FF">
              <a:alpha val="4000"/>
            </a:srgbClr>
          </a:solidFill>
          <a:ln w="12700">
            <a:solidFill>
              <a:srgbClr val="000000"/>
            </a:solidFill>
            <a:prstDash val="solid"/>
          </a:ln>
        </p:spPr>
      </p:sp>
      <p:sp>
        <p:nvSpPr>
          <p:cNvPr id="16" name="Shape 14"/>
          <p:cNvSpPr/>
          <p:nvPr/>
        </p:nvSpPr>
        <p:spPr>
          <a:xfrm>
            <a:off x="0" y="2104159"/>
            <a:ext cx="9144000" cy="11887"/>
          </a:xfrm>
          <a:prstGeom prst="rect">
            <a:avLst/>
          </a:prstGeom>
          <a:solidFill>
            <a:srgbClr val="00F5FF">
              <a:alpha val="4000"/>
            </a:srgbClr>
          </a:solidFill>
          <a:ln w="12700">
            <a:solidFill>
              <a:srgbClr val="000000"/>
            </a:solidFill>
            <a:prstDash val="solid"/>
          </a:ln>
        </p:spPr>
      </p:sp>
      <p:sp>
        <p:nvSpPr>
          <p:cNvPr id="17" name="Shape 15"/>
          <p:cNvSpPr/>
          <p:nvPr/>
        </p:nvSpPr>
        <p:spPr>
          <a:xfrm>
            <a:off x="0" y="2337955"/>
            <a:ext cx="9144000" cy="11887"/>
          </a:xfrm>
          <a:prstGeom prst="rect">
            <a:avLst/>
          </a:prstGeom>
          <a:solidFill>
            <a:srgbClr val="00F5FF">
              <a:alpha val="4000"/>
            </a:srgbClr>
          </a:solidFill>
          <a:ln w="12700">
            <a:solidFill>
              <a:srgbClr val="000000"/>
            </a:solidFill>
            <a:prstDash val="solid"/>
          </a:ln>
        </p:spPr>
      </p:sp>
      <p:sp>
        <p:nvSpPr>
          <p:cNvPr id="18" name="Shape 16"/>
          <p:cNvSpPr/>
          <p:nvPr/>
        </p:nvSpPr>
        <p:spPr>
          <a:xfrm>
            <a:off x="0" y="2571750"/>
            <a:ext cx="9144000" cy="11887"/>
          </a:xfrm>
          <a:prstGeom prst="rect">
            <a:avLst/>
          </a:prstGeom>
          <a:solidFill>
            <a:srgbClr val="00F5FF">
              <a:alpha val="4000"/>
            </a:srgbClr>
          </a:solidFill>
          <a:ln w="12700">
            <a:solidFill>
              <a:srgbClr val="000000"/>
            </a:solidFill>
            <a:prstDash val="solid"/>
          </a:ln>
        </p:spPr>
      </p:sp>
      <p:sp>
        <p:nvSpPr>
          <p:cNvPr id="19" name="Shape 17"/>
          <p:cNvSpPr/>
          <p:nvPr/>
        </p:nvSpPr>
        <p:spPr>
          <a:xfrm>
            <a:off x="0" y="2805545"/>
            <a:ext cx="9144000" cy="11887"/>
          </a:xfrm>
          <a:prstGeom prst="rect">
            <a:avLst/>
          </a:prstGeom>
          <a:solidFill>
            <a:srgbClr val="00F5FF">
              <a:alpha val="4000"/>
            </a:srgbClr>
          </a:solidFill>
          <a:ln w="12700">
            <a:solidFill>
              <a:srgbClr val="000000"/>
            </a:solidFill>
            <a:prstDash val="solid"/>
          </a:ln>
        </p:spPr>
      </p:sp>
      <p:sp>
        <p:nvSpPr>
          <p:cNvPr id="20" name="Shape 18"/>
          <p:cNvSpPr/>
          <p:nvPr/>
        </p:nvSpPr>
        <p:spPr>
          <a:xfrm>
            <a:off x="0" y="3039341"/>
            <a:ext cx="9144000" cy="11887"/>
          </a:xfrm>
          <a:prstGeom prst="rect">
            <a:avLst/>
          </a:prstGeom>
          <a:solidFill>
            <a:srgbClr val="00F5FF">
              <a:alpha val="4000"/>
            </a:srgbClr>
          </a:solidFill>
          <a:ln w="12700">
            <a:solidFill>
              <a:srgbClr val="000000"/>
            </a:solidFill>
            <a:prstDash val="solid"/>
          </a:ln>
        </p:spPr>
      </p:sp>
      <p:sp>
        <p:nvSpPr>
          <p:cNvPr id="21" name="Shape 19"/>
          <p:cNvSpPr/>
          <p:nvPr/>
        </p:nvSpPr>
        <p:spPr>
          <a:xfrm>
            <a:off x="0" y="3273136"/>
            <a:ext cx="9144000" cy="11887"/>
          </a:xfrm>
          <a:prstGeom prst="rect">
            <a:avLst/>
          </a:prstGeom>
          <a:solidFill>
            <a:srgbClr val="00F5FF">
              <a:alpha val="4000"/>
            </a:srgbClr>
          </a:solidFill>
          <a:ln w="12700">
            <a:solidFill>
              <a:srgbClr val="000000"/>
            </a:solidFill>
            <a:prstDash val="solid"/>
          </a:ln>
        </p:spPr>
      </p:sp>
      <p:sp>
        <p:nvSpPr>
          <p:cNvPr id="22" name="Shape 20"/>
          <p:cNvSpPr/>
          <p:nvPr/>
        </p:nvSpPr>
        <p:spPr>
          <a:xfrm>
            <a:off x="0" y="3506932"/>
            <a:ext cx="9144000" cy="11887"/>
          </a:xfrm>
          <a:prstGeom prst="rect">
            <a:avLst/>
          </a:prstGeom>
          <a:solidFill>
            <a:srgbClr val="00F5FF">
              <a:alpha val="4000"/>
            </a:srgbClr>
          </a:solidFill>
          <a:ln w="12700">
            <a:solidFill>
              <a:srgbClr val="000000"/>
            </a:solidFill>
            <a:prstDash val="solid"/>
          </a:ln>
        </p:spPr>
      </p:sp>
      <p:sp>
        <p:nvSpPr>
          <p:cNvPr id="23" name="Shape 21"/>
          <p:cNvSpPr/>
          <p:nvPr/>
        </p:nvSpPr>
        <p:spPr>
          <a:xfrm>
            <a:off x="0" y="3740727"/>
            <a:ext cx="9144000" cy="11887"/>
          </a:xfrm>
          <a:prstGeom prst="rect">
            <a:avLst/>
          </a:prstGeom>
          <a:solidFill>
            <a:srgbClr val="00F5FF">
              <a:alpha val="4000"/>
            </a:srgbClr>
          </a:solidFill>
          <a:ln w="12700">
            <a:solidFill>
              <a:srgbClr val="000000"/>
            </a:solidFill>
            <a:prstDash val="solid"/>
          </a:ln>
        </p:spPr>
      </p:sp>
      <p:sp>
        <p:nvSpPr>
          <p:cNvPr id="24" name="Shape 22"/>
          <p:cNvSpPr/>
          <p:nvPr/>
        </p:nvSpPr>
        <p:spPr>
          <a:xfrm>
            <a:off x="0" y="3974523"/>
            <a:ext cx="9144000" cy="11887"/>
          </a:xfrm>
          <a:prstGeom prst="rect">
            <a:avLst/>
          </a:prstGeom>
          <a:solidFill>
            <a:srgbClr val="00F5FF">
              <a:alpha val="4000"/>
            </a:srgbClr>
          </a:solidFill>
          <a:ln w="12700">
            <a:solidFill>
              <a:srgbClr val="000000"/>
            </a:solidFill>
            <a:prstDash val="solid"/>
          </a:ln>
        </p:spPr>
      </p:sp>
      <p:sp>
        <p:nvSpPr>
          <p:cNvPr id="25" name="Shape 23"/>
          <p:cNvSpPr/>
          <p:nvPr/>
        </p:nvSpPr>
        <p:spPr>
          <a:xfrm>
            <a:off x="0" y="4208318"/>
            <a:ext cx="9144000" cy="11887"/>
          </a:xfrm>
          <a:prstGeom prst="rect">
            <a:avLst/>
          </a:prstGeom>
          <a:solidFill>
            <a:srgbClr val="00F5FF">
              <a:alpha val="4000"/>
            </a:srgbClr>
          </a:solidFill>
          <a:ln w="12700">
            <a:solidFill>
              <a:srgbClr val="000000"/>
            </a:solidFill>
            <a:prstDash val="solid"/>
          </a:ln>
        </p:spPr>
      </p:sp>
      <p:sp>
        <p:nvSpPr>
          <p:cNvPr id="26" name="Shape 24"/>
          <p:cNvSpPr/>
          <p:nvPr/>
        </p:nvSpPr>
        <p:spPr>
          <a:xfrm>
            <a:off x="0" y="4442114"/>
            <a:ext cx="9144000" cy="11887"/>
          </a:xfrm>
          <a:prstGeom prst="rect">
            <a:avLst/>
          </a:prstGeom>
          <a:solidFill>
            <a:srgbClr val="00F5FF">
              <a:alpha val="4000"/>
            </a:srgbClr>
          </a:solidFill>
          <a:ln w="12700">
            <a:solidFill>
              <a:srgbClr val="000000"/>
            </a:solidFill>
            <a:prstDash val="solid"/>
          </a:ln>
        </p:spPr>
      </p:sp>
      <p:sp>
        <p:nvSpPr>
          <p:cNvPr id="27" name="Shape 25"/>
          <p:cNvSpPr/>
          <p:nvPr/>
        </p:nvSpPr>
        <p:spPr>
          <a:xfrm>
            <a:off x="0" y="4675909"/>
            <a:ext cx="9144000" cy="11887"/>
          </a:xfrm>
          <a:prstGeom prst="rect">
            <a:avLst/>
          </a:prstGeom>
          <a:solidFill>
            <a:srgbClr val="00F5FF">
              <a:alpha val="4000"/>
            </a:srgbClr>
          </a:solidFill>
          <a:ln w="12700">
            <a:solidFill>
              <a:srgbClr val="000000"/>
            </a:solidFill>
            <a:prstDash val="solid"/>
          </a:ln>
        </p:spPr>
      </p:sp>
      <p:sp>
        <p:nvSpPr>
          <p:cNvPr id="28" name="Shape 26"/>
          <p:cNvSpPr/>
          <p:nvPr/>
        </p:nvSpPr>
        <p:spPr>
          <a:xfrm>
            <a:off x="0" y="4909705"/>
            <a:ext cx="9144000" cy="11887"/>
          </a:xfrm>
          <a:prstGeom prst="rect">
            <a:avLst/>
          </a:prstGeom>
          <a:solidFill>
            <a:srgbClr val="00F5FF">
              <a:alpha val="4000"/>
            </a:srgbClr>
          </a:solidFill>
          <a:ln w="12700">
            <a:solidFill>
              <a:srgbClr val="000000"/>
            </a:solidFill>
            <a:prstDash val="solid"/>
          </a:ln>
        </p:spPr>
      </p:sp>
      <p:sp>
        <p:nvSpPr>
          <p:cNvPr id="29" name="Text 27"/>
          <p:cNvSpPr/>
          <p:nvPr/>
        </p:nvSpPr>
        <p:spPr>
          <a:xfrm>
            <a:off x="274320" y="45720"/>
            <a:ext cx="4206240" cy="1051560"/>
          </a:xfrm>
          <a:prstGeom prst="rect">
            <a:avLst/>
          </a:prstGeom>
          <a:noFill/>
          <a:ln/>
          <a:effectLst>
            <a:outerShdw sx="100000" sy="100000" kx="0" ky="0" algn="bl" rotWithShape="0" blurRad="279400" dist="50800" dir="16200000">
              <a:srgbClr val="00F5FF">
                <a:alpha val="55000"/>
              </a:srgbClr>
            </a:outerShdw>
          </a:effectLst>
        </p:spPr>
        <p:txBody>
          <a:bodyPr wrap="square" lIns="0" tIns="0" rIns="0" bIns="0" rtlCol="0" anchor="ctr"/>
          <a:lstStyle/>
          <a:p>
            <a:pPr indent="0" marL="0">
              <a:buNone/>
            </a:pPr>
            <a:r>
              <a:rPr lang="en-US" sz="9000" b="1" spc="1000" kern="0" dirty="0">
                <a:solidFill>
                  <a:srgbClr val="00F5FF"/>
                </a:solidFill>
                <a:latin typeface="Calibri" pitchFamily="34" charset="0"/>
                <a:ea typeface="Calibri" pitchFamily="34" charset="-122"/>
                <a:cs typeface="Calibri" pitchFamily="34" charset="-120"/>
              </a:rPr>
              <a:t>LIVE</a:t>
            </a:r>
            <a:endParaRPr lang="en-US" sz="9000" dirty="0"/>
          </a:p>
        </p:txBody>
      </p:sp>
      <p:sp>
        <p:nvSpPr>
          <p:cNvPr id="30" name="Text 28"/>
          <p:cNvSpPr/>
          <p:nvPr/>
        </p:nvSpPr>
        <p:spPr>
          <a:xfrm>
            <a:off x="4663440" y="45720"/>
            <a:ext cx="4206240" cy="1051560"/>
          </a:xfrm>
          <a:prstGeom prst="rect">
            <a:avLst/>
          </a:prstGeom>
          <a:noFill/>
          <a:ln/>
          <a:effectLst>
            <a:outerShdw sx="100000" sy="100000" kx="0" ky="0" algn="bl" rotWithShape="0" blurRad="279400" dist="50800" dir="16200000">
              <a:srgbClr val="B040FF">
                <a:alpha val="55000"/>
              </a:srgbClr>
            </a:outerShdw>
          </a:effectLst>
        </p:spPr>
        <p:txBody>
          <a:bodyPr wrap="square" lIns="0" tIns="0" rIns="0" bIns="0" rtlCol="0" anchor="ctr"/>
          <a:lstStyle/>
          <a:p>
            <a:pPr indent="0" marL="0">
              <a:buNone/>
            </a:pPr>
            <a:r>
              <a:rPr lang="en-US" sz="9000" b="1" spc="1000" kern="0" dirty="0">
                <a:solidFill>
                  <a:srgbClr val="B040FF"/>
                </a:solidFill>
                <a:latin typeface="Calibri" pitchFamily="34" charset="0"/>
                <a:ea typeface="Calibri" pitchFamily="34" charset="-122"/>
                <a:cs typeface="Calibri" pitchFamily="34" charset="-120"/>
              </a:rPr>
              <a:t>DEMO</a:t>
            </a:r>
            <a:endParaRPr lang="en-US" sz="9000" dirty="0"/>
          </a:p>
        </p:txBody>
      </p:sp>
      <p:sp>
        <p:nvSpPr>
          <p:cNvPr id="31" name="Text 29"/>
          <p:cNvSpPr/>
          <p:nvPr/>
        </p:nvSpPr>
        <p:spPr>
          <a:xfrm>
            <a:off x="365760" y="1078992"/>
            <a:ext cx="8412480" cy="274320"/>
          </a:xfrm>
          <a:prstGeom prst="rect">
            <a:avLst/>
          </a:prstGeom>
          <a:noFill/>
          <a:ln/>
        </p:spPr>
        <p:txBody>
          <a:bodyPr wrap="square" rtlCol="0" anchor="ctr"/>
          <a:lstStyle/>
          <a:p>
            <a:pPr algn="ctr" indent="0" marL="0">
              <a:buNone/>
            </a:pPr>
            <a:r>
              <a:rPr lang="en-US" sz="1400" i="1" dirty="0">
                <a:solidFill>
                  <a:srgbClr val="3D6080"/>
                </a:solidFill>
                <a:latin typeface="Calibri" pitchFamily="34" charset="0"/>
                <a:ea typeface="Calibri" pitchFamily="34" charset="-122"/>
                <a:cs typeface="Calibri" pitchFamily="34" charset="-120"/>
              </a:rPr>
              <a:t>Both deployed. Both live. Right now. ↓</a:t>
            </a:r>
            <a:endParaRPr lang="en-US" sz="1400" dirty="0"/>
          </a:p>
        </p:txBody>
      </p:sp>
      <p:sp>
        <p:nvSpPr>
          <p:cNvPr id="32" name="Shape 30"/>
          <p:cNvSpPr/>
          <p:nvPr/>
        </p:nvSpPr>
        <p:spPr>
          <a:xfrm>
            <a:off x="320040" y="1426464"/>
            <a:ext cx="3977640" cy="530352"/>
          </a:xfrm>
          <a:prstGeom prst="roundRect">
            <a:avLst>
              <a:gd name="adj" fmla="val 13793"/>
            </a:avLst>
          </a:prstGeom>
          <a:solidFill>
            <a:srgbClr val="010810"/>
          </a:solidFill>
          <a:ln w="25400">
            <a:solidFill>
              <a:srgbClr val="00FF88"/>
            </a:solidFill>
            <a:prstDash val="solid"/>
          </a:ln>
          <a:effectLst>
            <a:outerShdw sx="100000" sy="100000" kx="0" ky="0" algn="bl" rotWithShape="0" blurRad="279400" dist="50800" dir="16200000">
              <a:srgbClr val="00FF88">
                <a:alpha val="45000"/>
              </a:srgbClr>
            </a:outerShdw>
          </a:effectLst>
        </p:spPr>
      </p:sp>
      <p:sp>
        <p:nvSpPr>
          <p:cNvPr id="33" name="Text 31"/>
          <p:cNvSpPr/>
          <p:nvPr/>
        </p:nvSpPr>
        <p:spPr>
          <a:xfrm>
            <a:off x="320040" y="1426464"/>
            <a:ext cx="3977640" cy="530352"/>
          </a:xfrm>
          <a:prstGeom prst="rect">
            <a:avLst/>
          </a:prstGeom>
          <a:noFill/>
          <a:ln/>
        </p:spPr>
        <p:txBody>
          <a:bodyPr wrap="square" rtlCol="0" anchor="ctr"/>
          <a:lstStyle/>
          <a:p>
            <a:pPr algn="ctr" indent="0" marL="0">
              <a:buNone/>
            </a:pPr>
            <a:r>
              <a:rPr lang="en-US" sz="1350" b="1" dirty="0">
                <a:solidFill>
                  <a:srgbClr val="00FF88"/>
                </a:solidFill>
                <a:latin typeface="Consolas" pitchFamily="34" charset="0"/>
                <a:ea typeface="Consolas" pitchFamily="34" charset="-122"/>
                <a:cs typeface="Consolas" pitchFamily="34" charset="-120"/>
              </a:rPr>
              <a:t>🌐  civiceye-v6.vercel.app</a:t>
            </a:r>
            <a:endParaRPr lang="en-US" sz="1350" dirty="0"/>
          </a:p>
        </p:txBody>
      </p:sp>
      <p:sp>
        <p:nvSpPr>
          <p:cNvPr id="34" name="Shape 32"/>
          <p:cNvSpPr/>
          <p:nvPr/>
        </p:nvSpPr>
        <p:spPr>
          <a:xfrm>
            <a:off x="4846320" y="1426464"/>
            <a:ext cx="3977640" cy="530352"/>
          </a:xfrm>
          <a:prstGeom prst="roundRect">
            <a:avLst>
              <a:gd name="adj" fmla="val 13793"/>
            </a:avLst>
          </a:prstGeom>
          <a:solidFill>
            <a:srgbClr val="010810"/>
          </a:solidFill>
          <a:ln w="25400">
            <a:solidFill>
              <a:srgbClr val="00F5FF"/>
            </a:solidFill>
            <a:prstDash val="solid"/>
          </a:ln>
          <a:effectLst>
            <a:outerShdw sx="100000" sy="100000" kx="0" ky="0" algn="bl" rotWithShape="0" blurRad="279400" dist="50800" dir="16200000">
              <a:srgbClr val="00F5FF">
                <a:alpha val="45000"/>
              </a:srgbClr>
            </a:outerShdw>
          </a:effectLst>
        </p:spPr>
      </p:sp>
      <p:sp>
        <p:nvSpPr>
          <p:cNvPr id="35" name="Text 33"/>
          <p:cNvSpPr/>
          <p:nvPr/>
        </p:nvSpPr>
        <p:spPr>
          <a:xfrm>
            <a:off x="4846320" y="1426464"/>
            <a:ext cx="3977640" cy="530352"/>
          </a:xfrm>
          <a:prstGeom prst="rect">
            <a:avLst/>
          </a:prstGeom>
          <a:noFill/>
          <a:ln/>
        </p:spPr>
        <p:txBody>
          <a:bodyPr wrap="square" rtlCol="0" anchor="ctr"/>
          <a:lstStyle/>
          <a:p>
            <a:pPr algn="ctr" indent="0" marL="0">
              <a:buNone/>
            </a:pPr>
            <a:r>
              <a:rPr lang="en-US" sz="1300" b="1" dirty="0">
                <a:solidFill>
                  <a:srgbClr val="00F5FF"/>
                </a:solidFill>
                <a:latin typeface="Consolas" pitchFamily="34" charset="0"/>
                <a:ea typeface="Consolas" pitchFamily="34" charset="-122"/>
                <a:cs typeface="Consolas" pitchFamily="34" charset="-120"/>
              </a:rPr>
              <a:t>⚙  civiceye-v6.onrender.com/docs</a:t>
            </a:r>
            <a:endParaRPr lang="en-US" sz="1300" dirty="0"/>
          </a:p>
        </p:txBody>
      </p:sp>
      <p:sp>
        <p:nvSpPr>
          <p:cNvPr id="36" name="Shape 34"/>
          <p:cNvSpPr/>
          <p:nvPr/>
        </p:nvSpPr>
        <p:spPr>
          <a:xfrm>
            <a:off x="320040" y="2185416"/>
            <a:ext cx="310896" cy="310896"/>
          </a:xfrm>
          <a:prstGeom prst="ellipse">
            <a:avLst/>
          </a:prstGeom>
          <a:solidFill>
            <a:srgbClr val="00F5FF"/>
          </a:solidFill>
          <a:ln w="12700">
            <a:solidFill>
              <a:srgbClr val="000000"/>
            </a:solidFill>
            <a:prstDash val="solid"/>
          </a:ln>
          <a:effectLst>
            <a:outerShdw sx="100000" sy="100000" kx="0" ky="0" algn="bl" rotWithShape="0" blurRad="279400" dist="50800" dir="16200000">
              <a:srgbClr val="00F5FF">
                <a:alpha val="50000"/>
              </a:srgbClr>
            </a:outerShdw>
          </a:effectLst>
        </p:spPr>
      </p:sp>
      <p:sp>
        <p:nvSpPr>
          <p:cNvPr id="37" name="Text 35"/>
          <p:cNvSpPr/>
          <p:nvPr/>
        </p:nvSpPr>
        <p:spPr>
          <a:xfrm>
            <a:off x="320040" y="2185416"/>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1</a:t>
            </a:r>
            <a:endParaRPr lang="en-US" sz="1100" dirty="0"/>
          </a:p>
        </p:txBody>
      </p:sp>
      <p:sp>
        <p:nvSpPr>
          <p:cNvPr id="38" name="Text 36"/>
          <p:cNvSpPr/>
          <p:nvPr/>
        </p:nvSpPr>
        <p:spPr>
          <a:xfrm>
            <a:off x="722376" y="2103120"/>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Boot screen · Piano sounds · Animations</a:t>
            </a:r>
            <a:endParaRPr lang="en-US" sz="1100" dirty="0"/>
          </a:p>
        </p:txBody>
      </p:sp>
      <p:sp>
        <p:nvSpPr>
          <p:cNvPr id="39" name="Shape 37"/>
          <p:cNvSpPr/>
          <p:nvPr/>
        </p:nvSpPr>
        <p:spPr>
          <a:xfrm>
            <a:off x="320040" y="2660904"/>
            <a:ext cx="310896" cy="310896"/>
          </a:xfrm>
          <a:prstGeom prst="ellipse">
            <a:avLst/>
          </a:prstGeom>
          <a:solidFill>
            <a:srgbClr val="3D8EFF"/>
          </a:solidFill>
          <a:ln w="12700">
            <a:solidFill>
              <a:srgbClr val="000000"/>
            </a:solidFill>
            <a:prstDash val="solid"/>
          </a:ln>
          <a:effectLst>
            <a:outerShdw sx="100000" sy="100000" kx="0" ky="0" algn="bl" rotWithShape="0" blurRad="279400" dist="50800" dir="16200000">
              <a:srgbClr val="3D8EFF">
                <a:alpha val="50000"/>
              </a:srgbClr>
            </a:outerShdw>
          </a:effectLst>
        </p:spPr>
      </p:sp>
      <p:sp>
        <p:nvSpPr>
          <p:cNvPr id="40" name="Text 38"/>
          <p:cNvSpPr/>
          <p:nvPr/>
        </p:nvSpPr>
        <p:spPr>
          <a:xfrm>
            <a:off x="320040" y="2660904"/>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2</a:t>
            </a:r>
            <a:endParaRPr lang="en-US" sz="1100" dirty="0"/>
          </a:p>
        </p:txBody>
      </p:sp>
      <p:sp>
        <p:nvSpPr>
          <p:cNvPr id="41" name="Text 39"/>
          <p:cNvSpPr/>
          <p:nvPr/>
        </p:nvSpPr>
        <p:spPr>
          <a:xfrm>
            <a:off x="722376" y="2578608"/>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Register with mobile OTP 🔐</a:t>
            </a:r>
            <a:endParaRPr lang="en-US" sz="1100" dirty="0"/>
          </a:p>
        </p:txBody>
      </p:sp>
      <p:sp>
        <p:nvSpPr>
          <p:cNvPr id="42" name="Shape 40"/>
          <p:cNvSpPr/>
          <p:nvPr/>
        </p:nvSpPr>
        <p:spPr>
          <a:xfrm>
            <a:off x="320040" y="3136392"/>
            <a:ext cx="310896" cy="310896"/>
          </a:xfrm>
          <a:prstGeom prst="ellipse">
            <a:avLst/>
          </a:prstGeom>
          <a:solidFill>
            <a:srgbClr val="B040FF"/>
          </a:solidFill>
          <a:ln w="12700">
            <a:solidFill>
              <a:srgbClr val="000000"/>
            </a:solidFill>
            <a:prstDash val="solid"/>
          </a:ln>
          <a:effectLst>
            <a:outerShdw sx="100000" sy="100000" kx="0" ky="0" algn="bl" rotWithShape="0" blurRad="279400" dist="50800" dir="16200000">
              <a:srgbClr val="B040FF">
                <a:alpha val="50000"/>
              </a:srgbClr>
            </a:outerShdw>
          </a:effectLst>
        </p:spPr>
      </p:sp>
      <p:sp>
        <p:nvSpPr>
          <p:cNvPr id="43" name="Text 41"/>
          <p:cNvSpPr/>
          <p:nvPr/>
        </p:nvSpPr>
        <p:spPr>
          <a:xfrm>
            <a:off x="320040" y="3136392"/>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3</a:t>
            </a:r>
            <a:endParaRPr lang="en-US" sz="1100" dirty="0"/>
          </a:p>
        </p:txBody>
      </p:sp>
      <p:sp>
        <p:nvSpPr>
          <p:cNvPr id="44" name="Text 42"/>
          <p:cNvSpPr/>
          <p:nvPr/>
        </p:nvSpPr>
        <p:spPr>
          <a:xfrm>
            <a:off x="722376" y="3054096"/>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File complaint in Hindi 🎤</a:t>
            </a:r>
            <a:endParaRPr lang="en-US" sz="1100" dirty="0"/>
          </a:p>
        </p:txBody>
      </p:sp>
      <p:sp>
        <p:nvSpPr>
          <p:cNvPr id="45" name="Shape 43"/>
          <p:cNvSpPr/>
          <p:nvPr/>
        </p:nvSpPr>
        <p:spPr>
          <a:xfrm>
            <a:off x="320040" y="3611880"/>
            <a:ext cx="310896" cy="310896"/>
          </a:xfrm>
          <a:prstGeom prst="ellipse">
            <a:avLst/>
          </a:prstGeom>
          <a:solidFill>
            <a:srgbClr val="00FF88"/>
          </a:solidFill>
          <a:ln w="12700">
            <a:solidFill>
              <a:srgbClr val="000000"/>
            </a:solidFill>
            <a:prstDash val="solid"/>
          </a:ln>
          <a:effectLst>
            <a:outerShdw sx="100000" sy="100000" kx="0" ky="0" algn="bl" rotWithShape="0" blurRad="279400" dist="50800" dir="16200000">
              <a:srgbClr val="00FF88">
                <a:alpha val="50000"/>
              </a:srgbClr>
            </a:outerShdw>
          </a:effectLst>
        </p:spPr>
      </p:sp>
      <p:sp>
        <p:nvSpPr>
          <p:cNvPr id="46" name="Text 44"/>
          <p:cNvSpPr/>
          <p:nvPr/>
        </p:nvSpPr>
        <p:spPr>
          <a:xfrm>
            <a:off x="320040" y="3611880"/>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4</a:t>
            </a:r>
            <a:endParaRPr lang="en-US" sz="1100" dirty="0"/>
          </a:p>
        </p:txBody>
      </p:sp>
      <p:sp>
        <p:nvSpPr>
          <p:cNvPr id="47" name="Text 45"/>
          <p:cNvSpPr/>
          <p:nvPr/>
        </p:nvSpPr>
        <p:spPr>
          <a:xfrm>
            <a:off x="722376" y="3529584"/>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AI score + corruption check 🧠</a:t>
            </a:r>
            <a:endParaRPr lang="en-US" sz="1100" dirty="0"/>
          </a:p>
        </p:txBody>
      </p:sp>
      <p:sp>
        <p:nvSpPr>
          <p:cNvPr id="48" name="Shape 46"/>
          <p:cNvSpPr/>
          <p:nvPr/>
        </p:nvSpPr>
        <p:spPr>
          <a:xfrm>
            <a:off x="4846320" y="2185416"/>
            <a:ext cx="310896" cy="310896"/>
          </a:xfrm>
          <a:prstGeom prst="ellipse">
            <a:avLst/>
          </a:prstGeom>
          <a:solidFill>
            <a:srgbClr val="FFCC00"/>
          </a:solidFill>
          <a:ln w="12700">
            <a:solidFill>
              <a:srgbClr val="000000"/>
            </a:solidFill>
            <a:prstDash val="solid"/>
          </a:ln>
          <a:effectLst>
            <a:outerShdw sx="100000" sy="100000" kx="0" ky="0" algn="bl" rotWithShape="0" blurRad="279400" dist="50800" dir="16200000">
              <a:srgbClr val="FFCC00">
                <a:alpha val="50000"/>
              </a:srgbClr>
            </a:outerShdw>
          </a:effectLst>
        </p:spPr>
      </p:sp>
      <p:sp>
        <p:nvSpPr>
          <p:cNvPr id="49" name="Text 47"/>
          <p:cNvSpPr/>
          <p:nvPr/>
        </p:nvSpPr>
        <p:spPr>
          <a:xfrm>
            <a:off x="4846320" y="2185416"/>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5</a:t>
            </a:r>
            <a:endParaRPr lang="en-US" sz="1100" dirty="0"/>
          </a:p>
        </p:txBody>
      </p:sp>
      <p:sp>
        <p:nvSpPr>
          <p:cNvPr id="50" name="Text 48"/>
          <p:cNvSpPr/>
          <p:nvPr/>
        </p:nvSpPr>
        <p:spPr>
          <a:xfrm>
            <a:off x="5248656" y="2103120"/>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Blockchain block added ⛓</a:t>
            </a:r>
            <a:endParaRPr lang="en-US" sz="1100" dirty="0"/>
          </a:p>
        </p:txBody>
      </p:sp>
      <p:sp>
        <p:nvSpPr>
          <p:cNvPr id="51" name="Shape 49"/>
          <p:cNvSpPr/>
          <p:nvPr/>
        </p:nvSpPr>
        <p:spPr>
          <a:xfrm>
            <a:off x="4846320" y="2660904"/>
            <a:ext cx="310896" cy="310896"/>
          </a:xfrm>
          <a:prstGeom prst="ellipse">
            <a:avLst/>
          </a:prstGeom>
          <a:solidFill>
            <a:srgbClr val="FF2060"/>
          </a:solidFill>
          <a:ln w="12700">
            <a:solidFill>
              <a:srgbClr val="000000"/>
            </a:solidFill>
            <a:prstDash val="solid"/>
          </a:ln>
          <a:effectLst>
            <a:outerShdw sx="100000" sy="100000" kx="0" ky="0" algn="bl" rotWithShape="0" blurRad="279400" dist="50800" dir="16200000">
              <a:srgbClr val="FF2060">
                <a:alpha val="50000"/>
              </a:srgbClr>
            </a:outerShdw>
          </a:effectLst>
        </p:spPr>
      </p:sp>
      <p:sp>
        <p:nvSpPr>
          <p:cNvPr id="52" name="Text 50"/>
          <p:cNvSpPr/>
          <p:nvPr/>
        </p:nvSpPr>
        <p:spPr>
          <a:xfrm>
            <a:off x="4846320" y="2660904"/>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6</a:t>
            </a:r>
            <a:endParaRPr lang="en-US" sz="1100" dirty="0"/>
          </a:p>
        </p:txBody>
      </p:sp>
      <p:sp>
        <p:nvSpPr>
          <p:cNvPr id="53" name="Text 51"/>
          <p:cNvSpPr/>
          <p:nvPr/>
        </p:nvSpPr>
        <p:spPr>
          <a:xfrm>
            <a:off x="5248656" y="2578608"/>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Run all 8 AI jobs 🤖</a:t>
            </a:r>
            <a:endParaRPr lang="en-US" sz="1100" dirty="0"/>
          </a:p>
        </p:txBody>
      </p:sp>
      <p:sp>
        <p:nvSpPr>
          <p:cNvPr id="54" name="Shape 52"/>
          <p:cNvSpPr/>
          <p:nvPr/>
        </p:nvSpPr>
        <p:spPr>
          <a:xfrm>
            <a:off x="4846320" y="3136392"/>
            <a:ext cx="310896" cy="310896"/>
          </a:xfrm>
          <a:prstGeom prst="ellipse">
            <a:avLst/>
          </a:prstGeom>
          <a:solidFill>
            <a:srgbClr val="00FFD1"/>
          </a:solidFill>
          <a:ln w="12700">
            <a:solidFill>
              <a:srgbClr val="000000"/>
            </a:solidFill>
            <a:prstDash val="solid"/>
          </a:ln>
          <a:effectLst>
            <a:outerShdw sx="100000" sy="100000" kx="0" ky="0" algn="bl" rotWithShape="0" blurRad="279400" dist="50800" dir="16200000">
              <a:srgbClr val="00FFD1">
                <a:alpha val="50000"/>
              </a:srgbClr>
            </a:outerShdw>
          </a:effectLst>
        </p:spPr>
      </p:sp>
      <p:sp>
        <p:nvSpPr>
          <p:cNvPr id="55" name="Text 53"/>
          <p:cNvSpPr/>
          <p:nvPr/>
        </p:nvSpPr>
        <p:spPr>
          <a:xfrm>
            <a:off x="4846320" y="3136392"/>
            <a:ext cx="310896" cy="310896"/>
          </a:xfrm>
          <a:prstGeom prst="rect">
            <a:avLst/>
          </a:prstGeom>
          <a:noFill/>
          <a:ln/>
        </p:spPr>
        <p:txBody>
          <a:bodyPr wrap="square" lIns="0" tIns="0" rIns="0" bIns="0" rtlCol="0" anchor="ctr"/>
          <a:lstStyle/>
          <a:p>
            <a:pPr algn="ctr" indent="0" marL="0">
              <a:buNone/>
            </a:pPr>
            <a:r>
              <a:rPr lang="en-US" sz="1100" b="1" dirty="0">
                <a:solidFill>
                  <a:srgbClr val="000000"/>
                </a:solidFill>
                <a:latin typeface="Consolas" pitchFamily="34" charset="0"/>
                <a:ea typeface="Consolas" pitchFamily="34" charset="-122"/>
                <a:cs typeface="Consolas" pitchFamily="34" charset="-120"/>
              </a:rPr>
              <a:t>7</a:t>
            </a:r>
            <a:endParaRPr lang="en-US" sz="1100" dirty="0"/>
          </a:p>
        </p:txBody>
      </p:sp>
      <p:sp>
        <p:nvSpPr>
          <p:cNvPr id="56" name="Text 54"/>
          <p:cNvSpPr/>
          <p:nvPr/>
        </p:nvSpPr>
        <p:spPr>
          <a:xfrm>
            <a:off x="5248656" y="3054096"/>
            <a:ext cx="3840480" cy="420624"/>
          </a:xfrm>
          <a:prstGeom prst="rect">
            <a:avLst/>
          </a:prstGeom>
          <a:noFill/>
          <a:ln/>
        </p:spPr>
        <p:txBody>
          <a:bodyPr wrap="square" rtlCol="0" anchor="ctr"/>
          <a:lstStyle/>
          <a:p>
            <a:pPr indent="0" marL="0">
              <a:buNone/>
            </a:pPr>
            <a:r>
              <a:rPr lang="en-US" sz="1100" dirty="0">
                <a:solidFill>
                  <a:srgbClr val="EEF6FF"/>
                </a:solidFill>
                <a:latin typeface="Calibri" pitchFamily="34" charset="0"/>
                <a:ea typeface="Calibri" pitchFamily="34" charset="-122"/>
                <a:cs typeface="Calibri" pitchFamily="34" charset="-120"/>
              </a:rPr>
              <a:t>API Docs live 📖</a:t>
            </a:r>
            <a:endParaRPr lang="en-US" sz="1100" dirty="0"/>
          </a:p>
        </p:txBody>
      </p:sp>
      <p:sp>
        <p:nvSpPr>
          <p:cNvPr id="57" name="Shape 55"/>
          <p:cNvSpPr/>
          <p:nvPr/>
        </p:nvSpPr>
        <p:spPr>
          <a:xfrm>
            <a:off x="256032" y="4480560"/>
            <a:ext cx="8686800" cy="621792"/>
          </a:xfrm>
          <a:prstGeom prst="roundRect">
            <a:avLst>
              <a:gd name="adj" fmla="val 11765"/>
            </a:avLst>
          </a:prstGeom>
          <a:solidFill>
            <a:srgbClr val="010810"/>
          </a:solidFill>
          <a:ln w="20320">
            <a:solidFill>
              <a:srgbClr val="B040FF"/>
            </a:solidFill>
            <a:prstDash val="solid"/>
          </a:ln>
          <a:effectLst>
            <a:outerShdw sx="100000" sy="100000" kx="0" ky="0" algn="bl" rotWithShape="0" blurRad="279400" dist="50800" dir="16200000">
              <a:srgbClr val="B040FF">
                <a:alpha val="40000"/>
              </a:srgbClr>
            </a:outerShdw>
          </a:effectLst>
        </p:spPr>
      </p:sp>
      <p:sp>
        <p:nvSpPr>
          <p:cNvPr id="58" name="Text 56"/>
          <p:cNvSpPr/>
          <p:nvPr/>
        </p:nvSpPr>
        <p:spPr>
          <a:xfrm>
            <a:off x="256032" y="4480560"/>
            <a:ext cx="8686800" cy="621792"/>
          </a:xfrm>
          <a:prstGeom prst="rect">
            <a:avLst/>
          </a:prstGeom>
          <a:noFill/>
          <a:ln/>
        </p:spPr>
        <p:txBody>
          <a:bodyPr wrap="square" rtlCol="0" anchor="ctr"/>
          <a:lstStyle/>
          <a:p>
            <a:pPr algn="ctr" indent="0" marL="0">
              <a:buNone/>
            </a:pPr>
            <a:r>
              <a:rPr lang="en-US" sz="1200" b="1" dirty="0">
                <a:solidFill>
                  <a:srgbClr val="00F5FF"/>
                </a:solidFill>
                <a:latin typeface="Calibri" pitchFamily="34" charset="0"/>
                <a:ea typeface="Calibri" pitchFamily="34" charset="-122"/>
                <a:cs typeface="Calibri" pitchFamily="34" charset="-120"/>
              </a:rPr>
              <a:t>👁  CivicEye Pro v6.0  ·  </a:t>
            </a:r>
            <a:pPr algn="ctr" indent="0" marL="0">
              <a:buNone/>
            </a:pPr>
            <a:r>
              <a:rPr lang="en-US" sz="1100" dirty="0">
                <a:solidFill>
                  <a:srgbClr val="3D6080"/>
                </a:solidFill>
                <a:latin typeface="Calibri" pitchFamily="34" charset="0"/>
                <a:ea typeface="Calibri" pitchFamily="34" charset="-122"/>
                <a:cs typeface="Calibri" pitchFamily="34" charset="-120"/>
              </a:rPr>
              <a:t>Riya · Anjali · Ritik · Sandeep  ·  </a:t>
            </a:r>
            <a:pPr algn="ctr" indent="0" marL="0">
              <a:buNone/>
            </a:pPr>
            <a:r>
              <a:rPr lang="en-US" sz="1200" b="1" dirty="0">
                <a:solidFill>
                  <a:srgbClr val="00FF88"/>
                </a:solidFill>
                <a:latin typeface="Calibri" pitchFamily="34" charset="0"/>
                <a:ea typeface="Calibri" pitchFamily="34" charset="-122"/>
                <a:cs typeface="Calibri" pitchFamily="34" charset="-120"/>
              </a:rPr>
              <a:t>Transparent Governance  ·  Empowered Citizens 🇮🇳</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2026-02-28T13:01:38Z</dcterms:created>
  <dcterms:modified xsi:type="dcterms:W3CDTF">2026-02-28T13:01:38Z</dcterms:modified>
</cp:coreProperties>
</file>