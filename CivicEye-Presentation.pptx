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6400800" cy="5486400"/>
          </a:xfrm>
          <a:prstGeom prst="ellipse">
            <a:avLst/>
          </a:prstGeom>
          <a:solidFill>
            <a:srgbClr val="7B2FFF">
              <a:alpha val="9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0" y="2743200"/>
            <a:ext cx="5486400" cy="4572000"/>
          </a:xfrm>
          <a:prstGeom prst="ellipse">
            <a:avLst/>
          </a:prstGeom>
          <a:solidFill>
            <a:srgbClr val="00F0FF">
              <a:alpha val="7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-914400"/>
            <a:ext cx="3657600" cy="2743200"/>
          </a:xfrm>
          <a:prstGeom prst="ellipse">
            <a:avLst/>
          </a:prstGeom>
          <a:solidFill>
            <a:srgbClr val="0A84FF">
              <a:alpha val="6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182880"/>
            <a:ext cx="914400" cy="914400"/>
          </a:xfrm>
          <a:prstGeom prst="ellipse">
            <a:avLst/>
          </a:prstGeom>
          <a:solidFill>
            <a:srgbClr val="00F0FF">
              <a:alpha val="5000"/>
            </a:srgbClr>
          </a:solidFill>
          <a:ln w="19050">
            <a:solidFill>
              <a:srgbClr val="00F0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51860" y="182880"/>
            <a:ext cx="1325880" cy="1325880"/>
          </a:xfrm>
          <a:prstGeom prst="ellipse">
            <a:avLst/>
          </a:prstGeom>
          <a:solidFill>
            <a:srgbClr val="7B2FFF">
              <a:alpha val="11000"/>
            </a:srgbClr>
          </a:solidFill>
          <a:ln w="6350">
            <a:solidFill>
              <a:srgbClr val="7B2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46120" y="182880"/>
            <a:ext cx="1737360" cy="1737360"/>
          </a:xfrm>
          <a:prstGeom prst="ellipse">
            <a:avLst/>
          </a:prstGeom>
          <a:solidFill>
            <a:srgbClr val="00F0FF">
              <a:alpha val="17000"/>
            </a:srgbClr>
          </a:solidFill>
          <a:ln w="6350">
            <a:solidFill>
              <a:srgbClr val="00F0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040380" y="182880"/>
            <a:ext cx="2148840" cy="2148840"/>
          </a:xfrm>
          <a:prstGeom prst="ellipse">
            <a:avLst/>
          </a:prstGeom>
          <a:solidFill>
            <a:srgbClr val="7B2FFF">
              <a:alpha val="23000"/>
            </a:srgbClr>
          </a:solidFill>
          <a:ln w="6350">
            <a:solidFill>
              <a:srgbClr val="7B2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43400" y="411480"/>
            <a:ext cx="457200" cy="457200"/>
          </a:xfrm>
          <a:prstGeom prst="ellipse">
            <a:avLst/>
          </a:prstGeom>
          <a:solidFill>
            <a:srgbClr val="00F0FF"/>
          </a:solidFill>
          <a:ln w="12700">
            <a:solidFill>
              <a:srgbClr val="000000"/>
            </a:solidFill>
            <a:prstDash val="solid"/>
          </a:ln>
          <a:effectLst>
            <a:outerShdw sx="100000" sy="100000" kx="0" ky="0" algn="bl" rotWithShape="0" blurRad="228600" dist="50800" dir="8100000">
              <a:srgbClr val="00F0FF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0" y="0"/>
            <a:ext cx="9144000" cy="18288"/>
          </a:xfrm>
          <a:prstGeom prst="rect">
            <a:avLst/>
          </a:prstGeom>
          <a:solidFill>
            <a:srgbClr val="00F0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73152"/>
            <a:ext cx="9144000" cy="18288"/>
          </a:xfrm>
          <a:prstGeom prst="rect">
            <a:avLst/>
          </a:prstGeom>
          <a:solidFill>
            <a:srgbClr val="00F0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146304"/>
            <a:ext cx="9144000" cy="18288"/>
          </a:xfrm>
          <a:prstGeom prst="rect">
            <a:avLst/>
          </a:prstGeom>
          <a:solidFill>
            <a:srgbClr val="00F0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0" y="219456"/>
            <a:ext cx="9144000" cy="18288"/>
          </a:xfrm>
          <a:prstGeom prst="rect">
            <a:avLst/>
          </a:prstGeom>
          <a:solidFill>
            <a:srgbClr val="00F0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292608"/>
            <a:ext cx="9144000" cy="18288"/>
          </a:xfrm>
          <a:prstGeom prst="rect">
            <a:avLst/>
          </a:prstGeom>
          <a:solidFill>
            <a:srgbClr val="00F0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365760"/>
            <a:ext cx="9144000" cy="18288"/>
          </a:xfrm>
          <a:prstGeom prst="rect">
            <a:avLst/>
          </a:prstGeom>
          <a:solidFill>
            <a:srgbClr val="00F0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438912"/>
            <a:ext cx="9144000" cy="18288"/>
          </a:xfrm>
          <a:prstGeom prst="rect">
            <a:avLst/>
          </a:prstGeom>
          <a:solidFill>
            <a:srgbClr val="00F0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512064"/>
            <a:ext cx="9144000" cy="18288"/>
          </a:xfrm>
          <a:prstGeom prst="rect">
            <a:avLst/>
          </a:prstGeom>
          <a:solidFill>
            <a:srgbClr val="00F0FF">
              <a:alpha val="3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1664208"/>
            <a:ext cx="822960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228600" dist="50800" dir="8100000">
              <a:srgbClr val="00F0FF">
                <a:alpha val="25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spc="800" kern="0" dirty="0">
                <a:solidFill>
                  <a:srgbClr val="00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CIVICEYE PRO</a:t>
            </a:r>
            <a:endParaRPr lang="en-US" sz="5400" dirty="0"/>
          </a:p>
        </p:txBody>
      </p:sp>
      <p:sp>
        <p:nvSpPr>
          <p:cNvPr id="19" name="Text 17"/>
          <p:cNvSpPr/>
          <p:nvPr/>
        </p:nvSpPr>
        <p:spPr>
          <a:xfrm>
            <a:off x="457200" y="2542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spc="600" kern="0" dirty="0">
                <a:solidFill>
                  <a:srgbClr val="7B2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v6.0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57200" y="294436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Holographic AI-Powered Civic Governance Platform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94360" y="3419856"/>
            <a:ext cx="1188720" cy="219456"/>
          </a:xfrm>
          <a:prstGeom prst="rect">
            <a:avLst/>
          </a:prstGeom>
          <a:solidFill>
            <a:srgbClr val="0A84FF">
              <a:alpha val="20000"/>
            </a:srgbClr>
          </a:solidFill>
          <a:ln w="11430">
            <a:solidFill>
              <a:srgbClr val="0A84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3419856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A8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🔐 Real Auth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1947672" y="3419856"/>
            <a:ext cx="1188720" cy="219456"/>
          </a:xfrm>
          <a:prstGeom prst="rect">
            <a:avLst/>
          </a:prstGeom>
          <a:solidFill>
            <a:srgbClr val="7B2FFF">
              <a:alpha val="20000"/>
            </a:srgbClr>
          </a:solidFill>
          <a:ln w="11430">
            <a:solidFill>
              <a:srgbClr val="7B2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947672" y="3419856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7B2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🧠 AI Engine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300984" y="3419856"/>
            <a:ext cx="1188720" cy="219456"/>
          </a:xfrm>
          <a:prstGeom prst="rect">
            <a:avLst/>
          </a:prstGeom>
          <a:solidFill>
            <a:srgbClr val="00F0FF">
              <a:alpha val="20000"/>
            </a:srgbClr>
          </a:solidFill>
          <a:ln w="11430">
            <a:solidFill>
              <a:srgbClr val="00F0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00984" y="3419856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⛓ Blockchain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654296" y="3419856"/>
            <a:ext cx="1266444" cy="219456"/>
          </a:xfrm>
          <a:prstGeom prst="rect">
            <a:avLst/>
          </a:prstGeom>
          <a:solidFill>
            <a:srgbClr val="00FF88">
              <a:alpha val="20000"/>
            </a:srgbClr>
          </a:solidFill>
          <a:ln w="11430">
            <a:solidFill>
              <a:srgbClr val="00FF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54296" y="3419856"/>
            <a:ext cx="12664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🤖 Automation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6007608" y="3419856"/>
            <a:ext cx="1266444" cy="219456"/>
          </a:xfrm>
          <a:prstGeom prst="rect">
            <a:avLst/>
          </a:prstGeom>
          <a:solidFill>
            <a:srgbClr val="FFB800">
              <a:alpha val="20000"/>
            </a:srgbClr>
          </a:solidFill>
          <a:ln w="11430">
            <a:solidFill>
              <a:srgbClr val="FFB8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07608" y="3419856"/>
            <a:ext cx="12664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B8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💬 AI Support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7360920" y="3419856"/>
            <a:ext cx="1110996" cy="219456"/>
          </a:xfrm>
          <a:prstGeom prst="rect">
            <a:avLst/>
          </a:prstGeom>
          <a:solidFill>
            <a:srgbClr val="FF2D55">
              <a:alpha val="20000"/>
            </a:srgbClr>
          </a:solidFill>
          <a:ln w="11430">
            <a:solidFill>
              <a:srgbClr val="FF2D5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60920" y="3419856"/>
            <a:ext cx="11109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2D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🎹 Piano UI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457200" y="3877056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50" kern="0" dirty="0">
                <a:solidFill>
                  <a:srgbClr val="3A60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Real Auth · AI Classification · Blockchain · 8-Job Automation · AI Support · PWA · ₹0/month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011680" y="4160520"/>
            <a:ext cx="5120640" cy="685800"/>
          </a:xfrm>
          <a:prstGeom prst="rect">
            <a:avLst/>
          </a:prstGeom>
          <a:solidFill>
            <a:srgbClr val="051525"/>
          </a:solidFill>
          <a:ln w="12700">
            <a:solidFill>
              <a:srgbClr val="7B2FFF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1956816" y="4105656"/>
            <a:ext cx="109728" cy="109728"/>
          </a:xfrm>
          <a:prstGeom prst="ellipse">
            <a:avLst/>
          </a:prstGeom>
          <a:solidFill>
            <a:srgbClr val="00F0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077456" y="4105656"/>
            <a:ext cx="109728" cy="109728"/>
          </a:xfrm>
          <a:prstGeom prst="ellipse">
            <a:avLst/>
          </a:prstGeom>
          <a:solidFill>
            <a:srgbClr val="00F0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956816" y="4791456"/>
            <a:ext cx="109728" cy="109728"/>
          </a:xfrm>
          <a:prstGeom prst="ellipse">
            <a:avLst/>
          </a:prstGeom>
          <a:solidFill>
            <a:srgbClr val="00F0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77456" y="4791456"/>
            <a:ext cx="109728" cy="109728"/>
          </a:xfrm>
          <a:prstGeom prst="ellipse">
            <a:avLst/>
          </a:prstGeom>
          <a:solidFill>
            <a:srgbClr val="00F0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011680" y="416052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Team: Riya Thakur  ·  Anjali Prajapat  ·  Ritik Joshi  ·  Sandeep Chauhan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1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6400800" cy="5486400"/>
          </a:xfrm>
          <a:prstGeom prst="ellipse">
            <a:avLst/>
          </a:prstGeom>
          <a:solidFill>
            <a:srgbClr val="7B2FFF">
              <a:alpha val="9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0" y="2743200"/>
            <a:ext cx="5486400" cy="4572000"/>
          </a:xfrm>
          <a:prstGeom prst="ellipse">
            <a:avLst/>
          </a:prstGeom>
          <a:solidFill>
            <a:srgbClr val="00F0FF">
              <a:alpha val="7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-914400"/>
            <a:ext cx="3657600" cy="2743200"/>
          </a:xfrm>
          <a:prstGeom prst="ellipse">
            <a:avLst/>
          </a:prstGeom>
          <a:solidFill>
            <a:srgbClr val="0A84FF">
              <a:alpha val="6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64592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FF2D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02  ·  PROBLEM STATEMENT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365760" y="292608"/>
            <a:ext cx="73152" cy="502920"/>
          </a:xfrm>
          <a:prstGeom prst="rect">
            <a:avLst/>
          </a:prstGeom>
          <a:solidFill>
            <a:srgbClr val="FF2D55"/>
          </a:solidFill>
          <a:ln w="12700">
            <a:solidFill>
              <a:srgbClr val="000000"/>
            </a:solidFill>
            <a:prstDash val="solid"/>
          </a:ln>
          <a:effectLst>
            <a:outerShdw sx="100000" sy="100000" kx="0" ky="0" algn="bl" rotWithShape="0" blurRad="228600" dist="50800" dir="8100000">
              <a:srgbClr val="FF2D55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We Solve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320040" y="987552"/>
            <a:ext cx="4224528" cy="1115568"/>
          </a:xfrm>
          <a:prstGeom prst="rect">
            <a:avLst/>
          </a:prstGeom>
          <a:solidFill>
            <a:srgbClr val="051525"/>
          </a:solidFill>
          <a:ln w="12700">
            <a:solidFill>
              <a:srgbClr val="FF2D55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987552"/>
            <a:ext cx="54864" cy="1115568"/>
          </a:xfrm>
          <a:prstGeom prst="rect">
            <a:avLst/>
          </a:prstGeom>
          <a:solidFill>
            <a:srgbClr val="FF2D5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70248" y="1042416"/>
            <a:ext cx="201168" cy="201168"/>
          </a:xfrm>
          <a:prstGeom prst="ellipse">
            <a:avLst/>
          </a:prstGeom>
          <a:solidFill>
            <a:srgbClr val="FF2D55">
              <a:alpha val="30000"/>
            </a:srgbClr>
          </a:solidFill>
          <a:ln w="6350">
            <a:solidFill>
              <a:srgbClr val="FF2D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70248" y="104241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2D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02920" y="107899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Manual Classification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1389888"/>
            <a:ext cx="3749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Complaints manually sorted — weeks of delay. No urgency scoring system.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82312" y="987552"/>
            <a:ext cx="4224528" cy="1115568"/>
          </a:xfrm>
          <a:prstGeom prst="rect">
            <a:avLst/>
          </a:prstGeom>
          <a:solidFill>
            <a:srgbClr val="051525"/>
          </a:solidFill>
          <a:ln w="12700">
            <a:solidFill>
              <a:srgbClr val="FF6D00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82312" y="987552"/>
            <a:ext cx="54864" cy="1115568"/>
          </a:xfrm>
          <a:prstGeom prst="rect">
            <a:avLst/>
          </a:prstGeom>
          <a:solidFill>
            <a:srgbClr val="FF6D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732520" y="1042416"/>
            <a:ext cx="201168" cy="201168"/>
          </a:xfrm>
          <a:prstGeom prst="ellipse">
            <a:avLst/>
          </a:prstGeom>
          <a:solidFill>
            <a:srgbClr val="FF6D00">
              <a:alpha val="30000"/>
            </a:srgbClr>
          </a:solidFill>
          <a:ln w="6350">
            <a:solidFill>
              <a:srgbClr val="FF6D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732520" y="104241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6D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4965192" y="107899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🚫  Zero Corruption Detection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65192" y="1389888"/>
            <a:ext cx="3749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Bribery &amp; corruption go unreported. No whistleblower protection system.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0040" y="2267712"/>
            <a:ext cx="4224528" cy="1115568"/>
          </a:xfrm>
          <a:prstGeom prst="rect">
            <a:avLst/>
          </a:prstGeom>
          <a:solidFill>
            <a:srgbClr val="051525"/>
          </a:solidFill>
          <a:ln w="12700">
            <a:solidFill>
              <a:srgbClr val="7B2FFF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0040" y="2267712"/>
            <a:ext cx="54864" cy="1115568"/>
          </a:xfrm>
          <a:prstGeom prst="rect">
            <a:avLst/>
          </a:prstGeom>
          <a:solidFill>
            <a:srgbClr val="7B2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70248" y="2322576"/>
            <a:ext cx="201168" cy="201168"/>
          </a:xfrm>
          <a:prstGeom prst="ellipse">
            <a:avLst/>
          </a:prstGeom>
          <a:solidFill>
            <a:srgbClr val="7B2FFF">
              <a:alpha val="30000"/>
            </a:srgbClr>
          </a:solidFill>
          <a:ln w="6350">
            <a:solidFill>
              <a:srgbClr val="7B2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70248" y="232257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7B2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502920" y="235915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2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📭  No Audit Trail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02920" y="2670048"/>
            <a:ext cx="3749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transparency. Officers can delete or modify records easily.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782312" y="2267712"/>
            <a:ext cx="4224528" cy="1115568"/>
          </a:xfrm>
          <a:prstGeom prst="rect">
            <a:avLst/>
          </a:prstGeom>
          <a:solidFill>
            <a:srgbClr val="051525"/>
          </a:solidFill>
          <a:ln w="12700">
            <a:solidFill>
              <a:srgbClr val="FFB800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82312" y="2267712"/>
            <a:ext cx="54864" cy="1115568"/>
          </a:xfrm>
          <a:prstGeom prst="rect">
            <a:avLst/>
          </a:prstGeom>
          <a:solidFill>
            <a:srgbClr val="FFB8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32520" y="2322576"/>
            <a:ext cx="201168" cy="201168"/>
          </a:xfrm>
          <a:prstGeom prst="ellipse">
            <a:avLst/>
          </a:prstGeom>
          <a:solidFill>
            <a:srgbClr val="FFB800">
              <a:alpha val="30000"/>
            </a:srgbClr>
          </a:solidFill>
          <a:ln w="6350">
            <a:solidFill>
              <a:srgbClr val="FFB8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32520" y="232257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B8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965192" y="235915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⏳  No Auto-Escalation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965192" y="2670048"/>
            <a:ext cx="3749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breaches ignored. No automated officer assignment system.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20040" y="3547872"/>
            <a:ext cx="4224528" cy="1115568"/>
          </a:xfrm>
          <a:prstGeom prst="rect">
            <a:avLst/>
          </a:prstGeom>
          <a:solidFill>
            <a:srgbClr val="051525"/>
          </a:solidFill>
          <a:ln w="12700">
            <a:solidFill>
              <a:srgbClr val="0A84FF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320040" y="3547872"/>
            <a:ext cx="54864" cy="1115568"/>
          </a:xfrm>
          <a:prstGeom prst="rect">
            <a:avLst/>
          </a:prstGeom>
          <a:solidFill>
            <a:srgbClr val="0A84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270248" y="3602736"/>
            <a:ext cx="201168" cy="201168"/>
          </a:xfrm>
          <a:prstGeom prst="ellipse">
            <a:avLst/>
          </a:prstGeom>
          <a:solidFill>
            <a:srgbClr val="0A84FF">
              <a:alpha val="30000"/>
            </a:srgbClr>
          </a:solidFill>
          <a:ln w="6350">
            <a:solidFill>
              <a:srgbClr val="0A84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70248" y="360273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A8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502920" y="36393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8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📵  Citizens Left in Dark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02920" y="3950208"/>
            <a:ext cx="3749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real-time updates. No WhatsApp alerts. No complaint tracking.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782312" y="3547872"/>
            <a:ext cx="4224528" cy="1115568"/>
          </a:xfrm>
          <a:prstGeom prst="rect">
            <a:avLst/>
          </a:prstGeom>
          <a:solidFill>
            <a:srgbClr val="051525"/>
          </a:solidFill>
          <a:ln w="12700">
            <a:solidFill>
              <a:srgbClr val="FF2D55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782312" y="3547872"/>
            <a:ext cx="54864" cy="1115568"/>
          </a:xfrm>
          <a:prstGeom prst="rect">
            <a:avLst/>
          </a:prstGeom>
          <a:solidFill>
            <a:srgbClr val="FF2D5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732520" y="3602736"/>
            <a:ext cx="201168" cy="201168"/>
          </a:xfrm>
          <a:prstGeom prst="ellipse">
            <a:avLst/>
          </a:prstGeom>
          <a:solidFill>
            <a:srgbClr val="FF2D55">
              <a:alpha val="30000"/>
            </a:srgbClr>
          </a:solidFill>
          <a:ln w="6350">
            <a:solidFill>
              <a:srgbClr val="FF2D5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732520" y="360273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2D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4965192" y="36393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💸  Crores Wasted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965192" y="3950208"/>
            <a:ext cx="3749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CPGRAMS cost ₹100s of crores to build — handles less than 5% volume.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320040" y="4681728"/>
            <a:ext cx="8503920" cy="256032"/>
          </a:xfrm>
          <a:prstGeom prst="rect">
            <a:avLst/>
          </a:prstGeom>
          <a:solidFill>
            <a:srgbClr val="FF2D55">
              <a:alpha val="18000"/>
            </a:srgbClr>
          </a:solidFill>
          <a:ln w="10160">
            <a:solidFill>
              <a:srgbClr val="FF2D5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0040" y="4681728"/>
            <a:ext cx="8503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8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receives 50M+ civic complaints annually — 70% never resolved on time.  CivicEye fixes this.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1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6400800" cy="5486400"/>
          </a:xfrm>
          <a:prstGeom prst="ellipse">
            <a:avLst/>
          </a:prstGeom>
          <a:solidFill>
            <a:srgbClr val="7B2FFF">
              <a:alpha val="9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0" y="2743200"/>
            <a:ext cx="5486400" cy="4572000"/>
          </a:xfrm>
          <a:prstGeom prst="ellipse">
            <a:avLst/>
          </a:prstGeom>
          <a:solidFill>
            <a:srgbClr val="00F0FF">
              <a:alpha val="7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-914400"/>
            <a:ext cx="3657600" cy="2743200"/>
          </a:xfrm>
          <a:prstGeom prst="ellipse">
            <a:avLst/>
          </a:prstGeom>
          <a:solidFill>
            <a:srgbClr val="0A84FF">
              <a:alpha val="6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64592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03  ·  OUR SOLUTION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365760" y="292608"/>
            <a:ext cx="73152" cy="475488"/>
          </a:xfrm>
          <a:prstGeom prst="rect">
            <a:avLst/>
          </a:prstGeom>
          <a:solidFill>
            <a:srgbClr val="00F0FF"/>
          </a:solidFill>
          <a:ln w="12700">
            <a:solidFill>
              <a:srgbClr val="000000"/>
            </a:solidFill>
            <a:prstDash val="solid"/>
          </a:ln>
          <a:effectLst>
            <a:outerShdw sx="100000" sy="100000" kx="0" ky="0" algn="bl" rotWithShape="0" blurRad="228600" dist="50800" dir="8100000">
              <a:srgbClr val="00F0FF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29260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CivicEye Pro — One Platform, Everything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274320" y="987552"/>
            <a:ext cx="2011680" cy="1572768"/>
          </a:xfrm>
          <a:prstGeom prst="rect">
            <a:avLst/>
          </a:prstGeom>
          <a:solidFill>
            <a:srgbClr val="051525"/>
          </a:solidFill>
          <a:ln w="12700">
            <a:solidFill>
              <a:srgbClr val="0A84FF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" y="987552"/>
            <a:ext cx="2011680" cy="45720"/>
          </a:xfrm>
          <a:prstGeom prst="rect">
            <a:avLst/>
          </a:prstGeom>
          <a:solidFill>
            <a:srgbClr val="0A84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11680" y="1042416"/>
            <a:ext cx="164592" cy="164592"/>
          </a:xfrm>
          <a:prstGeom prst="ellipse">
            <a:avLst/>
          </a:prstGeom>
          <a:solidFill>
            <a:srgbClr val="0A84FF">
              <a:alpha val="40000"/>
            </a:srgbClr>
          </a:solidFill>
          <a:ln w="6350">
            <a:solidFill>
              <a:srgbClr val="0A84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07899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🔐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65760" y="1481328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8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Auth + OTP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5760" y="1737360"/>
            <a:ext cx="18470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registration with OTP. Session persistence. Secure citizen accounts.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2450592" y="987552"/>
            <a:ext cx="2011680" cy="1572768"/>
          </a:xfrm>
          <a:prstGeom prst="rect">
            <a:avLst/>
          </a:prstGeom>
          <a:solidFill>
            <a:srgbClr val="051525"/>
          </a:solidFill>
          <a:ln w="12700">
            <a:solidFill>
              <a:srgbClr val="7B2FFF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450592" y="987552"/>
            <a:ext cx="2011680" cy="45720"/>
          </a:xfrm>
          <a:prstGeom prst="rect">
            <a:avLst/>
          </a:prstGeom>
          <a:solidFill>
            <a:srgbClr val="7B2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87952" y="1042416"/>
            <a:ext cx="164592" cy="164592"/>
          </a:xfrm>
          <a:prstGeom prst="ellipse">
            <a:avLst/>
          </a:prstGeom>
          <a:solidFill>
            <a:srgbClr val="7B2FFF">
              <a:alpha val="40000"/>
            </a:srgbClr>
          </a:solidFill>
          <a:ln w="6350">
            <a:solidFill>
              <a:srgbClr val="7B2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50592" y="107899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🧠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542032" y="1481328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B2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Classifier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542032" y="1737360"/>
            <a:ext cx="18470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categories auto-detected. Urgency 0–100. Corruption flagged instantly.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4626864" y="987552"/>
            <a:ext cx="2011680" cy="1572768"/>
          </a:xfrm>
          <a:prstGeom prst="rect">
            <a:avLst/>
          </a:prstGeom>
          <a:solidFill>
            <a:srgbClr val="051525"/>
          </a:solidFill>
          <a:ln w="12700">
            <a:solidFill>
              <a:srgbClr val="00F0FF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26864" y="987552"/>
            <a:ext cx="2011680" cy="45720"/>
          </a:xfrm>
          <a:prstGeom prst="rect">
            <a:avLst/>
          </a:prstGeom>
          <a:solidFill>
            <a:srgbClr val="00F0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64224" y="1042416"/>
            <a:ext cx="164592" cy="164592"/>
          </a:xfrm>
          <a:prstGeom prst="ellipse">
            <a:avLst/>
          </a:prstGeom>
          <a:solidFill>
            <a:srgbClr val="00F0FF">
              <a:alpha val="40000"/>
            </a:srgbClr>
          </a:solidFill>
          <a:ln w="6350">
            <a:solidFill>
              <a:srgbClr val="00F0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26864" y="107899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⛓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18304" y="1481328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Trail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718304" y="1737360"/>
            <a:ext cx="18470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cryptographically hashed. Tamper-proof. Permanent audit.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6803136" y="987552"/>
            <a:ext cx="2011680" cy="1572768"/>
          </a:xfrm>
          <a:prstGeom prst="rect">
            <a:avLst/>
          </a:prstGeom>
          <a:solidFill>
            <a:srgbClr val="051525"/>
          </a:solidFill>
          <a:ln w="12700">
            <a:solidFill>
              <a:srgbClr val="00FF88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803136" y="987552"/>
            <a:ext cx="2011680" cy="45720"/>
          </a:xfrm>
          <a:prstGeom prst="rect">
            <a:avLst/>
          </a:prstGeom>
          <a:solidFill>
            <a:srgbClr val="00FF8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540496" y="1042416"/>
            <a:ext cx="164592" cy="164592"/>
          </a:xfrm>
          <a:prstGeom prst="ellipse">
            <a:avLst/>
          </a:prstGeom>
          <a:solidFill>
            <a:srgbClr val="00FF88">
              <a:alpha val="40000"/>
            </a:srgbClr>
          </a:solidFill>
          <a:ln w="6350">
            <a:solidFill>
              <a:srgbClr val="00FF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03136" y="107899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894576" y="1481328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8-Job Automation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894576" y="1737360"/>
            <a:ext cx="18470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 autonomous jobs. Auto-assign, escalate, alert. Zero humans needed.</a:t>
            </a:r>
            <a:endParaRPr lang="en-US" sz="780" dirty="0"/>
          </a:p>
        </p:txBody>
      </p:sp>
      <p:sp>
        <p:nvSpPr>
          <p:cNvPr id="32" name="Shape 30"/>
          <p:cNvSpPr/>
          <p:nvPr/>
        </p:nvSpPr>
        <p:spPr>
          <a:xfrm>
            <a:off x="274320" y="2724912"/>
            <a:ext cx="2011680" cy="1572768"/>
          </a:xfrm>
          <a:prstGeom prst="rect">
            <a:avLst/>
          </a:prstGeom>
          <a:solidFill>
            <a:srgbClr val="051525"/>
          </a:solidFill>
          <a:ln w="12700">
            <a:solidFill>
              <a:srgbClr val="FFB800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274320" y="2724912"/>
            <a:ext cx="2011680" cy="45720"/>
          </a:xfrm>
          <a:prstGeom prst="rect">
            <a:avLst/>
          </a:prstGeom>
          <a:solidFill>
            <a:srgbClr val="FFB8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11680" y="2779776"/>
            <a:ext cx="164592" cy="164592"/>
          </a:xfrm>
          <a:prstGeom prst="ellipse">
            <a:avLst/>
          </a:prstGeom>
          <a:solidFill>
            <a:srgbClr val="FFB800">
              <a:alpha val="40000"/>
            </a:srgbClr>
          </a:solidFill>
          <a:ln w="6350">
            <a:solidFill>
              <a:srgbClr val="FFB8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" y="281635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365760" y="3218688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Support Agent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65760" y="3474720"/>
            <a:ext cx="18470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+ English chatbot. Status tracking, guidance, 1s response time.</a:t>
            </a:r>
            <a:endParaRPr lang="en-US" sz="780" dirty="0"/>
          </a:p>
        </p:txBody>
      </p:sp>
      <p:sp>
        <p:nvSpPr>
          <p:cNvPr id="38" name="Shape 36"/>
          <p:cNvSpPr/>
          <p:nvPr/>
        </p:nvSpPr>
        <p:spPr>
          <a:xfrm>
            <a:off x="2450592" y="2724912"/>
            <a:ext cx="2011680" cy="1572768"/>
          </a:xfrm>
          <a:prstGeom prst="rect">
            <a:avLst/>
          </a:prstGeom>
          <a:solidFill>
            <a:srgbClr val="051525"/>
          </a:solidFill>
          <a:ln w="12700">
            <a:solidFill>
              <a:srgbClr val="25D366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2450592" y="2724912"/>
            <a:ext cx="2011680" cy="45720"/>
          </a:xfrm>
          <a:prstGeom prst="rect">
            <a:avLst/>
          </a:prstGeom>
          <a:solidFill>
            <a:srgbClr val="25D36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187952" y="2779776"/>
            <a:ext cx="164592" cy="164592"/>
          </a:xfrm>
          <a:prstGeom prst="ellipse">
            <a:avLst/>
          </a:prstGeom>
          <a:solidFill>
            <a:srgbClr val="25D366">
              <a:alpha val="40000"/>
            </a:srgbClr>
          </a:solidFill>
          <a:ln w="6350">
            <a:solidFill>
              <a:srgbClr val="25D3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450592" y="281635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📲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2542032" y="3218688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D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Alerts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542032" y="3474720"/>
            <a:ext cx="18470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notifications on file, resolve, escalate. Pre-formatted message.</a:t>
            </a:r>
            <a:endParaRPr lang="en-US" sz="780" dirty="0"/>
          </a:p>
        </p:txBody>
      </p:sp>
      <p:sp>
        <p:nvSpPr>
          <p:cNvPr id="44" name="Shape 42"/>
          <p:cNvSpPr/>
          <p:nvPr/>
        </p:nvSpPr>
        <p:spPr>
          <a:xfrm>
            <a:off x="4626864" y="2724912"/>
            <a:ext cx="2011680" cy="1572768"/>
          </a:xfrm>
          <a:prstGeom prst="rect">
            <a:avLst/>
          </a:prstGeom>
          <a:solidFill>
            <a:srgbClr val="051525"/>
          </a:solidFill>
          <a:ln w="12700">
            <a:solidFill>
              <a:srgbClr val="FF2D55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4626864" y="2724912"/>
            <a:ext cx="2011680" cy="45720"/>
          </a:xfrm>
          <a:prstGeom prst="rect">
            <a:avLst/>
          </a:prstGeom>
          <a:solidFill>
            <a:srgbClr val="FF2D5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4224" y="2779776"/>
            <a:ext cx="164592" cy="164592"/>
          </a:xfrm>
          <a:prstGeom prst="ellipse">
            <a:avLst/>
          </a:prstGeom>
          <a:solidFill>
            <a:srgbClr val="FF2D55">
              <a:alpha val="40000"/>
            </a:srgbClr>
          </a:solidFill>
          <a:ln w="6350">
            <a:solidFill>
              <a:srgbClr val="FF2D5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626864" y="281635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🎤</a:t>
            </a:r>
            <a:endParaRPr lang="en-US" sz="2200" dirty="0"/>
          </a:p>
        </p:txBody>
      </p:sp>
      <p:sp>
        <p:nvSpPr>
          <p:cNvPr id="48" name="Text 46"/>
          <p:cNvSpPr/>
          <p:nvPr/>
        </p:nvSpPr>
        <p:spPr>
          <a:xfrm>
            <a:off x="4718304" y="3218688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Voice Input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4718304" y="3474720"/>
            <a:ext cx="18470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Speech API. Citizens speak Hindi, AI transcribes &amp; classifies live.</a:t>
            </a:r>
            <a:endParaRPr lang="en-US" sz="780" dirty="0"/>
          </a:p>
        </p:txBody>
      </p:sp>
      <p:sp>
        <p:nvSpPr>
          <p:cNvPr id="50" name="Shape 48"/>
          <p:cNvSpPr/>
          <p:nvPr/>
        </p:nvSpPr>
        <p:spPr>
          <a:xfrm>
            <a:off x="6803136" y="2724912"/>
            <a:ext cx="2011680" cy="1572768"/>
          </a:xfrm>
          <a:prstGeom prst="rect">
            <a:avLst/>
          </a:prstGeom>
          <a:solidFill>
            <a:srgbClr val="051525"/>
          </a:solidFill>
          <a:ln w="12700">
            <a:solidFill>
              <a:srgbClr val="FF6D00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6803136" y="2724912"/>
            <a:ext cx="2011680" cy="45720"/>
          </a:xfrm>
          <a:prstGeom prst="rect">
            <a:avLst/>
          </a:prstGeom>
          <a:solidFill>
            <a:srgbClr val="FF6D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540496" y="2779776"/>
            <a:ext cx="164592" cy="164592"/>
          </a:xfrm>
          <a:prstGeom prst="ellipse">
            <a:avLst/>
          </a:prstGeom>
          <a:solidFill>
            <a:srgbClr val="FF6D00">
              <a:alpha val="40000"/>
            </a:srgbClr>
          </a:solidFill>
          <a:ln w="6350">
            <a:solidFill>
              <a:srgbClr val="FF6D0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03136" y="281635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📱</a:t>
            </a:r>
            <a:endParaRPr lang="en-US" sz="2200" dirty="0"/>
          </a:p>
        </p:txBody>
      </p:sp>
      <p:sp>
        <p:nvSpPr>
          <p:cNvPr id="54" name="Text 52"/>
          <p:cNvSpPr/>
          <p:nvPr/>
        </p:nvSpPr>
        <p:spPr>
          <a:xfrm>
            <a:off x="6894576" y="3218688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+ Offline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6894576" y="3474720"/>
            <a:ext cx="18470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Installable on any device. Works offline in demo mode. Native-like UX.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1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6400800" cy="5486400"/>
          </a:xfrm>
          <a:prstGeom prst="ellipse">
            <a:avLst/>
          </a:prstGeom>
          <a:solidFill>
            <a:srgbClr val="7B2FFF">
              <a:alpha val="9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0" y="2743200"/>
            <a:ext cx="5486400" cy="4572000"/>
          </a:xfrm>
          <a:prstGeom prst="ellipse">
            <a:avLst/>
          </a:prstGeom>
          <a:solidFill>
            <a:srgbClr val="00F0FF">
              <a:alpha val="7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-914400"/>
            <a:ext cx="3657600" cy="2743200"/>
          </a:xfrm>
          <a:prstGeom prst="ellipse">
            <a:avLst/>
          </a:prstGeom>
          <a:solidFill>
            <a:srgbClr val="0A84FF">
              <a:alpha val="6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64592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0A8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04  ·  HOW IT WORKS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365760" y="292608"/>
            <a:ext cx="73152" cy="457200"/>
          </a:xfrm>
          <a:prstGeom prst="rect">
            <a:avLst/>
          </a:prstGeom>
          <a:solidFill>
            <a:srgbClr val="0A84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Journey — Complaint to Resolution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713232" y="896112"/>
            <a:ext cx="621792" cy="621792"/>
          </a:xfrm>
          <a:prstGeom prst="ellipse">
            <a:avLst/>
          </a:prstGeom>
          <a:solidFill>
            <a:srgbClr val="0A84FF">
              <a:alpha val="20000"/>
            </a:srgbClr>
          </a:solidFill>
          <a:ln w="12700">
            <a:solidFill>
              <a:srgbClr val="0A84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" y="969264"/>
            <a:ext cx="475488" cy="475488"/>
          </a:xfrm>
          <a:prstGeom prst="ellipse">
            <a:avLst/>
          </a:prstGeom>
          <a:solidFill>
            <a:srgbClr val="0A84FF"/>
          </a:solidFill>
          <a:ln w="12700">
            <a:solidFill>
              <a:srgbClr val="000000"/>
            </a:solidFill>
            <a:prstDash val="solid"/>
          </a:ln>
          <a:effectLst>
            <a:outerShdw sx="100000" sy="100000" kx="0" ky="0" algn="bl" rotWithShape="0" blurRad="228600" dist="50800" dir="8100000">
              <a:srgbClr val="0A84FF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86384" y="969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91640" y="1188720"/>
            <a:ext cx="320040" cy="36576"/>
          </a:xfrm>
          <a:prstGeom prst="rect">
            <a:avLst/>
          </a:prstGeom>
          <a:solidFill>
            <a:srgbClr val="0A84FF">
              <a:alpha val="5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93392" y="1152144"/>
            <a:ext cx="36576" cy="109728"/>
          </a:xfrm>
          <a:prstGeom prst="rect">
            <a:avLst/>
          </a:prstGeom>
          <a:solidFill>
            <a:srgbClr val="0A84FF">
              <a:alpha val="5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" y="1627632"/>
            <a:ext cx="1389888" cy="2697480"/>
          </a:xfrm>
          <a:prstGeom prst="rect">
            <a:avLst/>
          </a:prstGeom>
          <a:solidFill>
            <a:srgbClr val="051525"/>
          </a:solidFill>
          <a:ln w="12700">
            <a:solidFill>
              <a:srgbClr val="0A84FF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1627632"/>
            <a:ext cx="45720" cy="2697480"/>
          </a:xfrm>
          <a:prstGeom prst="rect">
            <a:avLst/>
          </a:prstGeom>
          <a:solidFill>
            <a:srgbClr val="0A84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719072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📱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65760" y="221284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8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5760" y="2514600"/>
            <a:ext cx="1234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+ OTP verification.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citizen account.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176272" y="896112"/>
            <a:ext cx="621792" cy="621792"/>
          </a:xfrm>
          <a:prstGeom prst="ellipse">
            <a:avLst/>
          </a:prstGeom>
          <a:solidFill>
            <a:srgbClr val="7B2FFF">
              <a:alpha val="20000"/>
            </a:srgbClr>
          </a:solidFill>
          <a:ln w="12700">
            <a:solidFill>
              <a:srgbClr val="7B2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49424" y="969264"/>
            <a:ext cx="475488" cy="475488"/>
          </a:xfrm>
          <a:prstGeom prst="ellipse">
            <a:avLst/>
          </a:prstGeom>
          <a:solidFill>
            <a:srgbClr val="7B2FFF"/>
          </a:solidFill>
          <a:ln w="12700">
            <a:solidFill>
              <a:srgbClr val="000000"/>
            </a:solidFill>
            <a:prstDash val="solid"/>
          </a:ln>
          <a:effectLst>
            <a:outerShdw sx="100000" sy="100000" kx="0" ky="0" algn="bl" rotWithShape="0" blurRad="228600" dist="50800" dir="8100000">
              <a:srgbClr val="7B2FFF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249424" y="969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154680" y="1188720"/>
            <a:ext cx="320040" cy="36576"/>
          </a:xfrm>
          <a:prstGeom prst="rect">
            <a:avLst/>
          </a:prstGeom>
          <a:solidFill>
            <a:srgbClr val="7B2FFF">
              <a:alpha val="5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56432" y="1152144"/>
            <a:ext cx="36576" cy="109728"/>
          </a:xfrm>
          <a:prstGeom prst="rect">
            <a:avLst/>
          </a:prstGeom>
          <a:solidFill>
            <a:srgbClr val="7B2FFF">
              <a:alpha val="5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37360" y="1627632"/>
            <a:ext cx="1389888" cy="2697480"/>
          </a:xfrm>
          <a:prstGeom prst="rect">
            <a:avLst/>
          </a:prstGeom>
          <a:solidFill>
            <a:srgbClr val="051525"/>
          </a:solidFill>
          <a:ln w="12700">
            <a:solidFill>
              <a:srgbClr val="7B2FFF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1737360" y="1627632"/>
            <a:ext cx="45720" cy="2697480"/>
          </a:xfrm>
          <a:prstGeom prst="rect">
            <a:avLst/>
          </a:prstGeom>
          <a:solidFill>
            <a:srgbClr val="7B2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737360" y="1719072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🎤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1828800" y="221284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2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828800" y="2514600"/>
            <a:ext cx="1234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or speak in Hindi.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location, details.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39312" y="896112"/>
            <a:ext cx="621792" cy="621792"/>
          </a:xfrm>
          <a:prstGeom prst="ellipse">
            <a:avLst/>
          </a:prstGeom>
          <a:solidFill>
            <a:srgbClr val="00F0FF">
              <a:alpha val="20000"/>
            </a:srgbClr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12464" y="969264"/>
            <a:ext cx="475488" cy="475488"/>
          </a:xfrm>
          <a:prstGeom prst="ellipse">
            <a:avLst/>
          </a:prstGeom>
          <a:solidFill>
            <a:srgbClr val="00F0FF"/>
          </a:solidFill>
          <a:ln w="12700">
            <a:solidFill>
              <a:srgbClr val="000000"/>
            </a:solidFill>
            <a:prstDash val="solid"/>
          </a:ln>
          <a:effectLst>
            <a:outerShdw sx="100000" sy="100000" kx="0" ky="0" algn="bl" rotWithShape="0" blurRad="228600" dist="50800" dir="8100000">
              <a:srgbClr val="00F0FF">
                <a:alpha val="2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3712464" y="969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617720" y="1188720"/>
            <a:ext cx="320040" cy="36576"/>
          </a:xfrm>
          <a:prstGeom prst="rect">
            <a:avLst/>
          </a:prstGeom>
          <a:solidFill>
            <a:srgbClr val="00F0FF">
              <a:alpha val="5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919472" y="1152144"/>
            <a:ext cx="36576" cy="109728"/>
          </a:xfrm>
          <a:prstGeom prst="rect">
            <a:avLst/>
          </a:prstGeom>
          <a:solidFill>
            <a:srgbClr val="00F0FF">
              <a:alpha val="5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00400" y="1627632"/>
            <a:ext cx="1389888" cy="2697480"/>
          </a:xfrm>
          <a:prstGeom prst="rect">
            <a:avLst/>
          </a:prstGeom>
          <a:solidFill>
            <a:srgbClr val="051525"/>
          </a:solidFill>
          <a:ln w="12700">
            <a:solidFill>
              <a:srgbClr val="00F0FF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00400" y="1627632"/>
            <a:ext cx="45720" cy="2697480"/>
          </a:xfrm>
          <a:prstGeom prst="rect">
            <a:avLst/>
          </a:prstGeom>
          <a:solidFill>
            <a:srgbClr val="00F0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00400" y="1719072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🧠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3291840" y="221284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Analyzes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291840" y="2514600"/>
            <a:ext cx="1234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Category, score 0–100,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corruption check, SLA.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102352" y="896112"/>
            <a:ext cx="621792" cy="621792"/>
          </a:xfrm>
          <a:prstGeom prst="ellipse">
            <a:avLst/>
          </a:prstGeom>
          <a:solidFill>
            <a:srgbClr val="00FF88">
              <a:alpha val="20000"/>
            </a:srgbClr>
          </a:solidFill>
          <a:ln w="12700">
            <a:solidFill>
              <a:srgbClr val="00FF8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175504" y="969264"/>
            <a:ext cx="475488" cy="475488"/>
          </a:xfrm>
          <a:prstGeom prst="ellipse">
            <a:avLst/>
          </a:prstGeom>
          <a:solidFill>
            <a:srgbClr val="00FF88"/>
          </a:solidFill>
          <a:ln w="12700">
            <a:solidFill>
              <a:srgbClr val="000000"/>
            </a:solidFill>
            <a:prstDash val="solid"/>
          </a:ln>
          <a:effectLst>
            <a:outerShdw sx="100000" sy="100000" kx="0" ky="0" algn="bl" rotWithShape="0" blurRad="228600" dist="50800" dir="8100000">
              <a:srgbClr val="00FF88">
                <a:alpha val="2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175504" y="969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6080760" y="1188720"/>
            <a:ext cx="320040" cy="36576"/>
          </a:xfrm>
          <a:prstGeom prst="rect">
            <a:avLst/>
          </a:prstGeom>
          <a:solidFill>
            <a:srgbClr val="00FF88">
              <a:alpha val="5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82512" y="1152144"/>
            <a:ext cx="36576" cy="109728"/>
          </a:xfrm>
          <a:prstGeom prst="rect">
            <a:avLst/>
          </a:prstGeom>
          <a:solidFill>
            <a:srgbClr val="00FF88">
              <a:alpha val="5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0" y="1627632"/>
            <a:ext cx="1389888" cy="2697480"/>
          </a:xfrm>
          <a:prstGeom prst="rect">
            <a:avLst/>
          </a:prstGeom>
          <a:solidFill>
            <a:srgbClr val="051525"/>
          </a:solidFill>
          <a:ln w="12700">
            <a:solidFill>
              <a:srgbClr val="00FF88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4663440" y="1627632"/>
            <a:ext cx="45720" cy="2697480"/>
          </a:xfrm>
          <a:prstGeom prst="rect">
            <a:avLst/>
          </a:prstGeom>
          <a:solidFill>
            <a:srgbClr val="00FF8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663440" y="1719072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⛓</a:t>
            </a:r>
            <a:endParaRPr lang="en-US" sz="2400" dirty="0"/>
          </a:p>
        </p:txBody>
      </p:sp>
      <p:sp>
        <p:nvSpPr>
          <p:cNvPr id="46" name="Text 44"/>
          <p:cNvSpPr/>
          <p:nvPr/>
        </p:nvSpPr>
        <p:spPr>
          <a:xfrm>
            <a:off x="4754880" y="221284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754880" y="2514600"/>
            <a:ext cx="1234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generated.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Tamper-proof block added.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565392" y="896112"/>
            <a:ext cx="621792" cy="621792"/>
          </a:xfrm>
          <a:prstGeom prst="ellipse">
            <a:avLst/>
          </a:prstGeom>
          <a:solidFill>
            <a:srgbClr val="FFB800">
              <a:alpha val="20000"/>
            </a:srgbClr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638544" y="969264"/>
            <a:ext cx="475488" cy="475488"/>
          </a:xfrm>
          <a:prstGeom prst="ellipse">
            <a:avLst/>
          </a:prstGeom>
          <a:solidFill>
            <a:srgbClr val="FFB800"/>
          </a:solidFill>
          <a:ln w="12700">
            <a:solidFill>
              <a:srgbClr val="000000"/>
            </a:solidFill>
            <a:prstDash val="solid"/>
          </a:ln>
          <a:effectLst>
            <a:outerShdw sx="100000" sy="100000" kx="0" ky="0" algn="bl" rotWithShape="0" blurRad="228600" dist="50800" dir="8100000">
              <a:srgbClr val="FFB800">
                <a:alpha val="25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6638544" y="969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7543800" y="1188720"/>
            <a:ext cx="320040" cy="36576"/>
          </a:xfrm>
          <a:prstGeom prst="rect">
            <a:avLst/>
          </a:prstGeom>
          <a:solidFill>
            <a:srgbClr val="FFB800">
              <a:alpha val="5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845552" y="1152144"/>
            <a:ext cx="36576" cy="109728"/>
          </a:xfrm>
          <a:prstGeom prst="rect">
            <a:avLst/>
          </a:prstGeom>
          <a:solidFill>
            <a:srgbClr val="FFB800">
              <a:alpha val="5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126480" y="1627632"/>
            <a:ext cx="1389888" cy="2697480"/>
          </a:xfrm>
          <a:prstGeom prst="rect">
            <a:avLst/>
          </a:prstGeom>
          <a:solidFill>
            <a:srgbClr val="051525"/>
          </a:solidFill>
          <a:ln w="12700">
            <a:solidFill>
              <a:srgbClr val="FFB800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6126480" y="1627632"/>
            <a:ext cx="45720" cy="2697480"/>
          </a:xfrm>
          <a:prstGeom prst="rect">
            <a:avLst/>
          </a:prstGeom>
          <a:solidFill>
            <a:srgbClr val="FFB8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126480" y="1719072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👮</a:t>
            </a:r>
            <a:endParaRPr lang="en-US" sz="2400" dirty="0"/>
          </a:p>
        </p:txBody>
      </p:sp>
      <p:sp>
        <p:nvSpPr>
          <p:cNvPr id="56" name="Text 54"/>
          <p:cNvSpPr/>
          <p:nvPr/>
        </p:nvSpPr>
        <p:spPr>
          <a:xfrm>
            <a:off x="6217920" y="221284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Auto-Assign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217920" y="2514600"/>
            <a:ext cx="1234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 matched by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 + dept + grade.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8028432" y="896112"/>
            <a:ext cx="621792" cy="621792"/>
          </a:xfrm>
          <a:prstGeom prst="ellipse">
            <a:avLst/>
          </a:prstGeom>
          <a:solidFill>
            <a:srgbClr val="FF2D55">
              <a:alpha val="20000"/>
            </a:srgbClr>
          </a:solidFill>
          <a:ln w="12700">
            <a:solidFill>
              <a:srgbClr val="FF2D55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101584" y="969264"/>
            <a:ext cx="475488" cy="475488"/>
          </a:xfrm>
          <a:prstGeom prst="ellipse">
            <a:avLst/>
          </a:prstGeom>
          <a:solidFill>
            <a:srgbClr val="FF2D55"/>
          </a:solidFill>
          <a:ln w="12700">
            <a:solidFill>
              <a:srgbClr val="000000"/>
            </a:solidFill>
            <a:prstDash val="solid"/>
          </a:ln>
          <a:effectLst>
            <a:outerShdw sx="100000" sy="100000" kx="0" ky="0" algn="bl" rotWithShape="0" blurRad="228600" dist="50800" dir="8100000">
              <a:srgbClr val="FF2D55">
                <a:alpha val="2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8101584" y="969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7589520" y="1627632"/>
            <a:ext cx="1389888" cy="2697480"/>
          </a:xfrm>
          <a:prstGeom prst="rect">
            <a:avLst/>
          </a:prstGeom>
          <a:solidFill>
            <a:srgbClr val="051525"/>
          </a:solidFill>
          <a:ln w="12700">
            <a:solidFill>
              <a:srgbClr val="FF2D55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7589520" y="1627632"/>
            <a:ext cx="45720" cy="2697480"/>
          </a:xfrm>
          <a:prstGeom prst="rect">
            <a:avLst/>
          </a:prstGeom>
          <a:solidFill>
            <a:srgbClr val="FF2D5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589520" y="1719072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✅</a:t>
            </a:r>
            <a:endParaRPr lang="en-US" sz="2400" dirty="0"/>
          </a:p>
        </p:txBody>
      </p:sp>
      <p:sp>
        <p:nvSpPr>
          <p:cNvPr id="64" name="Text 62"/>
          <p:cNvSpPr/>
          <p:nvPr/>
        </p:nvSpPr>
        <p:spPr>
          <a:xfrm>
            <a:off x="7680960" y="221284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680960" y="2514600"/>
            <a:ext cx="1234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 resolves.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sent. Chain updated.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274320" y="4434840"/>
            <a:ext cx="8595360" cy="530352"/>
          </a:xfrm>
          <a:prstGeom prst="rect">
            <a:avLst/>
          </a:prstGeom>
          <a:solidFill>
            <a:srgbClr val="051525"/>
          </a:solidFill>
          <a:ln w="12700">
            <a:solidFill>
              <a:srgbClr val="00FF88"/>
            </a:solidFill>
            <a:prstDash val="solid"/>
          </a:ln>
          <a:effectLst>
            <a:outerShdw sx="100000" sy="100000" kx="0" ky="0" algn="bl" rotWithShape="0" blurRad="228600" dist="50800" dir="8100000">
              <a:srgbClr val="00FF88">
                <a:alpha val="2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411480" y="4434840"/>
            <a:ext cx="8321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0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AI Automation Engine runs 24/7 in background — SLA monitoring, escalations, blockchain logging, WhatsApp alerts — ZERO human intervention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1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6400800" cy="5486400"/>
          </a:xfrm>
          <a:prstGeom prst="ellipse">
            <a:avLst/>
          </a:prstGeom>
          <a:solidFill>
            <a:srgbClr val="7B2FFF">
              <a:alpha val="9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0" y="2743200"/>
            <a:ext cx="5486400" cy="4572000"/>
          </a:xfrm>
          <a:prstGeom prst="ellipse">
            <a:avLst/>
          </a:prstGeom>
          <a:solidFill>
            <a:srgbClr val="00F0FF">
              <a:alpha val="7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-914400"/>
            <a:ext cx="3657600" cy="2743200"/>
          </a:xfrm>
          <a:prstGeom prst="ellipse">
            <a:avLst/>
          </a:prstGeom>
          <a:solidFill>
            <a:srgbClr val="0A84FF">
              <a:alpha val="6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64592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7B2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05  ·  CORE TECHNOLOGY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365760" y="292608"/>
            <a:ext cx="73152" cy="457200"/>
          </a:xfrm>
          <a:prstGeom prst="rect">
            <a:avLst/>
          </a:prstGeom>
          <a:solidFill>
            <a:srgbClr val="7B2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 + Blockchain — Technical Deep Dive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92608" y="914400"/>
            <a:ext cx="4251960" cy="3977640"/>
          </a:xfrm>
          <a:prstGeom prst="rect">
            <a:avLst/>
          </a:prstGeom>
          <a:solidFill>
            <a:srgbClr val="051525"/>
          </a:solidFill>
          <a:ln w="15240">
            <a:solidFill>
              <a:srgbClr val="7B2FFF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92608" y="914400"/>
            <a:ext cx="54864" cy="3977640"/>
          </a:xfrm>
          <a:prstGeom prst="rect">
            <a:avLst/>
          </a:prstGeom>
          <a:solidFill>
            <a:srgbClr val="7B2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100584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2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 AI Classification Engine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" y="1426464"/>
            <a:ext cx="118872" cy="118872"/>
          </a:xfrm>
          <a:prstGeom prst="rect">
            <a:avLst/>
          </a:prstGeom>
          <a:solidFill>
            <a:srgbClr val="E8F4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6656" y="13898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Categories Auto-Detected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75488" y="1728216"/>
            <a:ext cx="118872" cy="118872"/>
          </a:xfrm>
          <a:prstGeom prst="rect">
            <a:avLst/>
          </a:prstGeom>
          <a:solidFill>
            <a:srgbClr val="FFB8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6656" y="16916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B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Urgency Score: 0–100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75488" y="2029968"/>
            <a:ext cx="118872" cy="118872"/>
          </a:xfrm>
          <a:prstGeom prst="rect">
            <a:avLst/>
          </a:prstGeom>
          <a:solidFill>
            <a:srgbClr val="FF2D5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6656" y="19933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Corruption Risk Detection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75488" y="2331720"/>
            <a:ext cx="118872" cy="118872"/>
          </a:xfrm>
          <a:prstGeom prst="rect">
            <a:avLst/>
          </a:prstGeom>
          <a:solidFill>
            <a:srgbClr val="00F0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656" y="22951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0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SLA: Critical 24h → Low 336h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75488" y="2633472"/>
            <a:ext cx="118872" cy="118872"/>
          </a:xfrm>
          <a:prstGeom prst="rect">
            <a:avLst/>
          </a:prstGeom>
          <a:solidFill>
            <a:srgbClr val="00FF8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" y="259689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0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 Score Display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75488" y="2935224"/>
            <a:ext cx="118872" cy="118872"/>
          </a:xfrm>
          <a:prstGeom prst="rect">
            <a:avLst/>
          </a:prstGeom>
          <a:solidFill>
            <a:srgbClr val="0A84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6656" y="28986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8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 Grade Auto-Matching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75488" y="3236976"/>
            <a:ext cx="118872" cy="118872"/>
          </a:xfrm>
          <a:prstGeom prst="rect">
            <a:avLst/>
          </a:prstGeom>
          <a:solidFill>
            <a:srgbClr val="7B2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" y="32004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2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Impact: Street / Ward / Zone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75488" y="3538728"/>
            <a:ext cx="118872" cy="118872"/>
          </a:xfrm>
          <a:prstGeom prst="rect">
            <a:avLst/>
          </a:prstGeom>
          <a:solidFill>
            <a:srgbClr val="E8F4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6656" y="35021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Voice Input 🎤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75488" y="391363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3A60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URGENCY LEVELS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475488" y="4114800"/>
            <a:ext cx="3044952" cy="109728"/>
          </a:xfrm>
          <a:prstGeom prst="rect">
            <a:avLst/>
          </a:prstGeom>
          <a:solidFill>
            <a:srgbClr val="FF2D55"/>
          </a:solidFill>
          <a:ln w="12700">
            <a:solidFill>
              <a:srgbClr val="000000"/>
            </a:solidFill>
            <a:prstDash val="solid"/>
          </a:ln>
          <a:effectLst>
            <a:outerShdw sx="100000" sy="100000" kx="0" ky="0" algn="bl" rotWithShape="0" blurRad="228600" dist="50800" dir="8100000">
              <a:srgbClr val="FF2D55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3611880" y="4114800"/>
            <a:ext cx="8046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FF2D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CRITICAL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475488" y="4288536"/>
            <a:ext cx="2368296" cy="109728"/>
          </a:xfrm>
          <a:prstGeom prst="rect">
            <a:avLst/>
          </a:prstGeom>
          <a:solidFill>
            <a:srgbClr val="FF6D00"/>
          </a:solidFill>
          <a:ln w="12700">
            <a:solidFill>
              <a:srgbClr val="000000"/>
            </a:solidFill>
            <a:prstDash val="solid"/>
          </a:ln>
          <a:effectLst>
            <a:outerShdw sx="100000" sy="100000" kx="0" ky="0" algn="bl" rotWithShape="0" blurRad="228600" dist="50800" dir="8100000">
              <a:srgbClr val="FF6D00">
                <a:alpha val="2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611880" y="4288536"/>
            <a:ext cx="8046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FF6D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75488" y="4462272"/>
            <a:ext cx="1759306" cy="109728"/>
          </a:xfrm>
          <a:prstGeom prst="rect">
            <a:avLst/>
          </a:prstGeom>
          <a:solidFill>
            <a:srgbClr val="FFB800"/>
          </a:solidFill>
          <a:ln w="12700">
            <a:solidFill>
              <a:srgbClr val="000000"/>
            </a:solidFill>
            <a:prstDash val="solid"/>
          </a:ln>
          <a:effectLst>
            <a:outerShdw sx="100000" sy="100000" kx="0" ky="0" algn="bl" rotWithShape="0" blurRad="228600" dist="50800" dir="8100000">
              <a:srgbClr val="FFB800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3611880" y="4462272"/>
            <a:ext cx="8046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FFB8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MEDIUM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75488" y="4636008"/>
            <a:ext cx="1184148" cy="109728"/>
          </a:xfrm>
          <a:prstGeom prst="rect">
            <a:avLst/>
          </a:prstGeom>
          <a:solidFill>
            <a:srgbClr val="00FF88"/>
          </a:solidFill>
          <a:ln w="12700">
            <a:solidFill>
              <a:srgbClr val="000000"/>
            </a:solidFill>
            <a:prstDash val="solid"/>
          </a:ln>
          <a:effectLst>
            <a:outerShdw sx="100000" sy="100000" kx="0" ky="0" algn="bl" rotWithShape="0" blurRad="228600" dist="50800" dir="8100000">
              <a:srgbClr val="00FF88">
                <a:alpha val="2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3611880" y="4636008"/>
            <a:ext cx="8046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4709160" y="914400"/>
            <a:ext cx="4133088" cy="3977640"/>
          </a:xfrm>
          <a:prstGeom prst="rect">
            <a:avLst/>
          </a:prstGeom>
          <a:solidFill>
            <a:srgbClr val="051525"/>
          </a:solidFill>
          <a:ln w="15240">
            <a:solidFill>
              <a:srgbClr val="00F0FF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709160" y="914400"/>
            <a:ext cx="54864" cy="3977640"/>
          </a:xfrm>
          <a:prstGeom prst="rect">
            <a:avLst/>
          </a:prstGeom>
          <a:solidFill>
            <a:srgbClr val="00F0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92040" y="1005840"/>
            <a:ext cx="3767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⛓  Blockchain Audit Trail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4828032" y="1426464"/>
            <a:ext cx="685800" cy="731520"/>
          </a:xfrm>
          <a:prstGeom prst="rect">
            <a:avLst/>
          </a:prstGeom>
          <a:solidFill>
            <a:srgbClr val="051E35"/>
          </a:solidFill>
          <a:ln w="11430">
            <a:solidFill>
              <a:srgbClr val="00F0FF"/>
            </a:solidFill>
            <a:prstDash val="solid"/>
          </a:ln>
          <a:effectLst>
            <a:outerShdw sx="100000" sy="100000" kx="0" ky="0" algn="bl" rotWithShape="0" blurRad="228600" dist="50800" dir="8100000">
              <a:srgbClr val="00F0FF">
                <a:alpha val="2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4828032" y="1472184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GENESIS</a:t>
            </a:r>
            <a:endParaRPr lang="en-US" sz="650" dirty="0"/>
          </a:p>
        </p:txBody>
      </p:sp>
      <p:sp>
        <p:nvSpPr>
          <p:cNvPr id="41" name="Shape 39"/>
          <p:cNvSpPr/>
          <p:nvPr/>
        </p:nvSpPr>
        <p:spPr>
          <a:xfrm>
            <a:off x="5513832" y="1755648"/>
            <a:ext cx="82296" cy="36576"/>
          </a:xfrm>
          <a:prstGeom prst="rect">
            <a:avLst/>
          </a:prstGeom>
          <a:solidFill>
            <a:srgbClr val="00F0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96128" y="1426464"/>
            <a:ext cx="685800" cy="731520"/>
          </a:xfrm>
          <a:prstGeom prst="rect">
            <a:avLst/>
          </a:prstGeom>
          <a:solidFill>
            <a:srgbClr val="051E35"/>
          </a:solidFill>
          <a:ln w="11430">
            <a:solidFill>
              <a:srgbClr val="00F0FF"/>
            </a:solidFill>
            <a:prstDash val="solid"/>
          </a:ln>
          <a:effectLst>
            <a:outerShdw sx="100000" sy="100000" kx="0" ky="0" algn="bl" rotWithShape="0" blurRad="228600" dist="50800" dir="8100000">
              <a:srgbClr val="00F0FF">
                <a:alpha val="2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5596128" y="1472184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CEP001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FILED</a:t>
            </a:r>
            <a:endParaRPr lang="en-US" sz="650" dirty="0"/>
          </a:p>
        </p:txBody>
      </p:sp>
      <p:sp>
        <p:nvSpPr>
          <p:cNvPr id="44" name="Shape 42"/>
          <p:cNvSpPr/>
          <p:nvPr/>
        </p:nvSpPr>
        <p:spPr>
          <a:xfrm>
            <a:off x="6281928" y="1755648"/>
            <a:ext cx="82296" cy="36576"/>
          </a:xfrm>
          <a:prstGeom prst="rect">
            <a:avLst/>
          </a:prstGeom>
          <a:solidFill>
            <a:srgbClr val="00F0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364224" y="1426464"/>
            <a:ext cx="685800" cy="731520"/>
          </a:xfrm>
          <a:prstGeom prst="rect">
            <a:avLst/>
          </a:prstGeom>
          <a:solidFill>
            <a:srgbClr val="051E35"/>
          </a:solidFill>
          <a:ln w="11430">
            <a:solidFill>
              <a:srgbClr val="00F0FF"/>
            </a:solidFill>
            <a:prstDash val="solid"/>
          </a:ln>
          <a:effectLst>
            <a:outerShdw sx="100000" sy="100000" kx="0" ky="0" algn="bl" rotWithShape="0" blurRad="228600" dist="50800" dir="8100000">
              <a:srgbClr val="00F0FF">
                <a:alpha val="2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6364224" y="1472184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CEP001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ASSIGN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7050024" y="1755648"/>
            <a:ext cx="82296" cy="36576"/>
          </a:xfrm>
          <a:prstGeom prst="rect">
            <a:avLst/>
          </a:prstGeom>
          <a:solidFill>
            <a:srgbClr val="00F0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132320" y="1426464"/>
            <a:ext cx="685800" cy="731520"/>
          </a:xfrm>
          <a:prstGeom prst="rect">
            <a:avLst/>
          </a:prstGeom>
          <a:solidFill>
            <a:srgbClr val="051E35"/>
          </a:solidFill>
          <a:ln w="11430">
            <a:solidFill>
              <a:srgbClr val="00F0FF"/>
            </a:solidFill>
            <a:prstDash val="solid"/>
          </a:ln>
          <a:effectLst>
            <a:outerShdw sx="100000" sy="100000" kx="0" ky="0" algn="bl" rotWithShape="0" blurRad="228600" dist="50800" dir="8100000">
              <a:srgbClr val="00F0FF">
                <a:alpha val="2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7132320" y="1472184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CEP002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FILED</a:t>
            </a:r>
            <a:endParaRPr lang="en-US" sz="650" dirty="0"/>
          </a:p>
        </p:txBody>
      </p:sp>
      <p:sp>
        <p:nvSpPr>
          <p:cNvPr id="50" name="Shape 48"/>
          <p:cNvSpPr/>
          <p:nvPr/>
        </p:nvSpPr>
        <p:spPr>
          <a:xfrm>
            <a:off x="7818120" y="1755648"/>
            <a:ext cx="82296" cy="36576"/>
          </a:xfrm>
          <a:prstGeom prst="rect">
            <a:avLst/>
          </a:prstGeom>
          <a:solidFill>
            <a:srgbClr val="00F0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00416" y="1426464"/>
            <a:ext cx="685800" cy="731520"/>
          </a:xfrm>
          <a:prstGeom prst="rect">
            <a:avLst/>
          </a:prstGeom>
          <a:solidFill>
            <a:srgbClr val="051E35"/>
          </a:solidFill>
          <a:ln w="11430">
            <a:solidFill>
              <a:srgbClr val="00F0FF"/>
            </a:solidFill>
            <a:prstDash val="solid"/>
          </a:ln>
          <a:effectLst>
            <a:outerShdw sx="100000" sy="100000" kx="0" ky="0" algn="bl" rotWithShape="0" blurRad="228600" dist="50800" dir="8100000">
              <a:srgbClr val="00F0FF">
                <a:alpha val="2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7900416" y="1472184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CEP001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RESOLVED</a:t>
            </a:r>
            <a:endParaRPr lang="en-US" sz="650" dirty="0"/>
          </a:p>
        </p:txBody>
      </p:sp>
      <p:sp>
        <p:nvSpPr>
          <p:cNvPr id="53" name="Shape 51"/>
          <p:cNvSpPr/>
          <p:nvPr/>
        </p:nvSpPr>
        <p:spPr>
          <a:xfrm>
            <a:off x="4892040" y="2304288"/>
            <a:ext cx="118872" cy="118872"/>
          </a:xfrm>
          <a:prstGeom prst="rect">
            <a:avLst/>
          </a:prstGeom>
          <a:solidFill>
            <a:srgbClr val="E8F4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093208" y="226771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Tamper-proof cryptographic hashing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4892040" y="2606040"/>
            <a:ext cx="118872" cy="118872"/>
          </a:xfrm>
          <a:prstGeom prst="rect">
            <a:avLst/>
          </a:prstGeom>
          <a:solidFill>
            <a:srgbClr val="00F0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093208" y="256946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0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= immutable block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4892040" y="2907792"/>
            <a:ext cx="118872" cy="118872"/>
          </a:xfrm>
          <a:prstGeom prst="rect">
            <a:avLst/>
          </a:prstGeom>
          <a:solidFill>
            <a:srgbClr val="00FF8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093208" y="287121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0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integrity verified real-time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4892040" y="3209544"/>
            <a:ext cx="118872" cy="118872"/>
          </a:xfrm>
          <a:prstGeom prst="rect">
            <a:avLst/>
          </a:prstGeom>
          <a:solidFill>
            <a:srgbClr val="FFB8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093208" y="317296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B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RTI-ready permanent evidence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4892040" y="3511296"/>
            <a:ext cx="118872" cy="118872"/>
          </a:xfrm>
          <a:prstGeom prst="rect">
            <a:avLst/>
          </a:prstGeom>
          <a:solidFill>
            <a:srgbClr val="FF2D5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093208" y="34747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Corruption proof — cannot delete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4892040" y="3813048"/>
            <a:ext cx="118872" cy="118872"/>
          </a:xfrm>
          <a:prstGeom prst="rect">
            <a:avLst/>
          </a:prstGeom>
          <a:solidFill>
            <a:srgbClr val="0A84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093208" y="377647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8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 accountability on-chain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4892040" y="4114800"/>
            <a:ext cx="118872" cy="118872"/>
          </a:xfrm>
          <a:prstGeom prst="rect">
            <a:avLst/>
          </a:prstGeom>
          <a:solidFill>
            <a:srgbClr val="7B2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093208" y="407822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2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Genesis + complaint blocks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4892040" y="4416552"/>
            <a:ext cx="118872" cy="118872"/>
          </a:xfrm>
          <a:prstGeom prst="rect">
            <a:avLst/>
          </a:prstGeom>
          <a:solidFill>
            <a:srgbClr val="E8F4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093208" y="437997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JS SHA-like implementation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1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6400800" cy="5486400"/>
          </a:xfrm>
          <a:prstGeom prst="ellipse">
            <a:avLst/>
          </a:prstGeom>
          <a:solidFill>
            <a:srgbClr val="7B2FFF">
              <a:alpha val="9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0" y="2743200"/>
            <a:ext cx="5486400" cy="4572000"/>
          </a:xfrm>
          <a:prstGeom prst="ellipse">
            <a:avLst/>
          </a:prstGeom>
          <a:solidFill>
            <a:srgbClr val="00F0FF">
              <a:alpha val="7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-914400"/>
            <a:ext cx="3657600" cy="2743200"/>
          </a:xfrm>
          <a:prstGeom prst="ellipse">
            <a:avLst/>
          </a:prstGeom>
          <a:solidFill>
            <a:srgbClr val="0A84FF">
              <a:alpha val="6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64592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06  ·  AI AUTOMATION ENGINE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365760" y="292608"/>
            <a:ext cx="73152" cy="457200"/>
          </a:xfrm>
          <a:prstGeom prst="rect">
            <a:avLst/>
          </a:prstGeom>
          <a:solidFill>
            <a:srgbClr val="00FF88"/>
          </a:solidFill>
          <a:ln w="12700">
            <a:solidFill>
              <a:srgbClr val="000000"/>
            </a:solidFill>
            <a:prstDash val="solid"/>
          </a:ln>
          <a:effectLst>
            <a:outerShdw sx="100000" sy="100000" kx="0" ky="0" algn="bl" rotWithShape="0" blurRad="228600" dist="50800" dir="8100000">
              <a:srgbClr val="00FF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8-Job AI Automation — 24/7 Zero Human Intervention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92608" y="932688"/>
            <a:ext cx="4251960" cy="886968"/>
          </a:xfrm>
          <a:prstGeom prst="rect">
            <a:avLst/>
          </a:prstGeom>
          <a:solidFill>
            <a:srgbClr val="051525"/>
          </a:solidFill>
          <a:ln w="11430">
            <a:solidFill>
              <a:srgbClr val="7B2FFF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92608" y="932688"/>
            <a:ext cx="45720" cy="886968"/>
          </a:xfrm>
          <a:prstGeom prst="rect">
            <a:avLst/>
          </a:prstGeom>
          <a:solidFill>
            <a:srgbClr val="7B2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4048" y="1133856"/>
            <a:ext cx="384048" cy="384048"/>
          </a:xfrm>
          <a:prstGeom prst="ellipse">
            <a:avLst/>
          </a:prstGeom>
          <a:solidFill>
            <a:srgbClr val="7B2FFF">
              <a:alpha val="20000"/>
            </a:srgbClr>
          </a:solidFill>
          <a:ln w="6350">
            <a:solidFill>
              <a:srgbClr val="7B2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111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⚠️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59536" y="98755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B2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Corruption Escalation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59536" y="1243584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60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TRIGGER: corruption_flag = true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859536" y="143560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Vigilance + Commissioner notified immediately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224528" y="987552"/>
            <a:ext cx="256032" cy="164592"/>
          </a:xfrm>
          <a:prstGeom prst="rect">
            <a:avLst/>
          </a:prstGeom>
          <a:solidFill>
            <a:srgbClr val="00FF88">
              <a:alpha val="28000"/>
            </a:srgbClr>
          </a:solidFill>
          <a:ln w="6350">
            <a:solidFill>
              <a:srgbClr val="00FF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24528" y="987552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4754880" y="932688"/>
            <a:ext cx="4251960" cy="886968"/>
          </a:xfrm>
          <a:prstGeom prst="rect">
            <a:avLst/>
          </a:prstGeom>
          <a:solidFill>
            <a:srgbClr val="051525"/>
          </a:solidFill>
          <a:ln w="11430">
            <a:solidFill>
              <a:srgbClr val="FF2D55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932688"/>
            <a:ext cx="45720" cy="886968"/>
          </a:xfrm>
          <a:prstGeom prst="rect">
            <a:avLst/>
          </a:prstGeom>
          <a:solidFill>
            <a:srgbClr val="FF2D5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1133856"/>
            <a:ext cx="384048" cy="384048"/>
          </a:xfrm>
          <a:prstGeom prst="ellipse">
            <a:avLst/>
          </a:prstGeom>
          <a:solidFill>
            <a:srgbClr val="FF2D55">
              <a:alpha val="20000"/>
            </a:srgbClr>
          </a:solidFill>
          <a:ln w="6350">
            <a:solidFill>
              <a:srgbClr val="FF2D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111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🚨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321808" y="98755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SLA Alert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321808" y="1243584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60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TRIGGER: score ≥ 85 &amp; time &gt; 20h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5321808" y="143560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WhatsApp + Officer emergency notification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8686800" y="987552"/>
            <a:ext cx="256032" cy="164592"/>
          </a:xfrm>
          <a:prstGeom prst="rect">
            <a:avLst/>
          </a:prstGeom>
          <a:solidFill>
            <a:srgbClr val="00FF88">
              <a:alpha val="28000"/>
            </a:srgbClr>
          </a:solidFill>
          <a:ln w="6350">
            <a:solidFill>
              <a:srgbClr val="00FF8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0" y="987552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292608" y="1920240"/>
            <a:ext cx="4251960" cy="886968"/>
          </a:xfrm>
          <a:prstGeom prst="rect">
            <a:avLst/>
          </a:prstGeom>
          <a:solidFill>
            <a:srgbClr val="051525"/>
          </a:solidFill>
          <a:ln w="11430">
            <a:solidFill>
              <a:srgbClr val="0A84FF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292608" y="1920240"/>
            <a:ext cx="45720" cy="886968"/>
          </a:xfrm>
          <a:prstGeom prst="rect">
            <a:avLst/>
          </a:prstGeom>
          <a:solidFill>
            <a:srgbClr val="0A84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048" y="2121408"/>
            <a:ext cx="384048" cy="384048"/>
          </a:xfrm>
          <a:prstGeom prst="ellipse">
            <a:avLst/>
          </a:prstGeom>
          <a:solidFill>
            <a:srgbClr val="0A84FF">
              <a:alpha val="20000"/>
            </a:srgbClr>
          </a:solidFill>
          <a:ln w="6350">
            <a:solidFill>
              <a:srgbClr val="0A84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4048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🔍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59536" y="197510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8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Detector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59536" y="2231136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60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TRIGGER: Same location + category in 7d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859536" y="242316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Merge duplicates + notify filer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4224528" y="1975104"/>
            <a:ext cx="256032" cy="164592"/>
          </a:xfrm>
          <a:prstGeom prst="rect">
            <a:avLst/>
          </a:prstGeom>
          <a:solidFill>
            <a:srgbClr val="00FF88">
              <a:alpha val="28000"/>
            </a:srgbClr>
          </a:solidFill>
          <a:ln w="6350">
            <a:solidFill>
              <a:srgbClr val="00FF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224528" y="1975104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4754880" y="1920240"/>
            <a:ext cx="4251960" cy="886968"/>
          </a:xfrm>
          <a:prstGeom prst="rect">
            <a:avLst/>
          </a:prstGeom>
          <a:solidFill>
            <a:srgbClr val="051525"/>
          </a:solidFill>
          <a:ln w="11430">
            <a:solidFill>
              <a:srgbClr val="00F0FF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754880" y="1920240"/>
            <a:ext cx="45720" cy="886968"/>
          </a:xfrm>
          <a:prstGeom prst="rect">
            <a:avLst/>
          </a:prstGeom>
          <a:solidFill>
            <a:srgbClr val="00F0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46320" y="2121408"/>
            <a:ext cx="384048" cy="384048"/>
          </a:xfrm>
          <a:prstGeom prst="ellipse">
            <a:avLst/>
          </a:prstGeom>
          <a:solidFill>
            <a:srgbClr val="00F0FF">
              <a:alpha val="20000"/>
            </a:srgbClr>
          </a:solidFill>
          <a:ln w="6350">
            <a:solidFill>
              <a:srgbClr val="00F0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4632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👮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5321808" y="197510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 Auto-Assign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321808" y="2231136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60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TRIGGER: New complaint filed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5321808" y="242316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Match ward + dept + grade → assign officer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8686800" y="1975104"/>
            <a:ext cx="256032" cy="164592"/>
          </a:xfrm>
          <a:prstGeom prst="rect">
            <a:avLst/>
          </a:prstGeom>
          <a:solidFill>
            <a:srgbClr val="00FF88">
              <a:alpha val="28000"/>
            </a:srgbClr>
          </a:solidFill>
          <a:ln w="6350">
            <a:solidFill>
              <a:srgbClr val="00FF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686800" y="1975104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</a:t>
            </a:r>
            <a:endParaRPr lang="en-US" sz="650" dirty="0"/>
          </a:p>
        </p:txBody>
      </p:sp>
      <p:sp>
        <p:nvSpPr>
          <p:cNvPr id="44" name="Shape 42"/>
          <p:cNvSpPr/>
          <p:nvPr/>
        </p:nvSpPr>
        <p:spPr>
          <a:xfrm>
            <a:off x="292608" y="2907792"/>
            <a:ext cx="4251960" cy="886968"/>
          </a:xfrm>
          <a:prstGeom prst="rect">
            <a:avLst/>
          </a:prstGeom>
          <a:solidFill>
            <a:srgbClr val="051525"/>
          </a:solidFill>
          <a:ln w="11430">
            <a:solidFill>
              <a:srgbClr val="FFB800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292608" y="2907792"/>
            <a:ext cx="45720" cy="886968"/>
          </a:xfrm>
          <a:prstGeom prst="rect">
            <a:avLst/>
          </a:prstGeom>
          <a:solidFill>
            <a:srgbClr val="FFB8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84048" y="3108960"/>
            <a:ext cx="384048" cy="384048"/>
          </a:xfrm>
          <a:prstGeom prst="ellipse">
            <a:avLst/>
          </a:prstGeom>
          <a:solidFill>
            <a:srgbClr val="FFB800">
              <a:alpha val="20000"/>
            </a:srgbClr>
          </a:solidFill>
          <a:ln w="6350">
            <a:solidFill>
              <a:srgbClr val="FFB80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84048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⛓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859536" y="296265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Logger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859536" y="321868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60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TRIGGER: Any complaint state change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859536" y="3410712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Cryptographic hash + chain block added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4224528" y="2962656"/>
            <a:ext cx="256032" cy="164592"/>
          </a:xfrm>
          <a:prstGeom prst="rect">
            <a:avLst/>
          </a:prstGeom>
          <a:solidFill>
            <a:srgbClr val="00FF88">
              <a:alpha val="28000"/>
            </a:srgbClr>
          </a:solidFill>
          <a:ln w="6350">
            <a:solidFill>
              <a:srgbClr val="00FF8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224528" y="2962656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</a:t>
            </a:r>
            <a:endParaRPr lang="en-US" sz="650" dirty="0"/>
          </a:p>
        </p:txBody>
      </p:sp>
      <p:sp>
        <p:nvSpPr>
          <p:cNvPr id="53" name="Shape 51"/>
          <p:cNvSpPr/>
          <p:nvPr/>
        </p:nvSpPr>
        <p:spPr>
          <a:xfrm>
            <a:off x="4754880" y="2907792"/>
            <a:ext cx="4251960" cy="886968"/>
          </a:xfrm>
          <a:prstGeom prst="rect">
            <a:avLst/>
          </a:prstGeom>
          <a:solidFill>
            <a:srgbClr val="051525"/>
          </a:solidFill>
          <a:ln w="11430">
            <a:solidFill>
              <a:srgbClr val="25D366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4754880" y="2907792"/>
            <a:ext cx="45720" cy="886968"/>
          </a:xfrm>
          <a:prstGeom prst="rect">
            <a:avLst/>
          </a:prstGeom>
          <a:solidFill>
            <a:srgbClr val="25D36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846320" y="3108960"/>
            <a:ext cx="384048" cy="384048"/>
          </a:xfrm>
          <a:prstGeom prst="ellipse">
            <a:avLst/>
          </a:prstGeom>
          <a:solidFill>
            <a:srgbClr val="25D366">
              <a:alpha val="20000"/>
            </a:srgbClr>
          </a:solidFill>
          <a:ln w="6350">
            <a:solidFill>
              <a:srgbClr val="25D36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846320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📲</a:t>
            </a:r>
            <a:endParaRPr lang="en-US" sz="1500" dirty="0"/>
          </a:p>
        </p:txBody>
      </p:sp>
      <p:sp>
        <p:nvSpPr>
          <p:cNvPr id="57" name="Text 55"/>
          <p:cNvSpPr/>
          <p:nvPr/>
        </p:nvSpPr>
        <p:spPr>
          <a:xfrm>
            <a:off x="5321808" y="296265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5D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Notifier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5321808" y="321868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60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TRIGGER: Filed / Resolved / Escalated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5321808" y="3410712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Pre-formatted message sent to citizen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8686800" y="2962656"/>
            <a:ext cx="256032" cy="164592"/>
          </a:xfrm>
          <a:prstGeom prst="rect">
            <a:avLst/>
          </a:prstGeom>
          <a:solidFill>
            <a:srgbClr val="00FF88">
              <a:alpha val="28000"/>
            </a:srgbClr>
          </a:solidFill>
          <a:ln w="6350">
            <a:solidFill>
              <a:srgbClr val="00FF8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686800" y="2962656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292608" y="3895344"/>
            <a:ext cx="4251960" cy="886968"/>
          </a:xfrm>
          <a:prstGeom prst="rect">
            <a:avLst/>
          </a:prstGeom>
          <a:solidFill>
            <a:srgbClr val="051525"/>
          </a:solidFill>
          <a:ln w="11430">
            <a:solidFill>
              <a:srgbClr val="FF6D00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63" name="Shape 61"/>
          <p:cNvSpPr/>
          <p:nvPr/>
        </p:nvSpPr>
        <p:spPr>
          <a:xfrm>
            <a:off x="292608" y="3895344"/>
            <a:ext cx="45720" cy="886968"/>
          </a:xfrm>
          <a:prstGeom prst="rect">
            <a:avLst/>
          </a:prstGeom>
          <a:solidFill>
            <a:srgbClr val="FF6D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84048" y="4096512"/>
            <a:ext cx="384048" cy="384048"/>
          </a:xfrm>
          <a:prstGeom prst="ellipse">
            <a:avLst/>
          </a:prstGeom>
          <a:solidFill>
            <a:srgbClr val="FF6D00">
              <a:alpha val="20000"/>
            </a:srgbClr>
          </a:solidFill>
          <a:ln w="6350">
            <a:solidFill>
              <a:srgbClr val="FF6D0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84048" y="4078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⏱</a:t>
            </a:r>
            <a:endParaRPr lang="en-US" sz="1500" dirty="0"/>
          </a:p>
        </p:txBody>
      </p:sp>
      <p:sp>
        <p:nvSpPr>
          <p:cNvPr id="66" name="Text 64"/>
          <p:cNvSpPr/>
          <p:nvPr/>
        </p:nvSpPr>
        <p:spPr>
          <a:xfrm>
            <a:off x="859536" y="395020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Breach Monitor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859536" y="420624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60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TRIGGER: time &gt; sla_hours limit</a:t>
            </a:r>
            <a:endParaRPr lang="en-US" sz="750" dirty="0"/>
          </a:p>
        </p:txBody>
      </p:sp>
      <p:sp>
        <p:nvSpPr>
          <p:cNvPr id="68" name="Text 66"/>
          <p:cNvSpPr/>
          <p:nvPr/>
        </p:nvSpPr>
        <p:spPr>
          <a:xfrm>
            <a:off x="859536" y="4398264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Auto-escalate + flag dept performance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4224528" y="3950208"/>
            <a:ext cx="256032" cy="164592"/>
          </a:xfrm>
          <a:prstGeom prst="rect">
            <a:avLst/>
          </a:prstGeom>
          <a:solidFill>
            <a:srgbClr val="00FF88">
              <a:alpha val="28000"/>
            </a:srgbClr>
          </a:solidFill>
          <a:ln w="6350">
            <a:solidFill>
              <a:srgbClr val="00FF88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224528" y="3950208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</a:t>
            </a:r>
            <a:endParaRPr lang="en-US" sz="650" dirty="0"/>
          </a:p>
        </p:txBody>
      </p:sp>
      <p:sp>
        <p:nvSpPr>
          <p:cNvPr id="71" name="Shape 69"/>
          <p:cNvSpPr/>
          <p:nvPr/>
        </p:nvSpPr>
        <p:spPr>
          <a:xfrm>
            <a:off x="4754880" y="3895344"/>
            <a:ext cx="4251960" cy="886968"/>
          </a:xfrm>
          <a:prstGeom prst="rect">
            <a:avLst/>
          </a:prstGeom>
          <a:solidFill>
            <a:srgbClr val="051525"/>
          </a:solidFill>
          <a:ln w="11430">
            <a:solidFill>
              <a:srgbClr val="FFB800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4754880" y="3895344"/>
            <a:ext cx="45720" cy="886968"/>
          </a:xfrm>
          <a:prstGeom prst="rect">
            <a:avLst/>
          </a:prstGeom>
          <a:solidFill>
            <a:srgbClr val="FFB8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846320" y="4096512"/>
            <a:ext cx="384048" cy="384048"/>
          </a:xfrm>
          <a:prstGeom prst="ellipse">
            <a:avLst/>
          </a:prstGeom>
          <a:solidFill>
            <a:srgbClr val="FFB800">
              <a:alpha val="20000"/>
            </a:srgbClr>
          </a:solidFill>
          <a:ln w="6350">
            <a:solidFill>
              <a:srgbClr val="FFB80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846320" y="4078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🗺</a:t>
            </a:r>
            <a:endParaRPr lang="en-US" sz="1500" dirty="0"/>
          </a:p>
        </p:txBody>
      </p:sp>
      <p:sp>
        <p:nvSpPr>
          <p:cNvPr id="75" name="Text 73"/>
          <p:cNvSpPr/>
          <p:nvPr/>
        </p:nvSpPr>
        <p:spPr>
          <a:xfrm>
            <a:off x="5321808" y="395020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 Risk Updater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5321808" y="420624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A60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TRIGGER: Every 5 complaints in ward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5321808" y="4398264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Recalculate risk heatmap score</a:t>
            </a:r>
            <a:endParaRPr lang="en-US" sz="750" dirty="0"/>
          </a:p>
        </p:txBody>
      </p:sp>
      <p:sp>
        <p:nvSpPr>
          <p:cNvPr id="78" name="Shape 76"/>
          <p:cNvSpPr/>
          <p:nvPr/>
        </p:nvSpPr>
        <p:spPr>
          <a:xfrm>
            <a:off x="8686800" y="3950208"/>
            <a:ext cx="256032" cy="164592"/>
          </a:xfrm>
          <a:prstGeom prst="rect">
            <a:avLst/>
          </a:prstGeom>
          <a:solidFill>
            <a:srgbClr val="00FF88">
              <a:alpha val="28000"/>
            </a:srgbClr>
          </a:solidFill>
          <a:ln w="6350">
            <a:solidFill>
              <a:srgbClr val="00FF8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686800" y="3950208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</a:t>
            </a:r>
            <a:endParaRPr lang="en-US" sz="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1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6400800" cy="5486400"/>
          </a:xfrm>
          <a:prstGeom prst="ellipse">
            <a:avLst/>
          </a:prstGeom>
          <a:solidFill>
            <a:srgbClr val="7B2FFF">
              <a:alpha val="9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0" y="2743200"/>
            <a:ext cx="5486400" cy="4572000"/>
          </a:xfrm>
          <a:prstGeom prst="ellipse">
            <a:avLst/>
          </a:prstGeom>
          <a:solidFill>
            <a:srgbClr val="00F0FF">
              <a:alpha val="7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-914400"/>
            <a:ext cx="3657600" cy="2743200"/>
          </a:xfrm>
          <a:prstGeom prst="ellipse">
            <a:avLst/>
          </a:prstGeom>
          <a:solidFill>
            <a:srgbClr val="0A84FF">
              <a:alpha val="6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64592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0A8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07  ·  APP SCREENS WALKTHROUGH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365760" y="292608"/>
            <a:ext cx="73152" cy="457200"/>
          </a:xfrm>
          <a:prstGeom prst="rect">
            <a:avLst/>
          </a:prstGeom>
          <a:solidFill>
            <a:srgbClr val="0A84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Screens — Full Feature Walkthrough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92608" y="987552"/>
            <a:ext cx="1627632" cy="1783080"/>
          </a:xfrm>
          <a:prstGeom prst="rect">
            <a:avLst/>
          </a:prstGeom>
          <a:solidFill>
            <a:srgbClr val="051525"/>
          </a:solidFill>
          <a:ln w="11430">
            <a:solidFill>
              <a:srgbClr val="00F0FF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92608" y="987552"/>
            <a:ext cx="1627632" cy="45720"/>
          </a:xfrm>
          <a:prstGeom prst="rect">
            <a:avLst/>
          </a:prstGeom>
          <a:solidFill>
            <a:srgbClr val="00F0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" y="987552"/>
            <a:ext cx="1627632" cy="320040"/>
          </a:xfrm>
          <a:prstGeom prst="rect">
            <a:avLst/>
          </a:prstGeom>
          <a:solidFill>
            <a:srgbClr val="00F0FF">
              <a:alpha val="1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2608" y="1060704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65760" y="149961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 Screen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65760" y="1755648"/>
            <a:ext cx="1481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Piano sounds, animated progress bar, system init logs</a:t>
            </a:r>
            <a:endParaRPr lang="en-US" sz="720" dirty="0"/>
          </a:p>
        </p:txBody>
      </p:sp>
      <p:sp>
        <p:nvSpPr>
          <p:cNvPr id="14" name="Shape 12"/>
          <p:cNvSpPr/>
          <p:nvPr/>
        </p:nvSpPr>
        <p:spPr>
          <a:xfrm>
            <a:off x="2029968" y="987552"/>
            <a:ext cx="1627632" cy="1783080"/>
          </a:xfrm>
          <a:prstGeom prst="rect">
            <a:avLst/>
          </a:prstGeom>
          <a:solidFill>
            <a:srgbClr val="051525"/>
          </a:solidFill>
          <a:ln w="11430">
            <a:solidFill>
              <a:srgbClr val="0A84FF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029968" y="987552"/>
            <a:ext cx="1627632" cy="45720"/>
          </a:xfrm>
          <a:prstGeom prst="rect">
            <a:avLst/>
          </a:prstGeom>
          <a:solidFill>
            <a:srgbClr val="0A84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29968" y="987552"/>
            <a:ext cx="1627632" cy="320040"/>
          </a:xfrm>
          <a:prstGeom prst="rect">
            <a:avLst/>
          </a:prstGeom>
          <a:solidFill>
            <a:srgbClr val="0A84FF">
              <a:alpha val="1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029968" y="1060704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🔐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103120" y="149961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8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/ Login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103120" y="1755648"/>
            <a:ext cx="1481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registration, OTP, Officer &amp; Admin accounts</a:t>
            </a:r>
            <a:endParaRPr lang="en-US" sz="720" dirty="0"/>
          </a:p>
        </p:txBody>
      </p:sp>
      <p:sp>
        <p:nvSpPr>
          <p:cNvPr id="20" name="Shape 18"/>
          <p:cNvSpPr/>
          <p:nvPr/>
        </p:nvSpPr>
        <p:spPr>
          <a:xfrm>
            <a:off x="3767328" y="987552"/>
            <a:ext cx="1627632" cy="1783080"/>
          </a:xfrm>
          <a:prstGeom prst="rect">
            <a:avLst/>
          </a:prstGeom>
          <a:solidFill>
            <a:srgbClr val="051525"/>
          </a:solidFill>
          <a:ln w="11430">
            <a:solidFill>
              <a:srgbClr val="7B2FFF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67328" y="987552"/>
            <a:ext cx="1627632" cy="45720"/>
          </a:xfrm>
          <a:prstGeom prst="rect">
            <a:avLst/>
          </a:prstGeom>
          <a:solidFill>
            <a:srgbClr val="7B2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767328" y="987552"/>
            <a:ext cx="1627632" cy="320040"/>
          </a:xfrm>
          <a:prstGeom prst="rect">
            <a:avLst/>
          </a:prstGeom>
          <a:solidFill>
            <a:srgbClr val="7B2FFF">
              <a:alpha val="1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67328" y="1060704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◈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3840480" y="149961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B2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Center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840480" y="1755648"/>
            <a:ext cx="1481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stats, dept chart, ward risk index, AI logs</a:t>
            </a:r>
            <a:endParaRPr lang="en-US" sz="720" dirty="0"/>
          </a:p>
        </p:txBody>
      </p:sp>
      <p:sp>
        <p:nvSpPr>
          <p:cNvPr id="26" name="Shape 24"/>
          <p:cNvSpPr/>
          <p:nvPr/>
        </p:nvSpPr>
        <p:spPr>
          <a:xfrm>
            <a:off x="5504688" y="987552"/>
            <a:ext cx="1627632" cy="1783080"/>
          </a:xfrm>
          <a:prstGeom prst="rect">
            <a:avLst/>
          </a:prstGeom>
          <a:solidFill>
            <a:srgbClr val="051525"/>
          </a:solidFill>
          <a:ln w="11430">
            <a:solidFill>
              <a:srgbClr val="00FF88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504688" y="987552"/>
            <a:ext cx="1627632" cy="45720"/>
          </a:xfrm>
          <a:prstGeom prst="rect">
            <a:avLst/>
          </a:prstGeom>
          <a:solidFill>
            <a:srgbClr val="00FF8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504688" y="987552"/>
            <a:ext cx="1627632" cy="320040"/>
          </a:xfrm>
          <a:prstGeom prst="rect">
            <a:avLst/>
          </a:prstGeom>
          <a:solidFill>
            <a:srgbClr val="00FF88">
              <a:alpha val="1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04688" y="1060704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📡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5577840" y="149961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Complaint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577840" y="1755648"/>
            <a:ext cx="1481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analyze, voice input, live tags, blockchain confirm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7242048" y="987552"/>
            <a:ext cx="1627632" cy="1783080"/>
          </a:xfrm>
          <a:prstGeom prst="rect">
            <a:avLst/>
          </a:prstGeom>
          <a:solidFill>
            <a:srgbClr val="051525"/>
          </a:solidFill>
          <a:ln w="11430">
            <a:solidFill>
              <a:srgbClr val="FFB800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242048" y="987552"/>
            <a:ext cx="1627632" cy="45720"/>
          </a:xfrm>
          <a:prstGeom prst="rect">
            <a:avLst/>
          </a:prstGeom>
          <a:solidFill>
            <a:srgbClr val="FFB8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242048" y="987552"/>
            <a:ext cx="1627632" cy="320040"/>
          </a:xfrm>
          <a:prstGeom prst="rect">
            <a:avLst/>
          </a:prstGeom>
          <a:solidFill>
            <a:srgbClr val="FFB800">
              <a:alpha val="1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242048" y="1060704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7315200" y="149961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B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Cases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7315200" y="1755648"/>
            <a:ext cx="1481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flip cards, urgency ring, resolve, WhatsApp share</a:t>
            </a:r>
            <a:endParaRPr lang="en-US" sz="720" dirty="0"/>
          </a:p>
        </p:txBody>
      </p:sp>
      <p:sp>
        <p:nvSpPr>
          <p:cNvPr id="38" name="Shape 36"/>
          <p:cNvSpPr/>
          <p:nvPr/>
        </p:nvSpPr>
        <p:spPr>
          <a:xfrm>
            <a:off x="292608" y="2999232"/>
            <a:ext cx="1627632" cy="1783080"/>
          </a:xfrm>
          <a:prstGeom prst="rect">
            <a:avLst/>
          </a:prstGeom>
          <a:solidFill>
            <a:srgbClr val="051525"/>
          </a:solidFill>
          <a:ln w="11430">
            <a:solidFill>
              <a:srgbClr val="00FF88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292608" y="2999232"/>
            <a:ext cx="1627632" cy="45720"/>
          </a:xfrm>
          <a:prstGeom prst="rect">
            <a:avLst/>
          </a:prstGeom>
          <a:solidFill>
            <a:srgbClr val="00FF8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92608" y="2999232"/>
            <a:ext cx="1627632" cy="320040"/>
          </a:xfrm>
          <a:prstGeom prst="rect">
            <a:avLst/>
          </a:prstGeom>
          <a:solidFill>
            <a:srgbClr val="00FF88">
              <a:alpha val="1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2608" y="3072384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365760" y="351129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Automation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365760" y="3767328"/>
            <a:ext cx="1481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job cards, run live, automation log with timestamps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2029968" y="2999232"/>
            <a:ext cx="1627632" cy="1783080"/>
          </a:xfrm>
          <a:prstGeom prst="rect">
            <a:avLst/>
          </a:prstGeom>
          <a:solidFill>
            <a:srgbClr val="051525"/>
          </a:solidFill>
          <a:ln w="11430">
            <a:solidFill>
              <a:srgbClr val="00F0FF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2029968" y="2999232"/>
            <a:ext cx="1627632" cy="45720"/>
          </a:xfrm>
          <a:prstGeom prst="rect">
            <a:avLst/>
          </a:prstGeom>
          <a:solidFill>
            <a:srgbClr val="00F0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029968" y="2999232"/>
            <a:ext cx="1627632" cy="320040"/>
          </a:xfrm>
          <a:prstGeom prst="rect">
            <a:avLst/>
          </a:prstGeom>
          <a:solidFill>
            <a:srgbClr val="00F0FF">
              <a:alpha val="1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029968" y="3072384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48" name="Text 46"/>
          <p:cNvSpPr/>
          <p:nvPr/>
        </p:nvSpPr>
        <p:spPr>
          <a:xfrm>
            <a:off x="2103120" y="351129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Support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2103120" y="3767328"/>
            <a:ext cx="1481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chatbot, quick chips, voice, markdown</a:t>
            </a:r>
            <a:endParaRPr lang="en-US" sz="720" dirty="0"/>
          </a:p>
        </p:txBody>
      </p:sp>
      <p:sp>
        <p:nvSpPr>
          <p:cNvPr id="50" name="Shape 48"/>
          <p:cNvSpPr/>
          <p:nvPr/>
        </p:nvSpPr>
        <p:spPr>
          <a:xfrm>
            <a:off x="3767328" y="2999232"/>
            <a:ext cx="1627632" cy="1783080"/>
          </a:xfrm>
          <a:prstGeom prst="rect">
            <a:avLst/>
          </a:prstGeom>
          <a:solidFill>
            <a:srgbClr val="051525"/>
          </a:solidFill>
          <a:ln w="11430">
            <a:solidFill>
              <a:srgbClr val="7B2FFF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767328" y="2999232"/>
            <a:ext cx="1627632" cy="45720"/>
          </a:xfrm>
          <a:prstGeom prst="rect">
            <a:avLst/>
          </a:prstGeom>
          <a:solidFill>
            <a:srgbClr val="7B2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767328" y="2999232"/>
            <a:ext cx="1627632" cy="320040"/>
          </a:xfrm>
          <a:prstGeom prst="rect">
            <a:avLst/>
          </a:prstGeom>
          <a:solidFill>
            <a:srgbClr val="7B2FFF">
              <a:alpha val="1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767328" y="3072384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⛓</a:t>
            </a:r>
            <a:endParaRPr lang="en-US" sz="2200" dirty="0"/>
          </a:p>
        </p:txBody>
      </p:sp>
      <p:sp>
        <p:nvSpPr>
          <p:cNvPr id="54" name="Text 52"/>
          <p:cNvSpPr/>
          <p:nvPr/>
        </p:nvSpPr>
        <p:spPr>
          <a:xfrm>
            <a:off x="3840480" y="351129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B2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3840480" y="3767328"/>
            <a:ext cx="1481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chain viewer, hash display, integrity status</a:t>
            </a:r>
            <a:endParaRPr lang="en-US" sz="720" dirty="0"/>
          </a:p>
        </p:txBody>
      </p:sp>
      <p:sp>
        <p:nvSpPr>
          <p:cNvPr id="56" name="Shape 54"/>
          <p:cNvSpPr/>
          <p:nvPr/>
        </p:nvSpPr>
        <p:spPr>
          <a:xfrm>
            <a:off x="5504688" y="2999232"/>
            <a:ext cx="1627632" cy="1783080"/>
          </a:xfrm>
          <a:prstGeom prst="rect">
            <a:avLst/>
          </a:prstGeom>
          <a:solidFill>
            <a:srgbClr val="051525"/>
          </a:solidFill>
          <a:ln w="11430">
            <a:solidFill>
              <a:srgbClr val="FF2D55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5504688" y="2999232"/>
            <a:ext cx="1627632" cy="45720"/>
          </a:xfrm>
          <a:prstGeom prst="rect">
            <a:avLst/>
          </a:prstGeom>
          <a:solidFill>
            <a:srgbClr val="FF2D5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504688" y="2999232"/>
            <a:ext cx="1627632" cy="320040"/>
          </a:xfrm>
          <a:prstGeom prst="rect">
            <a:avLst/>
          </a:prstGeom>
          <a:solidFill>
            <a:srgbClr val="FF2D55">
              <a:alpha val="1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504688" y="3072384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⚠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5577840" y="351129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Corruption Radar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5577840" y="3767328"/>
            <a:ext cx="1481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 by ward, flagged cases, risk percentage</a:t>
            </a:r>
            <a:endParaRPr lang="en-US" sz="720" dirty="0"/>
          </a:p>
        </p:txBody>
      </p:sp>
      <p:sp>
        <p:nvSpPr>
          <p:cNvPr id="62" name="Shape 60"/>
          <p:cNvSpPr/>
          <p:nvPr/>
        </p:nvSpPr>
        <p:spPr>
          <a:xfrm>
            <a:off x="7242048" y="2999232"/>
            <a:ext cx="1627632" cy="1783080"/>
          </a:xfrm>
          <a:prstGeom prst="rect">
            <a:avLst/>
          </a:prstGeom>
          <a:solidFill>
            <a:srgbClr val="051525"/>
          </a:solidFill>
          <a:ln w="11430">
            <a:solidFill>
              <a:srgbClr val="0A84FF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63" name="Shape 61"/>
          <p:cNvSpPr/>
          <p:nvPr/>
        </p:nvSpPr>
        <p:spPr>
          <a:xfrm>
            <a:off x="7242048" y="2999232"/>
            <a:ext cx="1627632" cy="45720"/>
          </a:xfrm>
          <a:prstGeom prst="rect">
            <a:avLst/>
          </a:prstGeom>
          <a:solidFill>
            <a:srgbClr val="0A84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242048" y="2999232"/>
            <a:ext cx="1627632" cy="320040"/>
          </a:xfrm>
          <a:prstGeom prst="rect">
            <a:avLst/>
          </a:prstGeom>
          <a:solidFill>
            <a:srgbClr val="0A84FF">
              <a:alpha val="1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242048" y="3072384"/>
            <a:ext cx="1627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66" name="Text 64"/>
          <p:cNvSpPr/>
          <p:nvPr/>
        </p:nvSpPr>
        <p:spPr>
          <a:xfrm>
            <a:off x="7315200" y="351129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8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7315200" y="3767328"/>
            <a:ext cx="1481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Sparklines, dept distribution, live activity feed</a:t>
            </a:r>
            <a:endParaRPr lang="en-US" sz="7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1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6400800" cy="5486400"/>
          </a:xfrm>
          <a:prstGeom prst="ellipse">
            <a:avLst/>
          </a:prstGeom>
          <a:solidFill>
            <a:srgbClr val="7B2FFF">
              <a:alpha val="9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0" y="2743200"/>
            <a:ext cx="5486400" cy="4572000"/>
          </a:xfrm>
          <a:prstGeom prst="ellipse">
            <a:avLst/>
          </a:prstGeom>
          <a:solidFill>
            <a:srgbClr val="00F0FF">
              <a:alpha val="7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-914400"/>
            <a:ext cx="3657600" cy="2743200"/>
          </a:xfrm>
          <a:prstGeom prst="ellipse">
            <a:avLst/>
          </a:prstGeom>
          <a:solidFill>
            <a:srgbClr val="0A84FF">
              <a:alpha val="6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64592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FFB8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08  ·  TECH STACK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365760" y="292608"/>
            <a:ext cx="73152" cy="457200"/>
          </a:xfrm>
          <a:prstGeom prst="rect">
            <a:avLst/>
          </a:prstGeom>
          <a:solidFill>
            <a:srgbClr val="FFB8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292608" y="932688"/>
            <a:ext cx="4251960" cy="658368"/>
          </a:xfrm>
          <a:prstGeom prst="rect">
            <a:avLst/>
          </a:prstGeom>
          <a:solidFill>
            <a:srgbClr val="051525"/>
          </a:solidFill>
          <a:ln w="10160">
            <a:solidFill>
              <a:srgbClr val="0A84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2608" y="932688"/>
            <a:ext cx="45720" cy="658368"/>
          </a:xfrm>
          <a:prstGeom prst="rect">
            <a:avLst/>
          </a:prstGeom>
          <a:solidFill>
            <a:srgbClr val="0A84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97680" y="1170432"/>
            <a:ext cx="128016" cy="128016"/>
          </a:xfrm>
          <a:prstGeom prst="rect">
            <a:avLst/>
          </a:prstGeom>
          <a:solidFill>
            <a:srgbClr val="0A84FF">
              <a:alpha val="4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" y="99669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0A8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FRONTEND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38912" y="1225296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 ·  Vite 7  ·  Pure CSS-in-JS  ·  No external UI library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4754880" y="932688"/>
            <a:ext cx="4251960" cy="658368"/>
          </a:xfrm>
          <a:prstGeom prst="rect">
            <a:avLst/>
          </a:prstGeom>
          <a:solidFill>
            <a:srgbClr val="051525"/>
          </a:solidFill>
          <a:ln w="10160">
            <a:solidFill>
              <a:srgbClr val="7B2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54880" y="932688"/>
            <a:ext cx="45720" cy="658368"/>
          </a:xfrm>
          <a:prstGeom prst="rect">
            <a:avLst/>
          </a:prstGeom>
          <a:solidFill>
            <a:srgbClr val="7B2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759952" y="1170432"/>
            <a:ext cx="128016" cy="128016"/>
          </a:xfrm>
          <a:prstGeom prst="rect">
            <a:avLst/>
          </a:prstGeom>
          <a:solidFill>
            <a:srgbClr val="7B2FFF">
              <a:alpha val="4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01184" y="99669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7B2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FONTS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901184" y="1225296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Orbitron  ·  Rajdhani  ·  Share Tech Mono  (Google Fonts CDN)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292608" y="1700784"/>
            <a:ext cx="4251960" cy="658368"/>
          </a:xfrm>
          <a:prstGeom prst="rect">
            <a:avLst/>
          </a:prstGeom>
          <a:solidFill>
            <a:srgbClr val="051525"/>
          </a:solidFill>
          <a:ln w="10160">
            <a:solidFill>
              <a:srgbClr val="00F0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2608" y="1700784"/>
            <a:ext cx="45720" cy="658368"/>
          </a:xfrm>
          <a:prstGeom prst="rect">
            <a:avLst/>
          </a:prstGeom>
          <a:solidFill>
            <a:srgbClr val="00F0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97680" y="1938528"/>
            <a:ext cx="128016" cy="128016"/>
          </a:xfrm>
          <a:prstGeom prst="rect">
            <a:avLst/>
          </a:prstGeom>
          <a:solidFill>
            <a:srgbClr val="00F0FF">
              <a:alpha val="4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8912" y="176479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ENGINE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438912" y="1993392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Rule-based Classifier  ·  8 categories  ·  Claude API ready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4754880" y="1700784"/>
            <a:ext cx="4251960" cy="658368"/>
          </a:xfrm>
          <a:prstGeom prst="rect">
            <a:avLst/>
          </a:prstGeom>
          <a:solidFill>
            <a:srgbClr val="051525"/>
          </a:solidFill>
          <a:ln w="10160">
            <a:solidFill>
              <a:srgbClr val="00FF8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54880" y="1700784"/>
            <a:ext cx="45720" cy="658368"/>
          </a:xfrm>
          <a:prstGeom prst="rect">
            <a:avLst/>
          </a:prstGeom>
          <a:solidFill>
            <a:srgbClr val="00FF8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759952" y="1938528"/>
            <a:ext cx="128016" cy="128016"/>
          </a:xfrm>
          <a:prstGeom prst="rect">
            <a:avLst/>
          </a:prstGeom>
          <a:solidFill>
            <a:srgbClr val="00FF88">
              <a:alpha val="4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01184" y="176479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BLOCKCHAIN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901184" y="1993392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JavaScript implementation  ·  SHA-like hashing  ·  Chain validation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292608" y="2468880"/>
            <a:ext cx="4251960" cy="658368"/>
          </a:xfrm>
          <a:prstGeom prst="rect">
            <a:avLst/>
          </a:prstGeom>
          <a:solidFill>
            <a:srgbClr val="051525"/>
          </a:solidFill>
          <a:ln w="10160">
            <a:solidFill>
              <a:srgbClr val="FFB8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2608" y="2468880"/>
            <a:ext cx="45720" cy="658368"/>
          </a:xfrm>
          <a:prstGeom prst="rect">
            <a:avLst/>
          </a:prstGeom>
          <a:solidFill>
            <a:srgbClr val="FFB8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97680" y="2706624"/>
            <a:ext cx="128016" cy="128016"/>
          </a:xfrm>
          <a:prstGeom prst="rect">
            <a:avLst/>
          </a:prstGeom>
          <a:solidFill>
            <a:srgbClr val="FFB800">
              <a:alpha val="4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8912" y="253288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FFB8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AUTHENTICATION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438912" y="2761488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localStorage UserStore  ·  OTP Engine  ·  Session management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4754880" y="2468880"/>
            <a:ext cx="4251960" cy="658368"/>
          </a:xfrm>
          <a:prstGeom prst="rect">
            <a:avLst/>
          </a:prstGeom>
          <a:solidFill>
            <a:srgbClr val="051525"/>
          </a:solidFill>
          <a:ln w="10160">
            <a:solidFill>
              <a:srgbClr val="FF2D5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54880" y="2468880"/>
            <a:ext cx="45720" cy="658368"/>
          </a:xfrm>
          <a:prstGeom prst="rect">
            <a:avLst/>
          </a:prstGeom>
          <a:solidFill>
            <a:srgbClr val="FF2D5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759952" y="2706624"/>
            <a:ext cx="128016" cy="128016"/>
          </a:xfrm>
          <a:prstGeom prst="rect">
            <a:avLst/>
          </a:prstGeom>
          <a:solidFill>
            <a:srgbClr val="FF2D55">
              <a:alpha val="4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01184" y="253288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FF2D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VOICE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4901184" y="2761488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Speech API  ·  Hindi (hi-IN)  ·  Real-time transcription</a:t>
            </a:r>
            <a:endParaRPr lang="en-US" sz="880" dirty="0"/>
          </a:p>
        </p:txBody>
      </p:sp>
      <p:sp>
        <p:nvSpPr>
          <p:cNvPr id="38" name="Shape 36"/>
          <p:cNvSpPr/>
          <p:nvPr/>
        </p:nvSpPr>
        <p:spPr>
          <a:xfrm>
            <a:off x="292608" y="3236976"/>
            <a:ext cx="4251960" cy="658368"/>
          </a:xfrm>
          <a:prstGeom prst="rect">
            <a:avLst/>
          </a:prstGeom>
          <a:solidFill>
            <a:srgbClr val="051525"/>
          </a:solidFill>
          <a:ln w="10160">
            <a:solidFill>
              <a:srgbClr val="7B2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2608" y="3236976"/>
            <a:ext cx="45720" cy="658368"/>
          </a:xfrm>
          <a:prstGeom prst="rect">
            <a:avLst/>
          </a:prstGeom>
          <a:solidFill>
            <a:srgbClr val="7B2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297680" y="3474720"/>
            <a:ext cx="128016" cy="128016"/>
          </a:xfrm>
          <a:prstGeom prst="rect">
            <a:avLst/>
          </a:prstGeom>
          <a:solidFill>
            <a:srgbClr val="7B2FFF">
              <a:alpha val="4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8912" y="330098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7B2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AUTOMATION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438912" y="3529584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autonomous JS jobs  ·  Event-driven triggers  ·  No backend needed</a:t>
            </a:r>
            <a:endParaRPr lang="en-US" sz="880" dirty="0"/>
          </a:p>
        </p:txBody>
      </p:sp>
      <p:sp>
        <p:nvSpPr>
          <p:cNvPr id="43" name="Shape 41"/>
          <p:cNvSpPr/>
          <p:nvPr/>
        </p:nvSpPr>
        <p:spPr>
          <a:xfrm>
            <a:off x="4754880" y="3236976"/>
            <a:ext cx="4251960" cy="658368"/>
          </a:xfrm>
          <a:prstGeom prst="rect">
            <a:avLst/>
          </a:prstGeom>
          <a:solidFill>
            <a:srgbClr val="051525"/>
          </a:solidFill>
          <a:ln w="10160">
            <a:solidFill>
              <a:srgbClr val="00F0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754880" y="3236976"/>
            <a:ext cx="45720" cy="658368"/>
          </a:xfrm>
          <a:prstGeom prst="rect">
            <a:avLst/>
          </a:prstGeom>
          <a:solidFill>
            <a:srgbClr val="00F0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759952" y="3474720"/>
            <a:ext cx="128016" cy="128016"/>
          </a:xfrm>
          <a:prstGeom prst="rect">
            <a:avLst/>
          </a:prstGeom>
          <a:solidFill>
            <a:srgbClr val="00F0FF">
              <a:alpha val="4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901184" y="330098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DEPLOYMENT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4901184" y="3529584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 ·  Free tier forever  ·  Global CDN  ·  Auto-deploy on push</a:t>
            </a:r>
            <a:endParaRPr lang="en-US" sz="880" dirty="0"/>
          </a:p>
        </p:txBody>
      </p:sp>
      <p:sp>
        <p:nvSpPr>
          <p:cNvPr id="48" name="Shape 46"/>
          <p:cNvSpPr/>
          <p:nvPr/>
        </p:nvSpPr>
        <p:spPr>
          <a:xfrm>
            <a:off x="292608" y="4005072"/>
            <a:ext cx="4251960" cy="658368"/>
          </a:xfrm>
          <a:prstGeom prst="rect">
            <a:avLst/>
          </a:prstGeom>
          <a:solidFill>
            <a:srgbClr val="051525"/>
          </a:solidFill>
          <a:ln w="10160">
            <a:solidFill>
              <a:srgbClr val="00FF8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92608" y="4005072"/>
            <a:ext cx="45720" cy="658368"/>
          </a:xfrm>
          <a:prstGeom prst="rect">
            <a:avLst/>
          </a:prstGeom>
          <a:solidFill>
            <a:srgbClr val="00FF8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297680" y="4242816"/>
            <a:ext cx="128016" cy="128016"/>
          </a:xfrm>
          <a:prstGeom prst="rect">
            <a:avLst/>
          </a:prstGeom>
          <a:solidFill>
            <a:srgbClr val="00FF88">
              <a:alpha val="4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8912" y="40690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PWA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438912" y="4297680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 Manifest  ·  Installable on Android/iOS/Desktop  ·  Offline mode</a:t>
            </a:r>
            <a:endParaRPr lang="en-US" sz="880" dirty="0"/>
          </a:p>
        </p:txBody>
      </p:sp>
      <p:sp>
        <p:nvSpPr>
          <p:cNvPr id="53" name="Shape 51"/>
          <p:cNvSpPr/>
          <p:nvPr/>
        </p:nvSpPr>
        <p:spPr>
          <a:xfrm>
            <a:off x="4754880" y="4005072"/>
            <a:ext cx="4251960" cy="658368"/>
          </a:xfrm>
          <a:prstGeom prst="rect">
            <a:avLst/>
          </a:prstGeom>
          <a:solidFill>
            <a:srgbClr val="051525"/>
          </a:solidFill>
          <a:ln w="10160">
            <a:solidFill>
              <a:srgbClr val="FFB8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754880" y="4005072"/>
            <a:ext cx="45720" cy="658368"/>
          </a:xfrm>
          <a:prstGeom prst="rect">
            <a:avLst/>
          </a:prstGeom>
          <a:solidFill>
            <a:srgbClr val="FFB8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759952" y="4242816"/>
            <a:ext cx="128016" cy="128016"/>
          </a:xfrm>
          <a:prstGeom prst="rect">
            <a:avLst/>
          </a:prstGeom>
          <a:solidFill>
            <a:srgbClr val="FFB800">
              <a:alpha val="45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01184" y="40690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FFB8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FUTURE STACK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4901184" y="4297680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PostgreSQL  ·  MSG91 SMS  ·  Claude AI API  ·  Google Maps</a:t>
            </a:r>
            <a:endParaRPr lang="en-US" sz="8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1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6400800" cy="5486400"/>
          </a:xfrm>
          <a:prstGeom prst="ellipse">
            <a:avLst/>
          </a:prstGeom>
          <a:solidFill>
            <a:srgbClr val="7B2FFF">
              <a:alpha val="9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0" y="2743200"/>
            <a:ext cx="5486400" cy="4572000"/>
          </a:xfrm>
          <a:prstGeom prst="ellipse">
            <a:avLst/>
          </a:prstGeom>
          <a:solidFill>
            <a:srgbClr val="00F0FF">
              <a:alpha val="7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-914400"/>
            <a:ext cx="3657600" cy="2743200"/>
          </a:xfrm>
          <a:prstGeom prst="ellipse">
            <a:avLst/>
          </a:prstGeom>
          <a:solidFill>
            <a:srgbClr val="0A84FF">
              <a:alpha val="6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64592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09  ·  COMPETITIVE ADVANTAGE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365760" y="292608"/>
            <a:ext cx="73152" cy="457200"/>
          </a:xfrm>
          <a:prstGeom prst="rect">
            <a:avLst/>
          </a:prstGeom>
          <a:solidFill>
            <a:srgbClr val="00FF8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CivicEye Wins — vs CPGRAMS &amp; 311 Apps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92608" y="932688"/>
            <a:ext cx="2688336" cy="347472"/>
          </a:xfrm>
          <a:prstGeom prst="rect">
            <a:avLst/>
          </a:prstGeom>
          <a:solidFill>
            <a:srgbClr val="051525"/>
          </a:solidFill>
          <a:ln w="6350">
            <a:solidFill>
              <a:srgbClr val="3A60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2608" y="932688"/>
            <a:ext cx="2688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035808" y="932688"/>
            <a:ext cx="2322576" cy="347472"/>
          </a:xfrm>
          <a:prstGeom prst="rect">
            <a:avLst/>
          </a:prstGeom>
          <a:solidFill>
            <a:srgbClr val="00F0FF"/>
          </a:solidFill>
          <a:ln w="6350">
            <a:solidFill>
              <a:srgbClr val="3A6080"/>
            </a:solidFill>
            <a:prstDash val="solid"/>
          </a:ln>
          <a:effectLst>
            <a:outerShdw sx="100000" sy="100000" kx="0" ky="0" algn="bl" rotWithShape="0" blurRad="228600" dist="50800" dir="8100000">
              <a:srgbClr val="00F0FF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35808" y="932688"/>
            <a:ext cx="2322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CivicEye v6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13248" y="932688"/>
            <a:ext cx="1773936" cy="347472"/>
          </a:xfrm>
          <a:prstGeom prst="rect">
            <a:avLst/>
          </a:prstGeom>
          <a:solidFill>
            <a:srgbClr val="051525"/>
          </a:solidFill>
          <a:ln w="6350">
            <a:solidFill>
              <a:srgbClr val="3A60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13248" y="932688"/>
            <a:ext cx="17739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CPGRAMS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242048" y="932688"/>
            <a:ext cx="1773936" cy="347472"/>
          </a:xfrm>
          <a:prstGeom prst="rect">
            <a:avLst/>
          </a:prstGeom>
          <a:solidFill>
            <a:srgbClr val="051525"/>
          </a:solidFill>
          <a:ln w="6350">
            <a:solidFill>
              <a:srgbClr val="3A60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42048" y="932688"/>
            <a:ext cx="17739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311 Apps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92608" y="1298448"/>
            <a:ext cx="2688336" cy="320040"/>
          </a:xfrm>
          <a:prstGeom prst="rect">
            <a:avLst/>
          </a:prstGeom>
          <a:solidFill>
            <a:srgbClr val="041018"/>
          </a:solidFill>
          <a:ln w="3810">
            <a:solidFill>
              <a:srgbClr val="1A30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" y="1298448"/>
            <a:ext cx="2542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Classification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035808" y="1298448"/>
            <a:ext cx="2322576" cy="320040"/>
          </a:xfrm>
          <a:prstGeom prst="rect">
            <a:avLst/>
          </a:prstGeom>
          <a:solidFill>
            <a:srgbClr val="041A0A"/>
          </a:solidFill>
          <a:ln w="8890">
            <a:solidFill>
              <a:srgbClr val="00FF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127248" y="1298448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8 cats, 0-100 score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413248" y="1298448"/>
            <a:ext cx="1773936" cy="320040"/>
          </a:xfrm>
          <a:prstGeom prst="rect">
            <a:avLst/>
          </a:prstGeom>
          <a:solidFill>
            <a:srgbClr val="041018"/>
          </a:solidFill>
          <a:ln w="3810">
            <a:solidFill>
              <a:srgbClr val="1A304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504688" y="1298448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Manual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7242048" y="1298448"/>
            <a:ext cx="1773936" cy="320040"/>
          </a:xfrm>
          <a:prstGeom prst="rect">
            <a:avLst/>
          </a:prstGeom>
          <a:solidFill>
            <a:srgbClr val="041018"/>
          </a:solidFill>
          <a:ln w="3810">
            <a:solidFill>
              <a:srgbClr val="1A304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33488" y="1298448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Basic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92608" y="1642262"/>
            <a:ext cx="2688336" cy="320040"/>
          </a:xfrm>
          <a:prstGeom prst="rect">
            <a:avLst/>
          </a:prstGeom>
          <a:solidFill>
            <a:srgbClr val="051525"/>
          </a:solidFill>
          <a:ln w="3810">
            <a:solidFill>
              <a:srgbClr val="1A304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4048" y="1642262"/>
            <a:ext cx="2542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Audit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035808" y="1642262"/>
            <a:ext cx="2322576" cy="320040"/>
          </a:xfrm>
          <a:prstGeom prst="rect">
            <a:avLst/>
          </a:prstGeom>
          <a:solidFill>
            <a:srgbClr val="041A0A"/>
          </a:solidFill>
          <a:ln w="8890">
            <a:solidFill>
              <a:srgbClr val="00FF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27248" y="1642262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Cryptographic proof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413248" y="1642262"/>
            <a:ext cx="1773936" cy="320040"/>
          </a:xfrm>
          <a:prstGeom prst="rect">
            <a:avLst/>
          </a:prstGeom>
          <a:solidFill>
            <a:srgbClr val="051525"/>
          </a:solidFill>
          <a:ln w="3810">
            <a:solidFill>
              <a:srgbClr val="1A30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04688" y="1642262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None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7242048" y="1642262"/>
            <a:ext cx="1773936" cy="320040"/>
          </a:xfrm>
          <a:prstGeom prst="rect">
            <a:avLst/>
          </a:prstGeom>
          <a:solidFill>
            <a:srgbClr val="051525"/>
          </a:solidFill>
          <a:ln w="3810">
            <a:solidFill>
              <a:srgbClr val="1A304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33488" y="1642262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None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292608" y="1986077"/>
            <a:ext cx="2688336" cy="320040"/>
          </a:xfrm>
          <a:prstGeom prst="rect">
            <a:avLst/>
          </a:prstGeom>
          <a:solidFill>
            <a:srgbClr val="041018"/>
          </a:solidFill>
          <a:ln w="3810">
            <a:solidFill>
              <a:srgbClr val="1A304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4048" y="1986077"/>
            <a:ext cx="2542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Corruption Detection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3035808" y="1986077"/>
            <a:ext cx="2322576" cy="320040"/>
          </a:xfrm>
          <a:prstGeom prst="rect">
            <a:avLst/>
          </a:prstGeom>
          <a:solidFill>
            <a:srgbClr val="041A0A"/>
          </a:solidFill>
          <a:ln w="8890">
            <a:solidFill>
              <a:srgbClr val="00FF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127248" y="1986077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Auto-flag + escalate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413248" y="1986077"/>
            <a:ext cx="1773936" cy="320040"/>
          </a:xfrm>
          <a:prstGeom prst="rect">
            <a:avLst/>
          </a:prstGeom>
          <a:solidFill>
            <a:srgbClr val="041018"/>
          </a:solidFill>
          <a:ln w="3810">
            <a:solidFill>
              <a:srgbClr val="1A304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04688" y="1986077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None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7242048" y="1986077"/>
            <a:ext cx="1773936" cy="320040"/>
          </a:xfrm>
          <a:prstGeom prst="rect">
            <a:avLst/>
          </a:prstGeom>
          <a:solidFill>
            <a:srgbClr val="041018"/>
          </a:solidFill>
          <a:ln w="3810">
            <a:solidFill>
              <a:srgbClr val="1A304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33488" y="1986077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None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292608" y="2329891"/>
            <a:ext cx="2688336" cy="320040"/>
          </a:xfrm>
          <a:prstGeom prst="rect">
            <a:avLst/>
          </a:prstGeom>
          <a:solidFill>
            <a:srgbClr val="051525"/>
          </a:solidFill>
          <a:ln w="3810">
            <a:solidFill>
              <a:srgbClr val="1A304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4048" y="2329891"/>
            <a:ext cx="2542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Automation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3035808" y="2329891"/>
            <a:ext cx="2322576" cy="320040"/>
          </a:xfrm>
          <a:prstGeom prst="rect">
            <a:avLst/>
          </a:prstGeom>
          <a:solidFill>
            <a:srgbClr val="041A0A"/>
          </a:solidFill>
          <a:ln w="8890">
            <a:solidFill>
              <a:srgbClr val="00FF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127248" y="2329891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8 jobs, zero human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5413248" y="2329891"/>
            <a:ext cx="1773936" cy="320040"/>
          </a:xfrm>
          <a:prstGeom prst="rect">
            <a:avLst/>
          </a:prstGeom>
          <a:solidFill>
            <a:srgbClr val="051525"/>
          </a:solidFill>
          <a:ln w="3810">
            <a:solidFill>
              <a:srgbClr val="1A304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504688" y="2329891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Manual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7242048" y="2329891"/>
            <a:ext cx="1773936" cy="320040"/>
          </a:xfrm>
          <a:prstGeom prst="rect">
            <a:avLst/>
          </a:prstGeom>
          <a:solidFill>
            <a:srgbClr val="051525"/>
          </a:solidFill>
          <a:ln w="3810">
            <a:solidFill>
              <a:srgbClr val="1A304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33488" y="2329891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None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292608" y="2673706"/>
            <a:ext cx="2688336" cy="320040"/>
          </a:xfrm>
          <a:prstGeom prst="rect">
            <a:avLst/>
          </a:prstGeom>
          <a:solidFill>
            <a:srgbClr val="041018"/>
          </a:solidFill>
          <a:ln w="3810">
            <a:solidFill>
              <a:srgbClr val="1A304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84048" y="2673706"/>
            <a:ext cx="2542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Support Agent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3035808" y="2673706"/>
            <a:ext cx="2322576" cy="320040"/>
          </a:xfrm>
          <a:prstGeom prst="rect">
            <a:avLst/>
          </a:prstGeom>
          <a:solidFill>
            <a:srgbClr val="041A0A"/>
          </a:solidFill>
          <a:ln w="8890">
            <a:solidFill>
              <a:srgbClr val="00FF8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127248" y="2673706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Hindi + English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5413248" y="2673706"/>
            <a:ext cx="1773936" cy="320040"/>
          </a:xfrm>
          <a:prstGeom prst="rect">
            <a:avLst/>
          </a:prstGeom>
          <a:solidFill>
            <a:srgbClr val="041018"/>
          </a:solidFill>
          <a:ln w="3810">
            <a:solidFill>
              <a:srgbClr val="1A304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04688" y="2673706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None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7242048" y="2673706"/>
            <a:ext cx="1773936" cy="320040"/>
          </a:xfrm>
          <a:prstGeom prst="rect">
            <a:avLst/>
          </a:prstGeom>
          <a:solidFill>
            <a:srgbClr val="041018"/>
          </a:solidFill>
          <a:ln w="3810">
            <a:solidFill>
              <a:srgbClr val="1A304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333488" y="2673706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FAQ only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292608" y="3017520"/>
            <a:ext cx="2688336" cy="320040"/>
          </a:xfrm>
          <a:prstGeom prst="rect">
            <a:avLst/>
          </a:prstGeom>
          <a:solidFill>
            <a:srgbClr val="051525"/>
          </a:solidFill>
          <a:ln w="3810">
            <a:solidFill>
              <a:srgbClr val="1A304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84048" y="3017520"/>
            <a:ext cx="2542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Input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3035808" y="3017520"/>
            <a:ext cx="2322576" cy="320040"/>
          </a:xfrm>
          <a:prstGeom prst="rect">
            <a:avLst/>
          </a:prstGeom>
          <a:solidFill>
            <a:srgbClr val="041A0A"/>
          </a:solidFill>
          <a:ln w="8890">
            <a:solidFill>
              <a:srgbClr val="00FF8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127248" y="3017520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Hindi speech 🎤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5413248" y="3017520"/>
            <a:ext cx="1773936" cy="320040"/>
          </a:xfrm>
          <a:prstGeom prst="rect">
            <a:avLst/>
          </a:prstGeom>
          <a:solidFill>
            <a:srgbClr val="051525"/>
          </a:solidFill>
          <a:ln w="3810">
            <a:solidFill>
              <a:srgbClr val="1A304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504688" y="3017520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None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7242048" y="3017520"/>
            <a:ext cx="1773936" cy="320040"/>
          </a:xfrm>
          <a:prstGeom prst="rect">
            <a:avLst/>
          </a:prstGeom>
          <a:solidFill>
            <a:srgbClr val="051525"/>
          </a:solidFill>
          <a:ln w="3810">
            <a:solidFill>
              <a:srgbClr val="1A304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333488" y="3017520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None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292608" y="3361334"/>
            <a:ext cx="2688336" cy="320040"/>
          </a:xfrm>
          <a:prstGeom prst="rect">
            <a:avLst/>
          </a:prstGeom>
          <a:solidFill>
            <a:srgbClr val="041018"/>
          </a:solidFill>
          <a:ln w="3810">
            <a:solidFill>
              <a:srgbClr val="1A304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84048" y="3361334"/>
            <a:ext cx="2542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Auth + OTP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3035808" y="3361334"/>
            <a:ext cx="2322576" cy="320040"/>
          </a:xfrm>
          <a:prstGeom prst="rect">
            <a:avLst/>
          </a:prstGeom>
          <a:solidFill>
            <a:srgbClr val="041A0A"/>
          </a:solidFill>
          <a:ln w="8890">
            <a:solidFill>
              <a:srgbClr val="00FF8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127248" y="3361334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Mobile registration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5413248" y="3361334"/>
            <a:ext cx="1773936" cy="320040"/>
          </a:xfrm>
          <a:prstGeom prst="rect">
            <a:avLst/>
          </a:prstGeom>
          <a:solidFill>
            <a:srgbClr val="041018"/>
          </a:solidFill>
          <a:ln w="3810">
            <a:solidFill>
              <a:srgbClr val="1A304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504688" y="3361334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Govt ID only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7242048" y="3361334"/>
            <a:ext cx="1773936" cy="320040"/>
          </a:xfrm>
          <a:prstGeom prst="rect">
            <a:avLst/>
          </a:prstGeom>
          <a:solidFill>
            <a:srgbClr val="041018"/>
          </a:solidFill>
          <a:ln w="3810">
            <a:solidFill>
              <a:srgbClr val="1A304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333488" y="3361334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Email only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292608" y="3705149"/>
            <a:ext cx="2688336" cy="320040"/>
          </a:xfrm>
          <a:prstGeom prst="rect">
            <a:avLst/>
          </a:prstGeom>
          <a:solidFill>
            <a:srgbClr val="051525"/>
          </a:solidFill>
          <a:ln w="3810">
            <a:solidFill>
              <a:srgbClr val="1A304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84048" y="3705149"/>
            <a:ext cx="2542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Alerts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3035808" y="3705149"/>
            <a:ext cx="2322576" cy="320040"/>
          </a:xfrm>
          <a:prstGeom prst="rect">
            <a:avLst/>
          </a:prstGeom>
          <a:solidFill>
            <a:srgbClr val="041A0A"/>
          </a:solidFill>
          <a:ln w="8890">
            <a:solidFill>
              <a:srgbClr val="00FF8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127248" y="3705149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Auto-send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5413248" y="3705149"/>
            <a:ext cx="1773936" cy="320040"/>
          </a:xfrm>
          <a:prstGeom prst="rect">
            <a:avLst/>
          </a:prstGeom>
          <a:solidFill>
            <a:srgbClr val="051525"/>
          </a:solidFill>
          <a:ln w="3810">
            <a:solidFill>
              <a:srgbClr val="1A304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504688" y="3705149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None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7242048" y="3705149"/>
            <a:ext cx="1773936" cy="320040"/>
          </a:xfrm>
          <a:prstGeom prst="rect">
            <a:avLst/>
          </a:prstGeom>
          <a:solidFill>
            <a:srgbClr val="051525"/>
          </a:solidFill>
          <a:ln w="3810">
            <a:solidFill>
              <a:srgbClr val="1A304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333488" y="3705149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B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Email only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292608" y="4048963"/>
            <a:ext cx="2688336" cy="320040"/>
          </a:xfrm>
          <a:prstGeom prst="rect">
            <a:avLst/>
          </a:prstGeom>
          <a:solidFill>
            <a:srgbClr val="041018"/>
          </a:solidFill>
          <a:ln w="3810">
            <a:solidFill>
              <a:srgbClr val="1A304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84048" y="4048963"/>
            <a:ext cx="2542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Time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3035808" y="4048963"/>
            <a:ext cx="2322576" cy="320040"/>
          </a:xfrm>
          <a:prstGeom prst="rect">
            <a:avLst/>
          </a:prstGeom>
          <a:solidFill>
            <a:srgbClr val="041A0A"/>
          </a:solidFill>
          <a:ln w="8890">
            <a:solidFill>
              <a:srgbClr val="00FF88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3127248" y="4048963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30 minutes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5413248" y="4048963"/>
            <a:ext cx="1773936" cy="320040"/>
          </a:xfrm>
          <a:prstGeom prst="rect">
            <a:avLst/>
          </a:prstGeom>
          <a:solidFill>
            <a:srgbClr val="041018"/>
          </a:solidFill>
          <a:ln w="3810">
            <a:solidFill>
              <a:srgbClr val="1A304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5504688" y="4048963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Years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7242048" y="4048963"/>
            <a:ext cx="1773936" cy="320040"/>
          </a:xfrm>
          <a:prstGeom prst="rect">
            <a:avLst/>
          </a:prstGeom>
          <a:solidFill>
            <a:srgbClr val="041018"/>
          </a:solidFill>
          <a:ln w="3810">
            <a:solidFill>
              <a:srgbClr val="1A304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7333488" y="4048963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Months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292608" y="4392778"/>
            <a:ext cx="2688336" cy="320040"/>
          </a:xfrm>
          <a:prstGeom prst="rect">
            <a:avLst/>
          </a:prstGeom>
          <a:solidFill>
            <a:srgbClr val="051525"/>
          </a:solidFill>
          <a:ln w="3810">
            <a:solidFill>
              <a:srgbClr val="1A304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84048" y="4392778"/>
            <a:ext cx="2542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3035808" y="4392778"/>
            <a:ext cx="2322576" cy="320040"/>
          </a:xfrm>
          <a:prstGeom prst="rect">
            <a:avLst/>
          </a:prstGeom>
          <a:solidFill>
            <a:srgbClr val="041A0A"/>
          </a:solidFill>
          <a:ln w="8890">
            <a:solidFill>
              <a:srgbClr val="00FF88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3127248" y="4392778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₹0 FOREVER</a:t>
            </a:r>
            <a:endParaRPr lang="en-US" sz="850" dirty="0"/>
          </a:p>
        </p:txBody>
      </p:sp>
      <p:sp>
        <p:nvSpPr>
          <p:cNvPr id="92" name="Shape 90"/>
          <p:cNvSpPr/>
          <p:nvPr/>
        </p:nvSpPr>
        <p:spPr>
          <a:xfrm>
            <a:off x="5413248" y="4392778"/>
            <a:ext cx="1773936" cy="320040"/>
          </a:xfrm>
          <a:prstGeom prst="rect">
            <a:avLst/>
          </a:prstGeom>
          <a:solidFill>
            <a:srgbClr val="051525"/>
          </a:solidFill>
          <a:ln w="3810">
            <a:solidFill>
              <a:srgbClr val="1A304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5504688" y="4392778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B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💸 ₹100s Cr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7242048" y="4392778"/>
            <a:ext cx="1773936" cy="320040"/>
          </a:xfrm>
          <a:prstGeom prst="rect">
            <a:avLst/>
          </a:prstGeom>
          <a:solidFill>
            <a:srgbClr val="051525"/>
          </a:solidFill>
          <a:ln w="3810">
            <a:solidFill>
              <a:srgbClr val="1A304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7333488" y="4392778"/>
            <a:ext cx="1627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B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💸 $$$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1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6400800" cy="5486400"/>
          </a:xfrm>
          <a:prstGeom prst="ellipse">
            <a:avLst/>
          </a:prstGeom>
          <a:solidFill>
            <a:srgbClr val="7B2FFF">
              <a:alpha val="9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0" y="2743200"/>
            <a:ext cx="5486400" cy="4572000"/>
          </a:xfrm>
          <a:prstGeom prst="ellipse">
            <a:avLst/>
          </a:prstGeom>
          <a:solidFill>
            <a:srgbClr val="00F0FF">
              <a:alpha val="7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-914400"/>
            <a:ext cx="3657600" cy="2743200"/>
          </a:xfrm>
          <a:prstGeom prst="ellipse">
            <a:avLst/>
          </a:prstGeom>
          <a:solidFill>
            <a:srgbClr val="0A84FF">
              <a:alpha val="6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64592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FFB8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10  ·  MARKET OPPORTUNITY &amp; REVENUE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365760" y="292608"/>
            <a:ext cx="73152" cy="457200"/>
          </a:xfrm>
          <a:prstGeom prst="rect">
            <a:avLst/>
          </a:prstGeom>
          <a:solidFill>
            <a:srgbClr val="FFB8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Opportunity &amp; Revenue Model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92608" y="932688"/>
            <a:ext cx="1920240" cy="1005840"/>
          </a:xfrm>
          <a:prstGeom prst="rect">
            <a:avLst/>
          </a:prstGeom>
          <a:solidFill>
            <a:srgbClr val="051525"/>
          </a:solidFill>
          <a:ln w="12700">
            <a:solidFill>
              <a:srgbClr val="00F0FF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92608" y="932688"/>
            <a:ext cx="1920240" cy="54864"/>
          </a:xfrm>
          <a:prstGeom prst="rect">
            <a:avLst/>
          </a:prstGeom>
          <a:solidFill>
            <a:srgbClr val="00F0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2608" y="102412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500M+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92608" y="15544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Users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487168" y="932688"/>
            <a:ext cx="1920240" cy="1005840"/>
          </a:xfrm>
          <a:prstGeom prst="rect">
            <a:avLst/>
          </a:prstGeom>
          <a:solidFill>
            <a:srgbClr val="051525"/>
          </a:solidFill>
          <a:ln w="12700">
            <a:solidFill>
              <a:srgbClr val="7B2FFF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487168" y="932688"/>
            <a:ext cx="1920240" cy="54864"/>
          </a:xfrm>
          <a:prstGeom prst="rect">
            <a:avLst/>
          </a:prstGeom>
          <a:solidFill>
            <a:srgbClr val="7B2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87168" y="102412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7B2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4,000+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2487168" y="15544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Municipalities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681728" y="932688"/>
            <a:ext cx="1920240" cy="1005840"/>
          </a:xfrm>
          <a:prstGeom prst="rect">
            <a:avLst/>
          </a:prstGeom>
          <a:solidFill>
            <a:srgbClr val="051525"/>
          </a:solidFill>
          <a:ln w="12700">
            <a:solidFill>
              <a:srgbClr val="00FF88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81728" y="932688"/>
            <a:ext cx="1920240" cy="54864"/>
          </a:xfrm>
          <a:prstGeom prst="rect">
            <a:avLst/>
          </a:prstGeom>
          <a:solidFill>
            <a:srgbClr val="00FF8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81728" y="102412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₹2,500 Cr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4681728" y="15544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GovTech 2026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876288" y="932688"/>
            <a:ext cx="1920240" cy="1005840"/>
          </a:xfrm>
          <a:prstGeom prst="rect">
            <a:avLst/>
          </a:prstGeom>
          <a:solidFill>
            <a:srgbClr val="051525"/>
          </a:solidFill>
          <a:ln w="12700">
            <a:solidFill>
              <a:srgbClr val="FF2D55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876288" y="932688"/>
            <a:ext cx="1920240" cy="54864"/>
          </a:xfrm>
          <a:prstGeom prst="rect">
            <a:avLst/>
          </a:prstGeom>
          <a:solidFill>
            <a:srgbClr val="FF2D5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76288" y="102412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2D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70%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876288" y="15544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Unresolved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92608" y="2121408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Streams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2608" y="2487168"/>
            <a:ext cx="4251960" cy="548640"/>
          </a:xfrm>
          <a:prstGeom prst="rect">
            <a:avLst/>
          </a:prstGeom>
          <a:solidFill>
            <a:srgbClr val="051525"/>
          </a:solidFill>
          <a:ln w="15240">
            <a:solidFill>
              <a:srgbClr val="00F0FF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92608" y="2487168"/>
            <a:ext cx="54864" cy="548640"/>
          </a:xfrm>
          <a:prstGeom prst="rect">
            <a:avLst/>
          </a:prstGeom>
          <a:solidFill>
            <a:srgbClr val="00F0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5488" y="253288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  B2G SaaS License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75488" y="276148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₹50K–5L/month per municipality. Unlimited complaints.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292608" y="3108960"/>
            <a:ext cx="4251960" cy="548640"/>
          </a:xfrm>
          <a:prstGeom prst="rect">
            <a:avLst/>
          </a:prstGeom>
          <a:solidFill>
            <a:srgbClr val="051525"/>
          </a:solidFill>
          <a:ln w="15240">
            <a:solidFill>
              <a:srgbClr val="7B2FFF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292608" y="3108960"/>
            <a:ext cx="54864" cy="548640"/>
          </a:xfrm>
          <a:prstGeom prst="rect">
            <a:avLst/>
          </a:prstGeom>
          <a:solidFill>
            <a:srgbClr val="7B2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5488" y="315468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B2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Analytics Dashboard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75488" y="338328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ward-level intelligence reports. ₹2L/year.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292608" y="3730752"/>
            <a:ext cx="4251960" cy="548640"/>
          </a:xfrm>
          <a:prstGeom prst="rect">
            <a:avLst/>
          </a:prstGeom>
          <a:solidFill>
            <a:srgbClr val="051525"/>
          </a:solidFill>
          <a:ln w="15240">
            <a:solidFill>
              <a:srgbClr val="FF2D55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292608" y="3730752"/>
            <a:ext cx="54864" cy="548640"/>
          </a:xfrm>
          <a:prstGeom prst="rect">
            <a:avLst/>
          </a:prstGeom>
          <a:solidFill>
            <a:srgbClr val="FF2D5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" y="377647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2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  Corruption Audit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75488" y="400507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RTI-grade blockchain reports for legal use. ₹5K/report.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292608" y="4352544"/>
            <a:ext cx="4251960" cy="548640"/>
          </a:xfrm>
          <a:prstGeom prst="rect">
            <a:avLst/>
          </a:prstGeom>
          <a:solidFill>
            <a:srgbClr val="051525"/>
          </a:solidFill>
          <a:ln w="15240">
            <a:solidFill>
              <a:srgbClr val="25D366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292608" y="4352544"/>
            <a:ext cx="54864" cy="548640"/>
          </a:xfrm>
          <a:prstGeom prst="rect">
            <a:avLst/>
          </a:prstGeom>
          <a:solidFill>
            <a:srgbClr val="25D36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5488" y="4398264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5D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📲  WhatsApp API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75488" y="462686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White-label citizen alert system. Revenue share model.</a:t>
            </a:r>
            <a:endParaRPr lang="en-US" sz="880" dirty="0"/>
          </a:p>
        </p:txBody>
      </p:sp>
      <p:sp>
        <p:nvSpPr>
          <p:cNvPr id="41" name="Text 39"/>
          <p:cNvSpPr/>
          <p:nvPr/>
        </p:nvSpPr>
        <p:spPr>
          <a:xfrm>
            <a:off x="4800600" y="212140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Roadmap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4800600" y="2487168"/>
            <a:ext cx="4069080" cy="548640"/>
          </a:xfrm>
          <a:prstGeom prst="rect">
            <a:avLst/>
          </a:prstGeom>
          <a:solidFill>
            <a:srgbClr val="051525"/>
          </a:solidFill>
          <a:ln w="15240">
            <a:solidFill>
              <a:srgbClr val="00F0FF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4800600" y="2487168"/>
            <a:ext cx="54864" cy="548640"/>
          </a:xfrm>
          <a:prstGeom prst="rect">
            <a:avLst/>
          </a:prstGeom>
          <a:solidFill>
            <a:srgbClr val="00F0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83480" y="2532888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Phase 1  (0–3 months)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4983480" y="2761488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OTP · FastAPI backend · PostgreSQL · 2 pilot municipalities</a:t>
            </a:r>
            <a:endParaRPr lang="en-US" sz="880" dirty="0"/>
          </a:p>
        </p:txBody>
      </p:sp>
      <p:sp>
        <p:nvSpPr>
          <p:cNvPr id="46" name="Shape 44"/>
          <p:cNvSpPr/>
          <p:nvPr/>
        </p:nvSpPr>
        <p:spPr>
          <a:xfrm>
            <a:off x="4800600" y="3108960"/>
            <a:ext cx="4069080" cy="548640"/>
          </a:xfrm>
          <a:prstGeom prst="rect">
            <a:avLst/>
          </a:prstGeom>
          <a:solidFill>
            <a:srgbClr val="051525"/>
          </a:solidFill>
          <a:ln w="15240">
            <a:solidFill>
              <a:srgbClr val="0A84FF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4800600" y="3108960"/>
            <a:ext cx="54864" cy="548640"/>
          </a:xfrm>
          <a:prstGeom prst="rect">
            <a:avLst/>
          </a:prstGeom>
          <a:solidFill>
            <a:srgbClr val="0A84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983480" y="3154680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8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Phase 2  (3–6 months)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4983480" y="3383280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AI API · Google Maps · 10 cities · ₹10L ARR</a:t>
            </a:r>
            <a:endParaRPr lang="en-US" sz="880" dirty="0"/>
          </a:p>
        </p:txBody>
      </p:sp>
      <p:sp>
        <p:nvSpPr>
          <p:cNvPr id="50" name="Shape 48"/>
          <p:cNvSpPr/>
          <p:nvPr/>
        </p:nvSpPr>
        <p:spPr>
          <a:xfrm>
            <a:off x="4800600" y="3730752"/>
            <a:ext cx="4069080" cy="548640"/>
          </a:xfrm>
          <a:prstGeom prst="rect">
            <a:avLst/>
          </a:prstGeom>
          <a:solidFill>
            <a:srgbClr val="051525"/>
          </a:solidFill>
          <a:ln w="15240">
            <a:solidFill>
              <a:srgbClr val="7B2FFF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4800600" y="3730752"/>
            <a:ext cx="54864" cy="548640"/>
          </a:xfrm>
          <a:prstGeom prst="rect">
            <a:avLst/>
          </a:prstGeom>
          <a:solidFill>
            <a:srgbClr val="7B2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983480" y="3776472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B2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Phase 3  (6–12 months)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4983480" y="4005072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Indian languages · Mobile app · 100 cities · ₹1 Cr ARR</a:t>
            </a:r>
            <a:endParaRPr lang="en-US" sz="880" dirty="0"/>
          </a:p>
        </p:txBody>
      </p:sp>
      <p:sp>
        <p:nvSpPr>
          <p:cNvPr id="54" name="Shape 52"/>
          <p:cNvSpPr/>
          <p:nvPr/>
        </p:nvSpPr>
        <p:spPr>
          <a:xfrm>
            <a:off x="4800600" y="4352544"/>
            <a:ext cx="4069080" cy="548640"/>
          </a:xfrm>
          <a:prstGeom prst="rect">
            <a:avLst/>
          </a:prstGeom>
          <a:solidFill>
            <a:srgbClr val="051525"/>
          </a:solidFill>
          <a:ln w="15240">
            <a:solidFill>
              <a:srgbClr val="00FF88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4800600" y="4352544"/>
            <a:ext cx="54864" cy="548640"/>
          </a:xfrm>
          <a:prstGeom prst="rect">
            <a:avLst/>
          </a:prstGeom>
          <a:solidFill>
            <a:srgbClr val="00FF8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83480" y="4398264"/>
            <a:ext cx="3703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Phase 4  (Year 2+)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4983480" y="4626864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API integration · All state municipalities · Export</a:t>
            </a:r>
            <a:endParaRPr lang="en-US" sz="8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1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6400800" cy="5486400"/>
          </a:xfrm>
          <a:prstGeom prst="ellipse">
            <a:avLst/>
          </a:prstGeom>
          <a:solidFill>
            <a:srgbClr val="7B2FFF">
              <a:alpha val="9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0" y="2743200"/>
            <a:ext cx="5486400" cy="4572000"/>
          </a:xfrm>
          <a:prstGeom prst="ellipse">
            <a:avLst/>
          </a:prstGeom>
          <a:solidFill>
            <a:srgbClr val="00F0FF">
              <a:alpha val="7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-914400"/>
            <a:ext cx="3657600" cy="2743200"/>
          </a:xfrm>
          <a:prstGeom prst="ellipse">
            <a:avLst/>
          </a:prstGeom>
          <a:solidFill>
            <a:srgbClr val="0A84FF">
              <a:alpha val="6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64592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11  ·  TEAM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365760" y="292608"/>
            <a:ext cx="73152" cy="457200"/>
          </a:xfrm>
          <a:prstGeom prst="rect">
            <a:avLst/>
          </a:prstGeom>
          <a:solidFill>
            <a:srgbClr val="00F0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the Team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95528" y="896112"/>
            <a:ext cx="1170432" cy="1170432"/>
          </a:xfrm>
          <a:prstGeom prst="ellipse">
            <a:avLst/>
          </a:prstGeom>
          <a:solidFill>
            <a:srgbClr val="00F0FF">
              <a:alpha val="12000"/>
            </a:srgbClr>
          </a:solidFill>
          <a:ln w="19050">
            <a:solidFill>
              <a:srgbClr val="00F0FF"/>
            </a:solidFill>
            <a:prstDash val="solid"/>
          </a:ln>
          <a:effectLst>
            <a:outerShdw sx="100000" sy="100000" kx="0" ky="0" algn="bl" rotWithShape="0" blurRad="228600" dist="50800" dir="8100000">
              <a:srgbClr val="00F0FF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14400" y="1014984"/>
            <a:ext cx="932688" cy="932688"/>
          </a:xfrm>
          <a:prstGeom prst="ellipse">
            <a:avLst/>
          </a:prstGeom>
          <a:solidFill>
            <a:srgbClr val="00F0FF">
              <a:alpha val="22000"/>
            </a:srgbClr>
          </a:solidFill>
          <a:ln w="10160">
            <a:solidFill>
              <a:srgbClr val="00F0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896112"/>
            <a:ext cx="1170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👩‍💻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92608" y="2194560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Riya Thakur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92608" y="2468880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60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Full Stack Lead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92608" y="2743200"/>
            <a:ext cx="2084832" cy="1719072"/>
          </a:xfrm>
          <a:prstGeom prst="rect">
            <a:avLst/>
          </a:prstGeom>
          <a:solidFill>
            <a:srgbClr val="051525"/>
          </a:solidFill>
          <a:ln w="10160">
            <a:solidFill>
              <a:srgbClr val="00F0FF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92608" y="2743200"/>
            <a:ext cx="2084832" cy="45720"/>
          </a:xfrm>
          <a:prstGeom prst="rect">
            <a:avLst/>
          </a:prstGeom>
          <a:solidFill>
            <a:srgbClr val="00F0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" y="2834640"/>
            <a:ext cx="91440" cy="91440"/>
          </a:xfrm>
          <a:prstGeom prst="ellipse">
            <a:avLst/>
          </a:prstGeom>
          <a:solidFill>
            <a:srgbClr val="00F0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807208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entire CivicEye v6.0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411480" y="3145536"/>
            <a:ext cx="91440" cy="91440"/>
          </a:xfrm>
          <a:prstGeom prst="ellipse">
            <a:avLst/>
          </a:prstGeom>
          <a:solidFill>
            <a:srgbClr val="00F0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3118104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Classification Engine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411480" y="3456432"/>
            <a:ext cx="91440" cy="91440"/>
          </a:xfrm>
          <a:prstGeom prst="ellipse">
            <a:avLst/>
          </a:prstGeom>
          <a:solidFill>
            <a:srgbClr val="00F0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3429000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implementation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411480" y="3767328"/>
            <a:ext cx="91440" cy="91440"/>
          </a:xfrm>
          <a:prstGeom prst="ellipse">
            <a:avLst/>
          </a:prstGeom>
          <a:solidFill>
            <a:srgbClr val="00F0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3739896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Auth + OTP system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411480" y="4078224"/>
            <a:ext cx="91440" cy="91440"/>
          </a:xfrm>
          <a:prstGeom prst="ellipse">
            <a:avLst/>
          </a:prstGeom>
          <a:solidFill>
            <a:srgbClr val="00F0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4050792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deployment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292608" y="4517136"/>
            <a:ext cx="2084832" cy="457200"/>
          </a:xfrm>
          <a:prstGeom prst="rect">
            <a:avLst/>
          </a:prstGeom>
          <a:solidFill>
            <a:srgbClr val="00F0FF">
              <a:alpha val="14000"/>
            </a:srgbClr>
          </a:solidFill>
          <a:ln w="7620">
            <a:solidFill>
              <a:srgbClr val="00F0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8328" y="451713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 · Vite · JavaScript · Git · Vercel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008376" y="896112"/>
            <a:ext cx="1170432" cy="1170432"/>
          </a:xfrm>
          <a:prstGeom prst="ellipse">
            <a:avLst/>
          </a:prstGeom>
          <a:solidFill>
            <a:srgbClr val="7B2FFF">
              <a:alpha val="12000"/>
            </a:srgbClr>
          </a:solidFill>
          <a:ln w="19050">
            <a:solidFill>
              <a:srgbClr val="7B2FFF"/>
            </a:solidFill>
            <a:prstDash val="solid"/>
          </a:ln>
          <a:effectLst>
            <a:outerShdw sx="100000" sy="100000" kx="0" ky="0" algn="bl" rotWithShape="0" blurRad="228600" dist="50800" dir="8100000">
              <a:srgbClr val="7B2FFF">
                <a:alpha val="2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127248" y="1014984"/>
            <a:ext cx="932688" cy="932688"/>
          </a:xfrm>
          <a:prstGeom prst="ellipse">
            <a:avLst/>
          </a:prstGeom>
          <a:solidFill>
            <a:srgbClr val="7B2FFF">
              <a:alpha val="22000"/>
            </a:srgbClr>
          </a:solidFill>
          <a:ln w="10160">
            <a:solidFill>
              <a:srgbClr val="7B2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008376" y="896112"/>
            <a:ext cx="1170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🧠</a:t>
            </a:r>
            <a:endParaRPr lang="en-US" sz="3000" dirty="0"/>
          </a:p>
        </p:txBody>
      </p:sp>
      <p:sp>
        <p:nvSpPr>
          <p:cNvPr id="30" name="Text 28"/>
          <p:cNvSpPr/>
          <p:nvPr/>
        </p:nvSpPr>
        <p:spPr>
          <a:xfrm>
            <a:off x="2505456" y="2194560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B2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Anjali Prajapat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505456" y="2468880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60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&amp; Research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2505456" y="2743200"/>
            <a:ext cx="2084832" cy="1719072"/>
          </a:xfrm>
          <a:prstGeom prst="rect">
            <a:avLst/>
          </a:prstGeom>
          <a:solidFill>
            <a:srgbClr val="051525"/>
          </a:solidFill>
          <a:ln w="10160">
            <a:solidFill>
              <a:srgbClr val="7B2FFF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2505456" y="2743200"/>
            <a:ext cx="2084832" cy="45720"/>
          </a:xfrm>
          <a:prstGeom prst="rect">
            <a:avLst/>
          </a:prstGeom>
          <a:solidFill>
            <a:srgbClr val="7B2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24328" y="2834640"/>
            <a:ext cx="91440" cy="91440"/>
          </a:xfrm>
          <a:prstGeom prst="ellipse">
            <a:avLst/>
          </a:prstGeom>
          <a:solidFill>
            <a:srgbClr val="7B2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61488" y="2807208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automation logic design</a:t>
            </a:r>
            <a:endParaRPr lang="en-US" sz="780" dirty="0"/>
          </a:p>
        </p:txBody>
      </p:sp>
      <p:sp>
        <p:nvSpPr>
          <p:cNvPr id="36" name="Shape 34"/>
          <p:cNvSpPr/>
          <p:nvPr/>
        </p:nvSpPr>
        <p:spPr>
          <a:xfrm>
            <a:off x="2624328" y="3145536"/>
            <a:ext cx="91440" cy="91440"/>
          </a:xfrm>
          <a:prstGeom prst="ellipse">
            <a:avLst/>
          </a:prstGeom>
          <a:solidFill>
            <a:srgbClr val="7B2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61488" y="3118104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research &amp; analysis</a:t>
            </a:r>
            <a:endParaRPr lang="en-US" sz="780" dirty="0"/>
          </a:p>
        </p:txBody>
      </p:sp>
      <p:sp>
        <p:nvSpPr>
          <p:cNvPr id="38" name="Shape 36"/>
          <p:cNvSpPr/>
          <p:nvPr/>
        </p:nvSpPr>
        <p:spPr>
          <a:xfrm>
            <a:off x="2624328" y="3456432"/>
            <a:ext cx="91440" cy="91440"/>
          </a:xfrm>
          <a:prstGeom prst="ellipse">
            <a:avLst/>
          </a:prstGeom>
          <a:solidFill>
            <a:srgbClr val="7B2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761488" y="3429000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Corruption detection model</a:t>
            </a:r>
            <a:endParaRPr lang="en-US" sz="780" dirty="0"/>
          </a:p>
        </p:txBody>
      </p:sp>
      <p:sp>
        <p:nvSpPr>
          <p:cNvPr id="40" name="Shape 38"/>
          <p:cNvSpPr/>
          <p:nvPr/>
        </p:nvSpPr>
        <p:spPr>
          <a:xfrm>
            <a:off x="2624328" y="3767328"/>
            <a:ext cx="91440" cy="91440"/>
          </a:xfrm>
          <a:prstGeom prst="ellipse">
            <a:avLst/>
          </a:prstGeom>
          <a:solidFill>
            <a:srgbClr val="7B2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761488" y="3739896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framework design</a:t>
            </a:r>
            <a:endParaRPr lang="en-US" sz="780" dirty="0"/>
          </a:p>
        </p:txBody>
      </p:sp>
      <p:sp>
        <p:nvSpPr>
          <p:cNvPr id="42" name="Shape 40"/>
          <p:cNvSpPr/>
          <p:nvPr/>
        </p:nvSpPr>
        <p:spPr>
          <a:xfrm>
            <a:off x="2624328" y="4078224"/>
            <a:ext cx="91440" cy="91440"/>
          </a:xfrm>
          <a:prstGeom prst="ellipse">
            <a:avLst/>
          </a:prstGeom>
          <a:solidFill>
            <a:srgbClr val="7B2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761488" y="4050792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research</a:t>
            </a:r>
            <a:endParaRPr lang="en-US" sz="780" dirty="0"/>
          </a:p>
        </p:txBody>
      </p:sp>
      <p:sp>
        <p:nvSpPr>
          <p:cNvPr id="44" name="Shape 42"/>
          <p:cNvSpPr/>
          <p:nvPr/>
        </p:nvSpPr>
        <p:spPr>
          <a:xfrm>
            <a:off x="2505456" y="4517136"/>
            <a:ext cx="2084832" cy="457200"/>
          </a:xfrm>
          <a:prstGeom prst="rect">
            <a:avLst/>
          </a:prstGeom>
          <a:solidFill>
            <a:srgbClr val="7B2FFF">
              <a:alpha val="14000"/>
            </a:srgbClr>
          </a:solidFill>
          <a:ln w="7620">
            <a:solidFill>
              <a:srgbClr val="7B2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51176" y="451713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B2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· ML Concepts · Research · Docs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5221224" y="896112"/>
            <a:ext cx="1170432" cy="1170432"/>
          </a:xfrm>
          <a:prstGeom prst="ellipse">
            <a:avLst/>
          </a:prstGeom>
          <a:solidFill>
            <a:srgbClr val="00FF88">
              <a:alpha val="12000"/>
            </a:srgbClr>
          </a:solidFill>
          <a:ln w="19050">
            <a:solidFill>
              <a:srgbClr val="00FF88"/>
            </a:solidFill>
            <a:prstDash val="solid"/>
          </a:ln>
          <a:effectLst>
            <a:outerShdw sx="100000" sy="100000" kx="0" ky="0" algn="bl" rotWithShape="0" blurRad="228600" dist="50800" dir="8100000">
              <a:srgbClr val="00FF88">
                <a:alpha val="25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5340096" y="1014984"/>
            <a:ext cx="932688" cy="932688"/>
          </a:xfrm>
          <a:prstGeom prst="ellipse">
            <a:avLst/>
          </a:prstGeom>
          <a:solidFill>
            <a:srgbClr val="00FF88">
              <a:alpha val="22000"/>
            </a:srgbClr>
          </a:solidFill>
          <a:ln w="10160">
            <a:solidFill>
              <a:srgbClr val="00FF8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21224" y="896112"/>
            <a:ext cx="1170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🎨</a:t>
            </a:r>
            <a:endParaRPr lang="en-US" sz="3000" dirty="0"/>
          </a:p>
        </p:txBody>
      </p:sp>
      <p:sp>
        <p:nvSpPr>
          <p:cNvPr id="49" name="Text 47"/>
          <p:cNvSpPr/>
          <p:nvPr/>
        </p:nvSpPr>
        <p:spPr>
          <a:xfrm>
            <a:off x="4718304" y="2194560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Ritik Joshi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718304" y="2468880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60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UI/UX Design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718304" y="2743200"/>
            <a:ext cx="2084832" cy="1719072"/>
          </a:xfrm>
          <a:prstGeom prst="rect">
            <a:avLst/>
          </a:prstGeom>
          <a:solidFill>
            <a:srgbClr val="051525"/>
          </a:solidFill>
          <a:ln w="10160">
            <a:solidFill>
              <a:srgbClr val="00FF88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4718304" y="2743200"/>
            <a:ext cx="2084832" cy="45720"/>
          </a:xfrm>
          <a:prstGeom prst="rect">
            <a:avLst/>
          </a:prstGeom>
          <a:solidFill>
            <a:srgbClr val="00FF8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837176" y="2834640"/>
            <a:ext cx="91440" cy="91440"/>
          </a:xfrm>
          <a:prstGeom prst="ellipse">
            <a:avLst/>
          </a:prstGeom>
          <a:solidFill>
            <a:srgbClr val="00FF8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74336" y="2807208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Holographic design system</a:t>
            </a:r>
            <a:endParaRPr lang="en-US" sz="780" dirty="0"/>
          </a:p>
        </p:txBody>
      </p:sp>
      <p:sp>
        <p:nvSpPr>
          <p:cNvPr id="55" name="Shape 53"/>
          <p:cNvSpPr/>
          <p:nvPr/>
        </p:nvSpPr>
        <p:spPr>
          <a:xfrm>
            <a:off x="4837176" y="3145536"/>
            <a:ext cx="91440" cy="91440"/>
          </a:xfrm>
          <a:prstGeom prst="ellipse">
            <a:avLst/>
          </a:prstGeom>
          <a:solidFill>
            <a:srgbClr val="00FF8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74336" y="3118104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palette &amp; typography</a:t>
            </a:r>
            <a:endParaRPr lang="en-US" sz="780" dirty="0"/>
          </a:p>
        </p:txBody>
      </p:sp>
      <p:sp>
        <p:nvSpPr>
          <p:cNvPr id="57" name="Shape 55"/>
          <p:cNvSpPr/>
          <p:nvPr/>
        </p:nvSpPr>
        <p:spPr>
          <a:xfrm>
            <a:off x="4837176" y="3456432"/>
            <a:ext cx="91440" cy="91440"/>
          </a:xfrm>
          <a:prstGeom prst="ellipse">
            <a:avLst/>
          </a:prstGeom>
          <a:solidFill>
            <a:srgbClr val="00FF8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974336" y="3429000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flow wireframes</a:t>
            </a:r>
            <a:endParaRPr lang="en-US" sz="780" dirty="0"/>
          </a:p>
        </p:txBody>
      </p:sp>
      <p:sp>
        <p:nvSpPr>
          <p:cNvPr id="59" name="Shape 57"/>
          <p:cNvSpPr/>
          <p:nvPr/>
        </p:nvSpPr>
        <p:spPr>
          <a:xfrm>
            <a:off x="4837176" y="3767328"/>
            <a:ext cx="91440" cy="91440"/>
          </a:xfrm>
          <a:prstGeom prst="ellipse">
            <a:avLst/>
          </a:prstGeom>
          <a:solidFill>
            <a:srgbClr val="00FF8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974336" y="3739896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 review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4837176" y="4078224"/>
            <a:ext cx="91440" cy="91440"/>
          </a:xfrm>
          <a:prstGeom prst="ellipse">
            <a:avLst/>
          </a:prstGeom>
          <a:solidFill>
            <a:srgbClr val="00FF88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974336" y="4050792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 concepts</a:t>
            </a:r>
            <a:endParaRPr lang="en-US" sz="780" dirty="0"/>
          </a:p>
        </p:txBody>
      </p:sp>
      <p:sp>
        <p:nvSpPr>
          <p:cNvPr id="63" name="Shape 61"/>
          <p:cNvSpPr/>
          <p:nvPr/>
        </p:nvSpPr>
        <p:spPr>
          <a:xfrm>
            <a:off x="4718304" y="4517136"/>
            <a:ext cx="2084832" cy="457200"/>
          </a:xfrm>
          <a:prstGeom prst="rect">
            <a:avLst/>
          </a:prstGeom>
          <a:solidFill>
            <a:srgbClr val="00FF88">
              <a:alpha val="14000"/>
            </a:srgbClr>
          </a:solidFill>
          <a:ln w="7620">
            <a:solidFill>
              <a:srgbClr val="00FF8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764024" y="451713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Figma · CSS · Design Thinking · Proto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7434072" y="896112"/>
            <a:ext cx="1170432" cy="1170432"/>
          </a:xfrm>
          <a:prstGeom prst="ellipse">
            <a:avLst/>
          </a:prstGeom>
          <a:solidFill>
            <a:srgbClr val="FFB800">
              <a:alpha val="12000"/>
            </a:srgbClr>
          </a:solidFill>
          <a:ln w="19050">
            <a:solidFill>
              <a:srgbClr val="FFB800"/>
            </a:solidFill>
            <a:prstDash val="solid"/>
          </a:ln>
          <a:effectLst>
            <a:outerShdw sx="100000" sy="100000" kx="0" ky="0" algn="bl" rotWithShape="0" blurRad="228600" dist="50800" dir="8100000">
              <a:srgbClr val="FFB800">
                <a:alpha val="25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7552944" y="1014984"/>
            <a:ext cx="932688" cy="932688"/>
          </a:xfrm>
          <a:prstGeom prst="ellipse">
            <a:avLst/>
          </a:prstGeom>
          <a:solidFill>
            <a:srgbClr val="FFB800">
              <a:alpha val="22000"/>
            </a:srgbClr>
          </a:solidFill>
          <a:ln w="10160">
            <a:solidFill>
              <a:srgbClr val="FFB80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34072" y="896112"/>
            <a:ext cx="11704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📊</a:t>
            </a:r>
            <a:endParaRPr lang="en-US" sz="3000" dirty="0"/>
          </a:p>
        </p:txBody>
      </p:sp>
      <p:sp>
        <p:nvSpPr>
          <p:cNvPr id="68" name="Text 66"/>
          <p:cNvSpPr/>
          <p:nvPr/>
        </p:nvSpPr>
        <p:spPr>
          <a:xfrm>
            <a:off x="6931152" y="2194560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B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Sandeep Chauhan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6931152" y="2468880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60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Business &amp; Pitch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6931152" y="2743200"/>
            <a:ext cx="2084832" cy="1719072"/>
          </a:xfrm>
          <a:prstGeom prst="rect">
            <a:avLst/>
          </a:prstGeom>
          <a:solidFill>
            <a:srgbClr val="051525"/>
          </a:solidFill>
          <a:ln w="10160">
            <a:solidFill>
              <a:srgbClr val="FFB800"/>
            </a:solidFill>
            <a:prstDash val="solid"/>
          </a:ln>
          <a:effectLst>
            <a:outerShdw sx="100000" sy="100000" kx="0" ky="0" algn="bl" rotWithShape="0" blurRad="127000" dist="50800" dir="8100000">
              <a:srgbClr val="000000">
                <a:alpha val="45000"/>
              </a:srgbClr>
            </a:outerShdw>
          </a:effectLst>
        </p:spPr>
      </p:sp>
      <p:sp>
        <p:nvSpPr>
          <p:cNvPr id="71" name="Shape 69"/>
          <p:cNvSpPr/>
          <p:nvPr/>
        </p:nvSpPr>
        <p:spPr>
          <a:xfrm>
            <a:off x="6931152" y="2743200"/>
            <a:ext cx="2084832" cy="45720"/>
          </a:xfrm>
          <a:prstGeom prst="rect">
            <a:avLst/>
          </a:prstGeom>
          <a:solidFill>
            <a:srgbClr val="FFB8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050024" y="2834640"/>
            <a:ext cx="91440" cy="9144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187184" y="2807208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model creation</a:t>
            </a:r>
            <a:endParaRPr lang="en-US" sz="780" dirty="0"/>
          </a:p>
        </p:txBody>
      </p:sp>
      <p:sp>
        <p:nvSpPr>
          <p:cNvPr id="74" name="Shape 72"/>
          <p:cNvSpPr/>
          <p:nvPr/>
        </p:nvSpPr>
        <p:spPr>
          <a:xfrm>
            <a:off x="7050024" y="3145536"/>
            <a:ext cx="91440" cy="9144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187184" y="3118104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analysis</a:t>
            </a:r>
            <a:endParaRPr lang="en-US" sz="780" dirty="0"/>
          </a:p>
        </p:txBody>
      </p:sp>
      <p:sp>
        <p:nvSpPr>
          <p:cNvPr id="76" name="Shape 74"/>
          <p:cNvSpPr/>
          <p:nvPr/>
        </p:nvSpPr>
        <p:spPr>
          <a:xfrm>
            <a:off x="7050024" y="3456432"/>
            <a:ext cx="91440" cy="9144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187184" y="3429000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design</a:t>
            </a:r>
            <a:endParaRPr lang="en-US" sz="780" dirty="0"/>
          </a:p>
        </p:txBody>
      </p:sp>
      <p:sp>
        <p:nvSpPr>
          <p:cNvPr id="78" name="Shape 76"/>
          <p:cNvSpPr/>
          <p:nvPr/>
        </p:nvSpPr>
        <p:spPr>
          <a:xfrm>
            <a:off x="7050024" y="3767328"/>
            <a:ext cx="91440" cy="9144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187184" y="3739896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sizing research</a:t>
            </a:r>
            <a:endParaRPr lang="en-US" sz="780" dirty="0"/>
          </a:p>
        </p:txBody>
      </p:sp>
      <p:sp>
        <p:nvSpPr>
          <p:cNvPr id="80" name="Shape 78"/>
          <p:cNvSpPr/>
          <p:nvPr/>
        </p:nvSpPr>
        <p:spPr>
          <a:xfrm>
            <a:off x="7050024" y="4078224"/>
            <a:ext cx="91440" cy="9144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187184" y="4050792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script &amp; pitch prep</a:t>
            </a:r>
            <a:endParaRPr lang="en-US" sz="780" dirty="0"/>
          </a:p>
        </p:txBody>
      </p:sp>
      <p:sp>
        <p:nvSpPr>
          <p:cNvPr id="82" name="Shape 80"/>
          <p:cNvSpPr/>
          <p:nvPr/>
        </p:nvSpPr>
        <p:spPr>
          <a:xfrm>
            <a:off x="6931152" y="4517136"/>
            <a:ext cx="2084832" cy="457200"/>
          </a:xfrm>
          <a:prstGeom prst="rect">
            <a:avLst/>
          </a:prstGeom>
          <a:solidFill>
            <a:srgbClr val="FFB800">
              <a:alpha val="14000"/>
            </a:srgbClr>
          </a:solidFill>
          <a:ln w="7620">
            <a:solidFill>
              <a:srgbClr val="FFB80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976872" y="451713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B8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Business Dev · Excel · PPT · Strategy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1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6400800" cy="5486400"/>
          </a:xfrm>
          <a:prstGeom prst="ellipse">
            <a:avLst/>
          </a:prstGeom>
          <a:solidFill>
            <a:srgbClr val="7B2FFF">
              <a:alpha val="9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0" y="2743200"/>
            <a:ext cx="5486400" cy="4572000"/>
          </a:xfrm>
          <a:prstGeom prst="ellipse">
            <a:avLst/>
          </a:prstGeom>
          <a:solidFill>
            <a:srgbClr val="00F0FF">
              <a:alpha val="7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-914400"/>
            <a:ext cx="3657600" cy="2743200"/>
          </a:xfrm>
          <a:prstGeom prst="ellipse">
            <a:avLst/>
          </a:prstGeom>
          <a:solidFill>
            <a:srgbClr val="0A84FF">
              <a:alpha val="6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86000" y="-731520"/>
            <a:ext cx="4572000" cy="4572000"/>
          </a:xfrm>
          <a:prstGeom prst="ellipse">
            <a:avLst/>
          </a:prstGeom>
          <a:solidFill>
            <a:srgbClr val="00F0FF">
              <a:alpha val="6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0" y="2286000"/>
            <a:ext cx="5486400" cy="4572000"/>
          </a:xfrm>
          <a:prstGeom prst="ellipse">
            <a:avLst/>
          </a:prstGeom>
          <a:solidFill>
            <a:srgbClr val="7B2FFF">
              <a:alpha val="8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-914400" y="914400"/>
            <a:ext cx="3657600" cy="3657600"/>
          </a:xfrm>
          <a:prstGeom prst="ellipse">
            <a:avLst/>
          </a:prstGeom>
          <a:solidFill>
            <a:srgbClr val="0A84FF">
              <a:alpha val="6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0"/>
            <a:ext cx="9144000" cy="13716"/>
          </a:xfrm>
          <a:prstGeom prst="rect">
            <a:avLst/>
          </a:prstGeom>
          <a:solidFill>
            <a:srgbClr val="00F0FF">
              <a:alpha val="4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365760"/>
            <a:ext cx="9144000" cy="13716"/>
          </a:xfrm>
          <a:prstGeom prst="rect">
            <a:avLst/>
          </a:prstGeom>
          <a:solidFill>
            <a:srgbClr val="00F0FF">
              <a:alpha val="4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731520"/>
            <a:ext cx="9144000" cy="13716"/>
          </a:xfrm>
          <a:prstGeom prst="rect">
            <a:avLst/>
          </a:prstGeom>
          <a:solidFill>
            <a:srgbClr val="00F0FF">
              <a:alpha val="4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1097280"/>
            <a:ext cx="9144000" cy="13716"/>
          </a:xfrm>
          <a:prstGeom prst="rect">
            <a:avLst/>
          </a:prstGeom>
          <a:solidFill>
            <a:srgbClr val="00F0FF">
              <a:alpha val="4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1463040"/>
            <a:ext cx="9144000" cy="13716"/>
          </a:xfrm>
          <a:prstGeom prst="rect">
            <a:avLst/>
          </a:prstGeom>
          <a:solidFill>
            <a:srgbClr val="00F0FF">
              <a:alpha val="4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0" y="1828800"/>
            <a:ext cx="9144000" cy="13716"/>
          </a:xfrm>
          <a:prstGeom prst="rect">
            <a:avLst/>
          </a:prstGeom>
          <a:solidFill>
            <a:srgbClr val="00F0FF">
              <a:alpha val="4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2194560"/>
            <a:ext cx="9144000" cy="13716"/>
          </a:xfrm>
          <a:prstGeom prst="rect">
            <a:avLst/>
          </a:prstGeom>
          <a:solidFill>
            <a:srgbClr val="00F0FF">
              <a:alpha val="4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2560320"/>
            <a:ext cx="9144000" cy="13716"/>
          </a:xfrm>
          <a:prstGeom prst="rect">
            <a:avLst/>
          </a:prstGeom>
          <a:solidFill>
            <a:srgbClr val="00F0FF">
              <a:alpha val="4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926080"/>
            <a:ext cx="9144000" cy="13716"/>
          </a:xfrm>
          <a:prstGeom prst="rect">
            <a:avLst/>
          </a:prstGeom>
          <a:solidFill>
            <a:srgbClr val="00F0FF">
              <a:alpha val="4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291840"/>
            <a:ext cx="9144000" cy="13716"/>
          </a:xfrm>
          <a:prstGeom prst="rect">
            <a:avLst/>
          </a:prstGeom>
          <a:solidFill>
            <a:srgbClr val="00F0FF">
              <a:alpha val="4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3657600"/>
            <a:ext cx="9144000" cy="13716"/>
          </a:xfrm>
          <a:prstGeom prst="rect">
            <a:avLst/>
          </a:prstGeom>
          <a:solidFill>
            <a:srgbClr val="00F0FF">
              <a:alpha val="4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4023360"/>
            <a:ext cx="9144000" cy="13716"/>
          </a:xfrm>
          <a:prstGeom prst="rect">
            <a:avLst/>
          </a:prstGeom>
          <a:solidFill>
            <a:srgbClr val="00F0FF">
              <a:alpha val="4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4389120"/>
            <a:ext cx="9144000" cy="13716"/>
          </a:xfrm>
          <a:prstGeom prst="rect">
            <a:avLst/>
          </a:prstGeom>
          <a:solidFill>
            <a:srgbClr val="00F0FF">
              <a:alpha val="4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4754880"/>
            <a:ext cx="9144000" cy="13716"/>
          </a:xfrm>
          <a:prstGeom prst="rect">
            <a:avLst/>
          </a:prstGeom>
          <a:solidFill>
            <a:srgbClr val="00F0FF">
              <a:alpha val="4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5120640"/>
            <a:ext cx="9144000" cy="13716"/>
          </a:xfrm>
          <a:prstGeom prst="rect">
            <a:avLst/>
          </a:prstGeom>
          <a:solidFill>
            <a:srgbClr val="00F0FF">
              <a:alpha val="4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274320"/>
            <a:ext cx="8229600" cy="749808"/>
          </a:xfrm>
          <a:prstGeom prst="rect">
            <a:avLst/>
          </a:prstGeom>
          <a:noFill/>
          <a:ln/>
          <a:effectLst>
            <a:outerShdw sx="100000" sy="100000" kx="0" ky="0" algn="bl" rotWithShape="0" blurRad="228600" dist="50800" dir="8100000">
              <a:srgbClr val="00F0FF">
                <a:alpha val="25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spc="1200" kern="0" dirty="0">
                <a:solidFill>
                  <a:srgbClr val="00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 DEMO</a:t>
            </a:r>
            <a:endParaRPr lang="en-US" sz="5200" dirty="0"/>
          </a:p>
        </p:txBody>
      </p:sp>
      <p:sp>
        <p:nvSpPr>
          <p:cNvPr id="24" name="Shape 22"/>
          <p:cNvSpPr/>
          <p:nvPr/>
        </p:nvSpPr>
        <p:spPr>
          <a:xfrm>
            <a:off x="1463040" y="1097280"/>
            <a:ext cx="6217920" cy="475488"/>
          </a:xfrm>
          <a:prstGeom prst="rect">
            <a:avLst/>
          </a:prstGeom>
          <a:solidFill>
            <a:srgbClr val="051525"/>
          </a:solidFill>
          <a:ln w="19050">
            <a:solidFill>
              <a:srgbClr val="00F0FF"/>
            </a:solidFill>
            <a:prstDash val="solid"/>
          </a:ln>
          <a:effectLst>
            <a:outerShdw sx="100000" sy="100000" kx="0" ky="0" algn="bl" rotWithShape="0" blurRad="228600" dist="50800" dir="8100000">
              <a:srgbClr val="00F0FF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389888" y="1024128"/>
            <a:ext cx="146304" cy="146304"/>
          </a:xfrm>
          <a:prstGeom prst="ellipse">
            <a:avLst/>
          </a:prstGeom>
          <a:solidFill>
            <a:srgbClr val="00F0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07808" y="1024128"/>
            <a:ext cx="146304" cy="146304"/>
          </a:xfrm>
          <a:prstGeom prst="ellipse">
            <a:avLst/>
          </a:prstGeom>
          <a:solidFill>
            <a:srgbClr val="00F0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89888" y="1499616"/>
            <a:ext cx="146304" cy="146304"/>
          </a:xfrm>
          <a:prstGeom prst="ellipse">
            <a:avLst/>
          </a:prstGeom>
          <a:solidFill>
            <a:srgbClr val="00F0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07808" y="1499616"/>
            <a:ext cx="146304" cy="146304"/>
          </a:xfrm>
          <a:prstGeom prst="ellipse">
            <a:avLst/>
          </a:prstGeom>
          <a:solidFill>
            <a:srgbClr val="00F0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463040" y="1097280"/>
            <a:ext cx="621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🌐  civiceye-v6.vercel.app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457200" y="1810512"/>
            <a:ext cx="310896" cy="310896"/>
          </a:xfrm>
          <a:prstGeom prst="ellipse">
            <a:avLst/>
          </a:prstGeom>
          <a:solidFill>
            <a:srgbClr val="00F0FF"/>
          </a:solidFill>
          <a:ln w="12700">
            <a:solidFill>
              <a:srgbClr val="000000"/>
            </a:solidFill>
            <a:prstDash val="solid"/>
          </a:ln>
          <a:effectLst>
            <a:outerShdw sx="100000" sy="100000" kx="0" ky="0" algn="bl" rotWithShape="0" blurRad="228600" dist="50800" dir="8100000">
              <a:srgbClr val="00F0FF">
                <a:alpha val="2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5720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59536" y="175564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 screen with piano sounds &amp; holographic animations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7200" y="2286000"/>
            <a:ext cx="310896" cy="310896"/>
          </a:xfrm>
          <a:prstGeom prst="ellipse">
            <a:avLst/>
          </a:prstGeom>
          <a:solidFill>
            <a:srgbClr val="0A84FF"/>
          </a:solidFill>
          <a:ln w="12700">
            <a:solidFill>
              <a:srgbClr val="000000"/>
            </a:solidFill>
            <a:prstDash val="solid"/>
          </a:ln>
          <a:effectLst>
            <a:outerShdw sx="100000" sy="100000" kx="0" ky="0" algn="bl" rotWithShape="0" blurRad="228600" dist="50800" dir="8100000">
              <a:srgbClr val="0A84FF">
                <a:alpha val="2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5720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59536" y="223113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 as new citizen with OTP verification 🔐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2761488"/>
            <a:ext cx="310896" cy="310896"/>
          </a:xfrm>
          <a:prstGeom prst="ellipse">
            <a:avLst/>
          </a:prstGeom>
          <a:solidFill>
            <a:srgbClr val="7B2FFF"/>
          </a:solidFill>
          <a:ln w="12700">
            <a:solidFill>
              <a:srgbClr val="000000"/>
            </a:solidFill>
            <a:prstDash val="solid"/>
          </a:ln>
          <a:effectLst>
            <a:outerShdw sx="100000" sy="100000" kx="0" ky="0" algn="bl" rotWithShape="0" blurRad="228600" dist="50800" dir="8100000">
              <a:srgbClr val="7B2FFF">
                <a:alpha val="2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5720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59536" y="270662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complaint using Hindi voice input 🎤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" y="3236976"/>
            <a:ext cx="310896" cy="310896"/>
          </a:xfrm>
          <a:prstGeom prst="ellipse">
            <a:avLst/>
          </a:prstGeom>
          <a:solidFill>
            <a:srgbClr val="00FF88"/>
          </a:solidFill>
          <a:ln w="12700">
            <a:solidFill>
              <a:srgbClr val="000000"/>
            </a:solidFill>
            <a:prstDash val="solid"/>
          </a:ln>
          <a:effectLst>
            <a:outerShdw sx="100000" sy="100000" kx="0" ky="0" algn="bl" rotWithShape="0" blurRad="228600" dist="50800" dir="8100000">
              <a:srgbClr val="00FF88">
                <a:alpha val="2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457200" y="32369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59536" y="318211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AI classify — score, category, corruption check 🧠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846320" y="1810512"/>
            <a:ext cx="310896" cy="310896"/>
          </a:xfrm>
          <a:prstGeom prst="ellipse">
            <a:avLst/>
          </a:prstGeom>
          <a:solidFill>
            <a:srgbClr val="FFB800"/>
          </a:solidFill>
          <a:ln w="12700">
            <a:solidFill>
              <a:srgbClr val="000000"/>
            </a:solidFill>
            <a:prstDash val="solid"/>
          </a:ln>
          <a:effectLst>
            <a:outerShdw sx="100000" sy="100000" kx="0" ky="0" algn="bl" rotWithShape="0" blurRad="228600" dist="50800" dir="8100000">
              <a:srgbClr val="FFB800">
                <a:alpha val="2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484632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248656" y="175564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blockchain block added in real-time ⛓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846320" y="2286000"/>
            <a:ext cx="310896" cy="310896"/>
          </a:xfrm>
          <a:prstGeom prst="ellipse">
            <a:avLst/>
          </a:prstGeom>
          <a:solidFill>
            <a:srgbClr val="FF2D55"/>
          </a:solidFill>
          <a:ln w="12700">
            <a:solidFill>
              <a:srgbClr val="000000"/>
            </a:solidFill>
            <a:prstDash val="solid"/>
          </a:ln>
          <a:effectLst>
            <a:outerShdw sx="100000" sy="100000" kx="0" ky="0" algn="bl" rotWithShape="0" blurRad="228600" dist="50800" dir="8100000">
              <a:srgbClr val="FF2D55">
                <a:alpha val="2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484632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248656" y="223113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all 8 AI Automation jobs live 🤖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846320" y="2761488"/>
            <a:ext cx="310896" cy="310896"/>
          </a:xfrm>
          <a:prstGeom prst="ellipse">
            <a:avLst/>
          </a:prstGeom>
          <a:solidFill>
            <a:srgbClr val="00F0FF"/>
          </a:solidFill>
          <a:ln w="12700">
            <a:solidFill>
              <a:srgbClr val="000000"/>
            </a:solidFill>
            <a:prstDash val="solid"/>
          </a:ln>
          <a:effectLst>
            <a:outerShdw sx="100000" sy="100000" kx="0" ky="0" algn="bl" rotWithShape="0" blurRad="228600" dist="50800" dir="8100000">
              <a:srgbClr val="00F0FF">
                <a:alpha val="2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484632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5248656" y="270662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with AI Support Agent in Hindi 💬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2608" y="4370832"/>
            <a:ext cx="8558784" cy="621792"/>
          </a:xfrm>
          <a:prstGeom prst="rect">
            <a:avLst/>
          </a:prstGeom>
          <a:solidFill>
            <a:srgbClr val="051525"/>
          </a:solidFill>
          <a:ln w="13970">
            <a:solidFill>
              <a:srgbClr val="7B2FFF"/>
            </a:solidFill>
            <a:prstDash val="solid"/>
          </a:ln>
          <a:effectLst>
            <a:outerShdw sx="100000" sy="100000" kx="0" ky="0" algn="bl" rotWithShape="0" blurRad="228600" dist="50800" dir="8100000">
              <a:srgbClr val="7B2FFF">
                <a:alpha val="2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292608" y="4370832"/>
            <a:ext cx="8558784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  CivicEye Pro v6.0  </a:t>
            </a:r>
            <a:pPr algn="ctr" indent="0" marL="0">
              <a:buNone/>
            </a:pPr>
            <a:r>
              <a:rPr lang="en-US" sz="950" dirty="0">
                <a:solidFill>
                  <a:srgbClr val="3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Riya Thakur  ·  Anjali Prajapat  ·  Ritik Joshi  ·  Sandeep Chauhan  ·  </a:t>
            </a:r>
            <a:pPr algn="ctr" indent="0" marL="0">
              <a:buNone/>
            </a:pPr>
            <a:r>
              <a:rPr lang="en-US" sz="950" b="1" dirty="0">
                <a:solidFill>
                  <a:srgbClr val="00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Governance, Empowered Citizens 🇮🇳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CivicEye Pro v6.0 - Hackathon Presentation</dc:title>
  <dc:subject>PptxGenJS Presentation</dc:subject>
  <dc:creator>Riya Thakur</dc:creator>
  <cp:lastModifiedBy>Riya Thakur</cp:lastModifiedBy>
  <cp:revision>1</cp:revision>
  <dcterms:created xsi:type="dcterms:W3CDTF">2026-02-25T12:44:06Z</dcterms:created>
  <dcterms:modified xsi:type="dcterms:W3CDTF">2026-02-25T12:44:06Z</dcterms:modified>
</cp:coreProperties>
</file>